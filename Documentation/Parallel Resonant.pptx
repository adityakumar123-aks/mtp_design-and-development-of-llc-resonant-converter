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7" r:id="rId2"/>
    <p:sldId id="273" r:id="rId3"/>
    <p:sldId id="272" r:id="rId4"/>
    <p:sldId id="286" r:id="rId5"/>
    <p:sldId id="277" r:id="rId6"/>
    <p:sldId id="304" r:id="rId7"/>
    <p:sldId id="275" r:id="rId8"/>
    <p:sldId id="276" r:id="rId9"/>
    <p:sldId id="283" r:id="rId10"/>
    <p:sldId id="297" r:id="rId11"/>
    <p:sldId id="305" r:id="rId12"/>
    <p:sldId id="293" r:id="rId13"/>
    <p:sldId id="299" r:id="rId14"/>
    <p:sldId id="292" r:id="rId15"/>
    <p:sldId id="303" r:id="rId16"/>
    <p:sldId id="295" r:id="rId17"/>
    <p:sldId id="301" r:id="rId18"/>
    <p:sldId id="290" r:id="rId19"/>
    <p:sldId id="300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66" d="100"/>
          <a:sy n="66" d="100"/>
        </p:scale>
        <p:origin x="1282" y="5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file:///D:\M.Tech%203rd%20Sem\MTP_Design%20and%20Development%20of%20LLC%20Resonant%20Converter%20for%20EV%20Charging\MTP_MyMaterial\Gain%20at%20different%20R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oleObject" Target="file:///D:\M.Tech%203rd%20Sem\MTP_Design%20and%20Development%20of%20LLC%20Resonant%20Converter%20for%20EV%20Charging\MTP_MyMaterial\Gain%20at%20different%20R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PRC (10</a:t>
            </a:r>
            <a:r>
              <a:rPr lang="el-GR"/>
              <a:t>Ω</a:t>
            </a:r>
            <a:r>
              <a:rPr lang="en-IN"/>
              <a:t>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Analytical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PRC_AnaVs.Sim!$N$30:$N$39</c:f>
              <c:numCache>
                <c:formatCode>General</c:formatCode>
                <c:ptCount val="10"/>
                <c:pt idx="0">
                  <c:v>11</c:v>
                </c:pt>
                <c:pt idx="1">
                  <c:v>12</c:v>
                </c:pt>
                <c:pt idx="2">
                  <c:v>13</c:v>
                </c:pt>
                <c:pt idx="3">
                  <c:v>14</c:v>
                </c:pt>
                <c:pt idx="4">
                  <c:v>15</c:v>
                </c:pt>
                <c:pt idx="5">
                  <c:v>16</c:v>
                </c:pt>
                <c:pt idx="6">
                  <c:v>17</c:v>
                </c:pt>
                <c:pt idx="7">
                  <c:v>18</c:v>
                </c:pt>
                <c:pt idx="8">
                  <c:v>19</c:v>
                </c:pt>
                <c:pt idx="9">
                  <c:v>20</c:v>
                </c:pt>
              </c:numCache>
            </c:numRef>
          </c:xVal>
          <c:yVal>
            <c:numRef>
              <c:f>PRC_AnaVs.Sim!$O$30:$O$39</c:f>
              <c:numCache>
                <c:formatCode>0.0000</c:formatCode>
                <c:ptCount val="10"/>
                <c:pt idx="0">
                  <c:v>0.86778341573273987</c:v>
                </c:pt>
                <c:pt idx="1">
                  <c:v>0.87572862423547371</c:v>
                </c:pt>
                <c:pt idx="2">
                  <c:v>0.88300326765081694</c:v>
                </c:pt>
                <c:pt idx="3">
                  <c:v>0.88913825695202453</c:v>
                </c:pt>
                <c:pt idx="4">
                  <c:v>0.89360603153647922</c:v>
                </c:pt>
                <c:pt idx="5">
                  <c:v>0.89584062468717229</c:v>
                </c:pt>
                <c:pt idx="6">
                  <c:v>0.89527074036527543</c:v>
                </c:pt>
                <c:pt idx="7">
                  <c:v>0.89136546770608105</c:v>
                </c:pt>
                <c:pt idx="8">
                  <c:v>0.88368870966559043</c:v>
                </c:pt>
                <c:pt idx="9">
                  <c:v>0.87195436849301988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F61-4900-96A8-65467E602387}"/>
            </c:ext>
          </c:extLst>
        </c:ser>
        <c:ser>
          <c:idx val="1"/>
          <c:order val="1"/>
          <c:tx>
            <c:v>Simulated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PRC_AnaVs.Sim!$N$30:$N$39</c:f>
              <c:numCache>
                <c:formatCode>General</c:formatCode>
                <c:ptCount val="10"/>
                <c:pt idx="0">
                  <c:v>11</c:v>
                </c:pt>
                <c:pt idx="1">
                  <c:v>12</c:v>
                </c:pt>
                <c:pt idx="2">
                  <c:v>13</c:v>
                </c:pt>
                <c:pt idx="3">
                  <c:v>14</c:v>
                </c:pt>
                <c:pt idx="4">
                  <c:v>15</c:v>
                </c:pt>
                <c:pt idx="5">
                  <c:v>16</c:v>
                </c:pt>
                <c:pt idx="6">
                  <c:v>17</c:v>
                </c:pt>
                <c:pt idx="7">
                  <c:v>18</c:v>
                </c:pt>
                <c:pt idx="8">
                  <c:v>19</c:v>
                </c:pt>
                <c:pt idx="9">
                  <c:v>20</c:v>
                </c:pt>
              </c:numCache>
            </c:numRef>
          </c:xVal>
          <c:yVal>
            <c:numRef>
              <c:f>PRC_AnaVs.Sim!$P$30:$P$39</c:f>
              <c:numCache>
                <c:formatCode>General</c:formatCode>
                <c:ptCount val="10"/>
                <c:pt idx="0">
                  <c:v>0.85189999999999999</c:v>
                </c:pt>
                <c:pt idx="1">
                  <c:v>0.65080000000000005</c:v>
                </c:pt>
                <c:pt idx="2">
                  <c:v>0.5897</c:v>
                </c:pt>
                <c:pt idx="3">
                  <c:v>0.63539999999999996</c:v>
                </c:pt>
                <c:pt idx="4">
                  <c:v>0.71160000000000001</c:v>
                </c:pt>
                <c:pt idx="5">
                  <c:v>0.78790000000000004</c:v>
                </c:pt>
                <c:pt idx="6">
                  <c:v>0.8589</c:v>
                </c:pt>
                <c:pt idx="7">
                  <c:v>0.91810000000000003</c:v>
                </c:pt>
                <c:pt idx="8">
                  <c:v>0.95909999999999995</c:v>
                </c:pt>
                <c:pt idx="9">
                  <c:v>0.97770000000000001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3F61-4900-96A8-65467E6023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74929999"/>
        <c:axId val="1674932879"/>
      </c:scatterChart>
      <c:valAx>
        <c:axId val="1674929999"/>
        <c:scaling>
          <c:orientation val="minMax"/>
          <c:max val="21"/>
          <c:min val="1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74932879"/>
        <c:crosses val="autoZero"/>
        <c:crossBetween val="midCat"/>
      </c:valAx>
      <c:valAx>
        <c:axId val="16749328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74929999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PRC (10</a:t>
            </a:r>
            <a:r>
              <a:rPr lang="el-GR"/>
              <a:t>Ω</a:t>
            </a:r>
            <a:r>
              <a:rPr lang="en-IN"/>
              <a:t>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Analytical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PRC_AnaVs.Sim!$N$30:$N$39</c:f>
              <c:numCache>
                <c:formatCode>General</c:formatCode>
                <c:ptCount val="10"/>
                <c:pt idx="0">
                  <c:v>11</c:v>
                </c:pt>
                <c:pt idx="1">
                  <c:v>12</c:v>
                </c:pt>
                <c:pt idx="2">
                  <c:v>13</c:v>
                </c:pt>
                <c:pt idx="3">
                  <c:v>14</c:v>
                </c:pt>
                <c:pt idx="4">
                  <c:v>15</c:v>
                </c:pt>
                <c:pt idx="5">
                  <c:v>16</c:v>
                </c:pt>
                <c:pt idx="6">
                  <c:v>17</c:v>
                </c:pt>
                <c:pt idx="7">
                  <c:v>18</c:v>
                </c:pt>
                <c:pt idx="8">
                  <c:v>19</c:v>
                </c:pt>
                <c:pt idx="9">
                  <c:v>20</c:v>
                </c:pt>
              </c:numCache>
            </c:numRef>
          </c:xVal>
          <c:yVal>
            <c:numRef>
              <c:f>PRC_AnaVs.Sim!$O$30:$O$39</c:f>
              <c:numCache>
                <c:formatCode>0.0000</c:formatCode>
                <c:ptCount val="10"/>
                <c:pt idx="0">
                  <c:v>0.86778341573273987</c:v>
                </c:pt>
                <c:pt idx="1">
                  <c:v>0.87572862423547371</c:v>
                </c:pt>
                <c:pt idx="2">
                  <c:v>0.88300326765081694</c:v>
                </c:pt>
                <c:pt idx="3">
                  <c:v>0.88913825695202453</c:v>
                </c:pt>
                <c:pt idx="4">
                  <c:v>0.89360603153647922</c:v>
                </c:pt>
                <c:pt idx="5">
                  <c:v>0.89584062468717229</c:v>
                </c:pt>
                <c:pt idx="6">
                  <c:v>0.89527074036527543</c:v>
                </c:pt>
                <c:pt idx="7">
                  <c:v>0.89136546770608105</c:v>
                </c:pt>
                <c:pt idx="8">
                  <c:v>0.88368870966559043</c:v>
                </c:pt>
                <c:pt idx="9">
                  <c:v>0.87195436849301988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F61-4900-96A8-65467E602387}"/>
            </c:ext>
          </c:extLst>
        </c:ser>
        <c:ser>
          <c:idx val="1"/>
          <c:order val="1"/>
          <c:tx>
            <c:v>Simulated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PRC_AnaVs.Sim!$N$30:$N$39</c:f>
              <c:numCache>
                <c:formatCode>General</c:formatCode>
                <c:ptCount val="10"/>
                <c:pt idx="0">
                  <c:v>11</c:v>
                </c:pt>
                <c:pt idx="1">
                  <c:v>12</c:v>
                </c:pt>
                <c:pt idx="2">
                  <c:v>13</c:v>
                </c:pt>
                <c:pt idx="3">
                  <c:v>14</c:v>
                </c:pt>
                <c:pt idx="4">
                  <c:v>15</c:v>
                </c:pt>
                <c:pt idx="5">
                  <c:v>16</c:v>
                </c:pt>
                <c:pt idx="6">
                  <c:v>17</c:v>
                </c:pt>
                <c:pt idx="7">
                  <c:v>18</c:v>
                </c:pt>
                <c:pt idx="8">
                  <c:v>19</c:v>
                </c:pt>
                <c:pt idx="9">
                  <c:v>20</c:v>
                </c:pt>
              </c:numCache>
            </c:numRef>
          </c:xVal>
          <c:yVal>
            <c:numRef>
              <c:f>PRC_AnaVs.Sim!$P$30:$P$39</c:f>
              <c:numCache>
                <c:formatCode>General</c:formatCode>
                <c:ptCount val="10"/>
                <c:pt idx="0">
                  <c:v>0.85189999999999999</c:v>
                </c:pt>
                <c:pt idx="1">
                  <c:v>0.65080000000000005</c:v>
                </c:pt>
                <c:pt idx="2">
                  <c:v>0.5897</c:v>
                </c:pt>
                <c:pt idx="3">
                  <c:v>0.63539999999999996</c:v>
                </c:pt>
                <c:pt idx="4">
                  <c:v>0.71160000000000001</c:v>
                </c:pt>
                <c:pt idx="5">
                  <c:v>0.78790000000000004</c:v>
                </c:pt>
                <c:pt idx="6">
                  <c:v>0.8589</c:v>
                </c:pt>
                <c:pt idx="7">
                  <c:v>0.91810000000000003</c:v>
                </c:pt>
                <c:pt idx="8">
                  <c:v>0.95909999999999995</c:v>
                </c:pt>
                <c:pt idx="9">
                  <c:v>0.97770000000000001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3F61-4900-96A8-65467E6023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74929999"/>
        <c:axId val="1674932879"/>
      </c:scatterChart>
      <c:valAx>
        <c:axId val="1674929999"/>
        <c:scaling>
          <c:orientation val="minMax"/>
          <c:max val="21"/>
          <c:min val="1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74932879"/>
        <c:crosses val="autoZero"/>
        <c:crossBetween val="midCat"/>
      </c:valAx>
      <c:valAx>
        <c:axId val="16749328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74929999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73E2F8-87E7-4120-BB13-A04B1047351C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3D3C32-DB80-47D9-B1E4-37ECAF8CD1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8738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" name="Google Shape;5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8E806314-BD7E-E173-7E60-915AA4FAB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:notes">
            <a:extLst>
              <a:ext uri="{FF2B5EF4-FFF2-40B4-BE49-F238E27FC236}">
                <a16:creationId xmlns:a16="http://schemas.microsoft.com/office/drawing/2014/main" id="{95B0113E-E865-A9CE-748C-63971B9A0F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" name="Google Shape;65;p2:notes">
            <a:extLst>
              <a:ext uri="{FF2B5EF4-FFF2-40B4-BE49-F238E27FC236}">
                <a16:creationId xmlns:a16="http://schemas.microsoft.com/office/drawing/2014/main" id="{A11498D0-1A46-D541-4029-AC800B4316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833278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1AE47-2609-75DA-3D7C-3AA14D490D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735AD9-BDDC-2C97-722F-544F3E4E3E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528A29-F1A9-6C5C-C9BF-2E50D1DD9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88193-7757-4953-AEE2-DD3FAE88CF0A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1B4C2F-D8F5-C34C-A5B9-05FFA1FCA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669CBF-0F96-09ED-4B10-47A91CD68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A689-743F-4164-976C-5489DFBC8C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8385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9B311-6ACC-B223-E68B-FBB8BAF27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0F910-7604-CF45-F40D-0B67DCE156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20D19-C7AE-62BF-19F3-352A957F8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88193-7757-4953-AEE2-DD3FAE88CF0A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665B1C-733E-C649-558D-BFB69ADFD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42F98E-4B48-10FF-6B39-07F297273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A689-743F-4164-976C-5489DFBC8C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3863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525B1-6CAF-DBB3-A7F6-BA7E13977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0BE5E2-5C4E-8ACC-8496-E98957CF4A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44AAF-C093-DB16-0C00-87527204A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88193-7757-4953-AEE2-DD3FAE88CF0A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8E9548-BBBF-FEC2-EB44-680B2FB6A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B63CC9-D330-1BB1-41BE-ABA20BB07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A689-743F-4164-976C-5489DFBC8C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235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65CCE-A062-E946-8C72-574367751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27F88-838E-4C0E-0BAE-9AD032EE13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EDE7C8-F405-A27E-6959-0F8B38B756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C3B666-F718-A769-98B0-542ADA3FC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88193-7757-4953-AEE2-DD3FAE88CF0A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9888FB-0B3D-4DD5-E508-E7A8DF815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5564E1-AE37-DCF7-D28C-B956154FC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A689-743F-4164-976C-5489DFBC8C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0135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48790-03B3-8A0A-56CD-ACDAA9504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FFC836-5D26-E0BB-966D-44A25AEE1A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2BD4FD-2D94-DD35-4EFF-1AAF990228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6FD079-3853-5128-1215-80765B6432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2175B0-5B04-BBE6-770B-EBFA00240F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6AD4A0-CAFF-714D-AA72-25CDD36B9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88193-7757-4953-AEE2-DD3FAE88CF0A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B70558-FA6E-DACA-04F4-1A9B24403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90FEF9-D462-2DDC-5C85-7899672EA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A689-743F-4164-976C-5489DFBC8C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692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003F4-2714-26A4-0884-A2B2E1533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6FBA22-23A4-2F35-3913-B23F0786D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88193-7757-4953-AEE2-DD3FAE88CF0A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F22D39-C4B8-83E9-C87B-5A1316DF2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9BD86B-F004-6E21-77D4-838C9B886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A689-743F-4164-976C-5489DFBC8C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4025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2DA8AF-8643-D9E6-0477-FBCE520D0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88193-7757-4953-AEE2-DD3FAE88CF0A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D3908C-7D5A-8CB8-AE84-4F1F974CA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E56A96-7022-35C0-D414-D79F4F857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A689-743F-4164-976C-5489DFBC8C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9676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396E0-C927-E329-80D2-83AD1933D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2D8BDB-8351-87EA-9E54-EA033EC7B6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CE9A6B-C521-3731-3586-95E6D4BF83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03F761-1917-3F8E-1421-40B771A7C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88193-7757-4953-AEE2-DD3FAE88CF0A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7B30B2-59C3-073F-F735-0267AEAE5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C5A67E-C860-B446-E0AF-429EE2D66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A689-743F-4164-976C-5489DFBC8C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9067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9E024-D74F-79F5-E4E8-3D9086A0A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995D39-2A7C-A8CE-31E8-E40084F448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FD15F3-5C31-71C5-088F-68555D33D3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771BFD-6A66-B2EE-9D80-D48895D05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88193-7757-4953-AEE2-DD3FAE88CF0A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12A20E-E3EA-2DD1-A2F4-A85AA6176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33D78B-99DA-7285-5AAE-59EBA3D1B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A689-743F-4164-976C-5489DFBC8C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7942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AB4A5-E266-CD80-B668-525DF67F7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5421E8-A8FB-6974-5492-5CB0105F8D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00BC1C-8E88-071F-50AA-33A65951B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88193-7757-4953-AEE2-DD3FAE88CF0A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D1DB71-EE92-387A-F611-16F0942EF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5C6B84-1BA0-2EE2-6C99-C1762AF60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A689-743F-4164-976C-5489DFBC8C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5321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3A6D15-929F-217D-1B51-6EADC27B31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FEE475-2606-3F7B-8149-82467B926C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D4C2BA-5E67-F028-3F65-529F60407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88193-7757-4953-AEE2-DD3FAE88CF0A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5B8238-FF92-5ADD-31FA-92BB30992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B54D5A-CCC0-6778-3442-CD274C4B3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A689-743F-4164-976C-5489DFBC8C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56428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0" y="0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9180"/>
              </a:buClr>
              <a:buSzPts val="2500"/>
              <a:buFont typeface="Nunito Medium"/>
              <a:buNone/>
              <a:defRPr sz="3333">
                <a:solidFill>
                  <a:srgbClr val="1F9180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r>
              <a:rPr lang="en"/>
              <a:t>/6</a:t>
            </a:r>
          </a:p>
        </p:txBody>
      </p:sp>
      <p:sp>
        <p:nvSpPr>
          <p:cNvPr id="18" name="Google Shape;18;p3"/>
          <p:cNvSpPr txBox="1"/>
          <p:nvPr/>
        </p:nvSpPr>
        <p:spPr>
          <a:xfrm>
            <a:off x="777967" y="1417067"/>
            <a:ext cx="3279600" cy="9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4201076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603F17-23C9-54FA-7F65-802F5ACA9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134481-3E54-B58D-533C-508A1D7A3C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8A7A72-E2E6-22FB-8771-5FCEE1C218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E88193-7757-4953-AEE2-DD3FAE88CF0A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F49B1B-7B36-F2E4-03A5-5026875FED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6504B-52DB-4D9A-4E90-FED0C34B6F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ABA689-743F-4164-976C-5489DFBC8C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3093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6.png"/><Relationship Id="rId7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1.png"/><Relationship Id="rId4" Type="http://schemas.openxmlformats.org/officeDocument/2006/relationships/image" Target="../media/image17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jp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4.png"/><Relationship Id="rId7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4.png"/><Relationship Id="rId7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9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/>
          <p:nvPr/>
        </p:nvSpPr>
        <p:spPr>
          <a:xfrm>
            <a:off x="0" y="2227547"/>
            <a:ext cx="12192000" cy="977600"/>
          </a:xfrm>
          <a:prstGeom prst="rect">
            <a:avLst/>
          </a:prstGeom>
          <a:solidFill>
            <a:srgbClr val="1F9180">
              <a:alpha val="13333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3"/>
          <p:cNvSpPr txBox="1">
            <a:spLocks noGrp="1"/>
          </p:cNvSpPr>
          <p:nvPr>
            <p:ph type="ctrTitle"/>
          </p:nvPr>
        </p:nvSpPr>
        <p:spPr>
          <a:xfrm>
            <a:off x="745617" y="11038"/>
            <a:ext cx="10700800" cy="157024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b" anchorCtr="0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ts val="1100"/>
            </a:pPr>
            <a:r>
              <a:rPr lang="en-IN" sz="4000" dirty="0">
                <a:solidFill>
                  <a:srgbClr val="1F9180"/>
                </a:solidFill>
                <a:latin typeface="Nunito Medium"/>
                <a:ea typeface="Nunito Medium"/>
                <a:cs typeface="Nunito Medium"/>
                <a:sym typeface="Nunito Medium"/>
              </a:rPr>
              <a:t>Design and Development of LLC Resonant Converter for EV charging</a:t>
            </a:r>
            <a:endParaRPr sz="4000" dirty="0">
              <a:solidFill>
                <a:srgbClr val="1F9180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58" name="Google Shape;58;p13"/>
          <p:cNvSpPr txBox="1">
            <a:spLocks noGrp="1"/>
          </p:cNvSpPr>
          <p:nvPr>
            <p:ph type="subTitle" idx="1"/>
          </p:nvPr>
        </p:nvSpPr>
        <p:spPr>
          <a:xfrm>
            <a:off x="1854633" y="1581283"/>
            <a:ext cx="8482800" cy="163195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>
              <a:lnSpc>
                <a:spcPct val="50000"/>
              </a:lnSpc>
              <a:spcBef>
                <a:spcPts val="1333"/>
              </a:spcBef>
              <a:buClr>
                <a:schemeClr val="dk1"/>
              </a:buClr>
              <a:buSzPts val="1100"/>
            </a:pPr>
            <a:r>
              <a:rPr lang="en-IN" b="1" dirty="0">
                <a:solidFill>
                  <a:srgbClr val="1F9180"/>
                </a:solidFill>
                <a:latin typeface="Nunito"/>
                <a:ea typeface="Nunito"/>
                <a:cs typeface="Nunito"/>
                <a:sym typeface="Nunito"/>
              </a:rPr>
              <a:t>(MTP - Stage 0 )</a:t>
            </a:r>
          </a:p>
          <a:p>
            <a:pPr>
              <a:lnSpc>
                <a:spcPct val="50000"/>
              </a:lnSpc>
              <a:spcBef>
                <a:spcPts val="1333"/>
              </a:spcBef>
              <a:buClr>
                <a:schemeClr val="dk1"/>
              </a:buClr>
              <a:buSzPts val="1100"/>
            </a:pPr>
            <a:endParaRPr lang="en-IN" b="1" dirty="0">
              <a:solidFill>
                <a:srgbClr val="1F9180"/>
              </a:solidFill>
              <a:latin typeface="Nunito"/>
              <a:ea typeface="Nunito"/>
              <a:cs typeface="Nunito"/>
              <a:sym typeface="Nunito"/>
            </a:endParaRPr>
          </a:p>
          <a:p>
            <a:pPr>
              <a:lnSpc>
                <a:spcPct val="50000"/>
              </a:lnSpc>
              <a:spcBef>
                <a:spcPts val="1333"/>
              </a:spcBef>
              <a:buClr>
                <a:schemeClr val="dk1"/>
              </a:buClr>
              <a:buSzPts val="1100"/>
            </a:pPr>
            <a:r>
              <a:rPr lang="en-IN" dirty="0">
                <a:solidFill>
                  <a:srgbClr val="1F9180"/>
                </a:solidFill>
                <a:latin typeface="Nunito"/>
                <a:ea typeface="Nunito"/>
                <a:cs typeface="Nunito"/>
                <a:sym typeface="Nunito"/>
              </a:rPr>
              <a:t>Aditya Kumar</a:t>
            </a:r>
            <a:endParaRPr dirty="0">
              <a:solidFill>
                <a:srgbClr val="1F9180"/>
              </a:solidFill>
              <a:latin typeface="Nunito"/>
              <a:ea typeface="Nunito"/>
              <a:cs typeface="Nunito"/>
              <a:sym typeface="Nunito"/>
            </a:endParaRPr>
          </a:p>
          <a:p>
            <a:pPr>
              <a:lnSpc>
                <a:spcPct val="50000"/>
              </a:lnSpc>
              <a:spcBef>
                <a:spcPts val="1333"/>
              </a:spcBef>
              <a:buClr>
                <a:schemeClr val="dk1"/>
              </a:buClr>
              <a:buSzPts val="1100"/>
            </a:pPr>
            <a:r>
              <a:rPr lang="en" sz="1867" dirty="0">
                <a:solidFill>
                  <a:srgbClr val="1F9180"/>
                </a:solidFill>
                <a:latin typeface="Nunito"/>
                <a:ea typeface="Nunito"/>
                <a:cs typeface="Nunito"/>
                <a:sym typeface="Nunito"/>
              </a:rPr>
              <a:t>Guide: Prof. Siddavatam Ravi Prakash Reddy</a:t>
            </a:r>
            <a:endParaRPr sz="1867" dirty="0">
              <a:solidFill>
                <a:srgbClr val="1F9180"/>
              </a:solidFill>
              <a:latin typeface="Nunito"/>
              <a:ea typeface="Nunito"/>
              <a:cs typeface="Nunito"/>
              <a:sym typeface="Nunito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SzPts val="2800"/>
            </a:pPr>
            <a:r>
              <a:rPr lang="en" sz="1867" dirty="0">
                <a:solidFill>
                  <a:srgbClr val="1F9180"/>
                </a:solidFill>
                <a:latin typeface="Nunito"/>
                <a:ea typeface="Nunito"/>
                <a:cs typeface="Nunito"/>
                <a:sym typeface="Nunito"/>
              </a:rPr>
              <a:t>Electrical Machines &amp; Power Electronic Systems (EMPES) Lab</a:t>
            </a:r>
            <a:endParaRPr sz="1867" dirty="0">
              <a:solidFill>
                <a:srgbClr val="1F918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3309233" y="3397218"/>
            <a:ext cx="5573600" cy="866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lnSpc>
                <a:spcPct val="50000"/>
              </a:lnSpc>
              <a:spcBef>
                <a:spcPts val="1333"/>
              </a:spcBef>
              <a:buClr>
                <a:schemeClr val="dk1"/>
              </a:buClr>
              <a:buSzPts val="1100"/>
            </a:pPr>
            <a:r>
              <a:rPr lang="en" sz="1867">
                <a:solidFill>
                  <a:srgbClr val="999999"/>
                </a:solidFill>
                <a:latin typeface="Nunito"/>
                <a:ea typeface="Nunito"/>
                <a:cs typeface="Nunito"/>
                <a:sym typeface="Nunito"/>
              </a:rPr>
              <a:t>Department of Energy Science and Engineering</a:t>
            </a:r>
            <a:endParaRPr sz="1867">
              <a:solidFill>
                <a:srgbClr val="999999"/>
              </a:solidFill>
              <a:latin typeface="Nunito"/>
              <a:ea typeface="Nunito"/>
              <a:cs typeface="Nunito"/>
              <a:sym typeface="Nunito"/>
            </a:endParaRPr>
          </a:p>
          <a:p>
            <a:pPr algn="ctr">
              <a:lnSpc>
                <a:spcPct val="50000"/>
              </a:lnSpc>
              <a:spcBef>
                <a:spcPts val="1333"/>
              </a:spcBef>
              <a:buClr>
                <a:schemeClr val="dk1"/>
              </a:buClr>
              <a:buSzPts val="1100"/>
            </a:pPr>
            <a:r>
              <a:rPr lang="en" sz="1867">
                <a:solidFill>
                  <a:srgbClr val="999999"/>
                </a:solidFill>
                <a:latin typeface="Nunito"/>
                <a:ea typeface="Nunito"/>
                <a:cs typeface="Nunito"/>
                <a:sym typeface="Nunito"/>
              </a:rPr>
              <a:t>Indian Institute of Technology Bombay</a:t>
            </a:r>
            <a:endParaRPr sz="1867">
              <a:solidFill>
                <a:srgbClr val="99999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60" name="Google Shape;60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29167" y="4900402"/>
            <a:ext cx="1733700" cy="1690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1320" y="5256784"/>
            <a:ext cx="1996097" cy="97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405363" y="5283985"/>
            <a:ext cx="2611412" cy="923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2D05EF74-753A-1586-5E72-E3BB8FCE2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>
            <a:extLst>
              <a:ext uri="{FF2B5EF4-FFF2-40B4-BE49-F238E27FC236}">
                <a16:creationId xmlns:a16="http://schemas.microsoft.com/office/drawing/2014/main" id="{20B8748B-DF23-81DD-2F17-E6333D6360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64914" y="0"/>
            <a:ext cx="8062175" cy="76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algn="ctr">
              <a:buClr>
                <a:schemeClr val="dk1"/>
              </a:buClr>
              <a:buSzPts val="1100"/>
            </a:pPr>
            <a:r>
              <a:rPr lang="en-IN" dirty="0"/>
              <a:t>Converter Specifications</a:t>
            </a:r>
            <a:endParaRPr dirty="0">
              <a:solidFill>
                <a:srgbClr val="1F9180"/>
              </a:solidFill>
            </a:endParaRPr>
          </a:p>
        </p:txBody>
      </p:sp>
      <p:pic>
        <p:nvPicPr>
          <p:cNvPr id="68" name="Google Shape;68;p14">
            <a:extLst>
              <a:ext uri="{FF2B5EF4-FFF2-40B4-BE49-F238E27FC236}">
                <a16:creationId xmlns:a16="http://schemas.microsoft.com/office/drawing/2014/main" id="{5269008D-7F81-C9B8-AC92-C1692338DDB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48267" y="147830"/>
            <a:ext cx="479932" cy="467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4">
            <a:extLst>
              <a:ext uri="{FF2B5EF4-FFF2-40B4-BE49-F238E27FC236}">
                <a16:creationId xmlns:a16="http://schemas.microsoft.com/office/drawing/2014/main" id="{1199B54F-FC0D-E0DB-52C9-8C688BD1A7E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43667" y="95403"/>
            <a:ext cx="629200" cy="6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4">
            <a:extLst>
              <a:ext uri="{FF2B5EF4-FFF2-40B4-BE49-F238E27FC236}">
                <a16:creationId xmlns:a16="http://schemas.microsoft.com/office/drawing/2014/main" id="{4A8017BA-2B3C-20EB-4C86-1B73D95C9D42}"/>
              </a:ext>
            </a:extLst>
          </p:cNvPr>
          <p:cNvSpPr txBox="1"/>
          <p:nvPr/>
        </p:nvSpPr>
        <p:spPr>
          <a:xfrm>
            <a:off x="4752367" y="1531567"/>
            <a:ext cx="2340800" cy="14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8F59A4B-8A0E-5A60-92C4-FFCA38B467D3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1698413"/>
          <a:ext cx="8128000" cy="3955624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86806582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32225706"/>
                    </a:ext>
                  </a:extLst>
                </a:gridCol>
              </a:tblGrid>
              <a:tr h="494453">
                <a:tc>
                  <a:txBody>
                    <a:bodyPr/>
                    <a:lstStyle/>
                    <a:p>
                      <a:r>
                        <a:rPr lang="en-IN" sz="2400" b="1" dirty="0">
                          <a:latin typeface="Nunito" pitchFamily="2" charset="0"/>
                        </a:rPr>
                        <a:t>Parameter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IN" sz="2400" b="1" dirty="0">
                          <a:latin typeface="Nunito" pitchFamily="2" charset="0"/>
                        </a:rPr>
                        <a:t>Value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2103350173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r>
                        <a:rPr lang="en-IN" sz="2400" b="0" dirty="0">
                          <a:latin typeface="Nunito" pitchFamily="2" charset="0"/>
                        </a:rPr>
                        <a:t>Input voltage (V</a:t>
                      </a:r>
                      <a:r>
                        <a:rPr lang="en-IN" sz="1400" b="0" dirty="0">
                          <a:latin typeface="Nunito" pitchFamily="2" charset="0"/>
                        </a:rPr>
                        <a:t>in</a:t>
                      </a:r>
                      <a:r>
                        <a:rPr lang="en-IN" sz="1900" b="0" dirty="0">
                          <a:latin typeface="Nunito" pitchFamily="2" charset="0"/>
                        </a:rPr>
                        <a:t>)</a:t>
                      </a:r>
                      <a:endParaRPr lang="en-IN" sz="2400" b="0" dirty="0">
                        <a:latin typeface="Nunito" pitchFamily="2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IN" sz="2400" b="0" dirty="0">
                          <a:latin typeface="Nunito" pitchFamily="2" charset="0"/>
                        </a:rPr>
                        <a:t>20 V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657992302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r>
                        <a:rPr lang="en-IN" sz="2400" b="0" dirty="0">
                          <a:latin typeface="Nunito" pitchFamily="2" charset="0"/>
                        </a:rPr>
                        <a:t>Resonant tank inductor (L</a:t>
                      </a:r>
                      <a:r>
                        <a:rPr lang="en-IN" sz="1400" b="0" dirty="0">
                          <a:latin typeface="Nunito" pitchFamily="2" charset="0"/>
                        </a:rPr>
                        <a:t>r</a:t>
                      </a:r>
                      <a:r>
                        <a:rPr lang="en-IN" sz="1900" b="0" dirty="0">
                          <a:latin typeface="Nunito" pitchFamily="2" charset="0"/>
                        </a:rPr>
                        <a:t>)</a:t>
                      </a:r>
                      <a:endParaRPr lang="en-IN" sz="2400" b="0" dirty="0">
                        <a:latin typeface="Nunito" pitchFamily="2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IN" sz="2400" b="0" dirty="0">
                          <a:latin typeface="Nunito" pitchFamily="2" charset="0"/>
                        </a:rPr>
                        <a:t>84.142 µH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3046975583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2400" b="0" dirty="0">
                          <a:latin typeface="Nunito" pitchFamily="2" charset="0"/>
                        </a:rPr>
                        <a:t>Resonant tank capacitor (C</a:t>
                      </a:r>
                      <a:r>
                        <a:rPr lang="en-IN" sz="1400" b="0" dirty="0">
                          <a:latin typeface="Nunito" pitchFamily="2" charset="0"/>
                        </a:rPr>
                        <a:t>r</a:t>
                      </a:r>
                      <a:r>
                        <a:rPr lang="en-IN" sz="1900" b="0" dirty="0">
                          <a:latin typeface="Nunito" pitchFamily="2" charset="0"/>
                        </a:rPr>
                        <a:t>)</a:t>
                      </a:r>
                      <a:endParaRPr lang="en-IN" sz="2400" b="0" dirty="0">
                        <a:latin typeface="Nunito" pitchFamily="2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IN" sz="2400" b="0" dirty="0">
                          <a:latin typeface="Nunito" pitchFamily="2" charset="0"/>
                        </a:rPr>
                        <a:t>481.667 </a:t>
                      </a:r>
                      <a:r>
                        <a:rPr lang="en-IN" sz="2400" b="0" dirty="0" err="1">
                          <a:latin typeface="Nunito" pitchFamily="2" charset="0"/>
                        </a:rPr>
                        <a:t>nF</a:t>
                      </a:r>
                      <a:endParaRPr lang="en-IN" sz="2400" b="0" dirty="0">
                        <a:latin typeface="Nunito" pitchFamily="2" charset="0"/>
                      </a:endParaRP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2093627125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r>
                        <a:rPr lang="en-IN" sz="2400" b="0" dirty="0">
                          <a:latin typeface="Nunito" pitchFamily="2" charset="0"/>
                        </a:rPr>
                        <a:t>Resonant frequency (</a:t>
                      </a:r>
                      <a:r>
                        <a:rPr lang="en-IN" sz="2400" b="0" dirty="0" err="1">
                          <a:latin typeface="Nunito" pitchFamily="2" charset="0"/>
                        </a:rPr>
                        <a:t>f</a:t>
                      </a:r>
                      <a:r>
                        <a:rPr lang="en-IN" sz="1400" b="0" dirty="0" err="1">
                          <a:latin typeface="Nunito" pitchFamily="2" charset="0"/>
                        </a:rPr>
                        <a:t>r</a:t>
                      </a:r>
                      <a:r>
                        <a:rPr lang="en-IN" sz="1900" b="0" dirty="0">
                          <a:latin typeface="Nunito" pitchFamily="2" charset="0"/>
                        </a:rPr>
                        <a:t>)</a:t>
                      </a:r>
                      <a:endParaRPr lang="en-IN" sz="2400" b="0" dirty="0">
                        <a:latin typeface="Nunito" pitchFamily="2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IN" sz="2400" b="0" dirty="0">
                          <a:latin typeface="Nunito" pitchFamily="2" charset="0"/>
                        </a:rPr>
                        <a:t>25 kHz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2331694954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r>
                        <a:rPr lang="en-IN" sz="2400" b="0" dirty="0">
                          <a:latin typeface="Nunito" pitchFamily="2" charset="0"/>
                        </a:rPr>
                        <a:t>Output inductor (L)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IN" sz="2400" b="0" dirty="0">
                          <a:latin typeface="Nunito" pitchFamily="2" charset="0"/>
                        </a:rPr>
                        <a:t>80 µH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988329218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r>
                        <a:rPr lang="en-IN" sz="2400" b="0" dirty="0">
                          <a:latin typeface="Nunito" pitchFamily="2" charset="0"/>
                        </a:rPr>
                        <a:t>Output capacitor (C) 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IN" sz="2400" b="0" dirty="0">
                          <a:latin typeface="Nunito" pitchFamily="2" charset="0"/>
                        </a:rPr>
                        <a:t>500 µF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2265635480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r>
                        <a:rPr lang="en-IN" sz="2400" b="0" dirty="0">
                          <a:latin typeface="Nunito" pitchFamily="2" charset="0"/>
                        </a:rPr>
                        <a:t>Switches and Diodes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IN" sz="2400" b="0" dirty="0">
                          <a:latin typeface="Nunito" pitchFamily="2" charset="0"/>
                        </a:rPr>
                        <a:t>Ideal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633384886"/>
                  </a:ext>
                </a:extLst>
              </a:tr>
            </a:tbl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6FE68071-C1A8-3346-E218-D417143DCA1E}"/>
              </a:ext>
            </a:extLst>
          </p:cNvPr>
          <p:cNvGrpSpPr/>
          <p:nvPr/>
        </p:nvGrpSpPr>
        <p:grpSpPr>
          <a:xfrm>
            <a:off x="10843667" y="95403"/>
            <a:ext cx="1184532" cy="629200"/>
            <a:chOff x="8132750" y="71552"/>
            <a:chExt cx="888399" cy="471900"/>
          </a:xfrm>
        </p:grpSpPr>
        <p:pic>
          <p:nvPicPr>
            <p:cNvPr id="4" name="Google Shape;68;p14">
              <a:extLst>
                <a:ext uri="{FF2B5EF4-FFF2-40B4-BE49-F238E27FC236}">
                  <a16:creationId xmlns:a16="http://schemas.microsoft.com/office/drawing/2014/main" id="{0DA773BD-6DA0-086A-664C-1E13A5EE2CB5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661200" y="110872"/>
              <a:ext cx="359949" cy="3509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" name="Google Shape;70;p14">
              <a:extLst>
                <a:ext uri="{FF2B5EF4-FFF2-40B4-BE49-F238E27FC236}">
                  <a16:creationId xmlns:a16="http://schemas.microsoft.com/office/drawing/2014/main" id="{C130BCFA-3717-9AF2-F2CA-4F698014BE9E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132750" y="71552"/>
              <a:ext cx="471900" cy="4719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D48FBE-81ED-857F-A499-4C79ED00A8F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289385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04694-35A2-EFD6-ACCE-AA38AAF56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38664" cy="763600"/>
          </a:xfrm>
        </p:spPr>
        <p:txBody>
          <a:bodyPr>
            <a:normAutofit/>
          </a:bodyPr>
          <a:lstStyle/>
          <a:p>
            <a:r>
              <a:rPr lang="en-IN" dirty="0"/>
              <a:t>DC-DC Parallel Resonant Converter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CC19E1B-9EA6-9C3B-F44A-EDA2CBB45C34}"/>
                  </a:ext>
                </a:extLst>
              </p:cNvPr>
              <p:cNvSpPr txBox="1"/>
              <p:nvPr/>
            </p:nvSpPr>
            <p:spPr>
              <a:xfrm>
                <a:off x="593629" y="820917"/>
                <a:ext cx="3345324" cy="56428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80990" indent="-380990">
                  <a:buFont typeface="Arial" panose="020B0604020202020204" pitchFamily="34" charset="0"/>
                  <a:buChar char="•"/>
                </a:pPr>
                <a:r>
                  <a:rPr lang="en-IN" dirty="0">
                    <a:latin typeface="Nunito" pitchFamily="2" charset="0"/>
                  </a:rPr>
                  <a:t>Equivalent resistance</a:t>
                </a:r>
              </a:p>
              <a:p>
                <a:pPr marL="380990" indent="-380990">
                  <a:buFont typeface="Arial" panose="020B0604020202020204" pitchFamily="34" charset="0"/>
                  <a:buChar char="•"/>
                </a:pPr>
                <a:endParaRPr lang="en-IN" dirty="0">
                  <a:latin typeface="Nunito" pitchFamily="2" charset="0"/>
                </a:endParaRPr>
              </a:p>
              <a:p>
                <a:pPr algn="ctr"/>
                <a:r>
                  <a:rPr lang="en-IN" dirty="0" err="1">
                    <a:latin typeface="Nunito" pitchFamily="2" charset="0"/>
                  </a:rPr>
                  <a:t>R</a:t>
                </a:r>
                <a:r>
                  <a:rPr lang="en-IN" sz="1100" dirty="0" err="1">
                    <a:latin typeface="Nunito" pitchFamily="2" charset="0"/>
                  </a:rPr>
                  <a:t>eq</a:t>
                </a:r>
                <a:r>
                  <a:rPr lang="en-IN" dirty="0">
                    <a:latin typeface="Nunito" pitchFamily="2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i="1">
                            <a:latin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endParaRPr lang="en-IN" dirty="0">
                  <a:latin typeface="Nunito" pitchFamily="2" charset="0"/>
                </a:endParaRPr>
              </a:p>
              <a:p>
                <a:endParaRPr lang="en-IN" dirty="0">
                  <a:latin typeface="Nunito" pitchFamily="2" charset="0"/>
                </a:endParaRPr>
              </a:p>
              <a:p>
                <a:pPr marL="380990" indent="-380990">
                  <a:buFont typeface="Arial" panose="020B0604020202020204" pitchFamily="34" charset="0"/>
                  <a:buChar char="•"/>
                </a:pPr>
                <a:r>
                  <a:rPr lang="en-IN" dirty="0">
                    <a:latin typeface="Nunito" pitchFamily="2" charset="0"/>
                  </a:rPr>
                  <a:t>Resonant frequency</a:t>
                </a:r>
              </a:p>
              <a:p>
                <a:endParaRPr lang="en-IN" dirty="0">
                  <a:latin typeface="Nunito" pitchFamily="2" charset="0"/>
                </a:endParaRPr>
              </a:p>
              <a:p>
                <a:pPr algn="ctr"/>
                <a:r>
                  <a:rPr lang="en-IN" dirty="0" err="1">
                    <a:latin typeface="Nunito" pitchFamily="2" charset="0"/>
                  </a:rPr>
                  <a:t>f</a:t>
                </a:r>
                <a:r>
                  <a:rPr lang="en-IN" sz="1100" dirty="0" err="1">
                    <a:latin typeface="Nunito" pitchFamily="2" charset="0"/>
                  </a:rPr>
                  <a:t>r</a:t>
                </a:r>
                <a:r>
                  <a:rPr lang="en-IN" dirty="0">
                    <a:latin typeface="Nunito" pitchFamily="2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l-GR" i="1">
                            <a:latin typeface="Cambria Math" panose="02040503050406030204" pitchFamily="18" charset="0"/>
                          </a:rPr>
                          <m:t>π</m:t>
                        </m:r>
                        <m:rad>
                          <m:radPr>
                            <m:degHide m:val="on"/>
                            <m:ctrlPr>
                              <a:rPr lang="el-GR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l-G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l-G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</m:e>
                        </m:rad>
                      </m:den>
                    </m:f>
                  </m:oMath>
                </a14:m>
                <a:endParaRPr lang="en-IN" dirty="0">
                  <a:latin typeface="Nunito" pitchFamily="2" charset="0"/>
                </a:endParaRPr>
              </a:p>
              <a:p>
                <a:endParaRPr lang="en-IN" dirty="0">
                  <a:latin typeface="Nunito" pitchFamily="2" charset="0"/>
                </a:endParaRPr>
              </a:p>
              <a:p>
                <a:pPr marL="380990" indent="-380990">
                  <a:buFont typeface="Arial" panose="020B0604020202020204" pitchFamily="34" charset="0"/>
                  <a:buChar char="•"/>
                </a:pPr>
                <a:r>
                  <a:rPr lang="en-IN" dirty="0">
                    <a:latin typeface="Nunito" pitchFamily="2" charset="0"/>
                  </a:rPr>
                  <a:t>Voltage gain (FHA)</a:t>
                </a:r>
              </a:p>
              <a:p>
                <a:pPr marL="380990" indent="-380990">
                  <a:buFont typeface="Arial" panose="020B0604020202020204" pitchFamily="34" charset="0"/>
                  <a:buChar char="•"/>
                </a:pPr>
                <a:endParaRPr lang="en-IN" dirty="0">
                  <a:latin typeface="Nunito" pitchFamily="2" charset="0"/>
                </a:endParaRPr>
              </a:p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𝐶𝐷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,1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𝐴𝐵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,1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dirty="0">
                    <a:latin typeface="Nunito" pitchFamily="2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1 − </m:t>
                                    </m:r>
                                    <m:sSubSup>
                                      <m:sSubSupPr>
                                        <m:ctrlP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IN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sub>
                                      <m:sup>
                                        <m: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sSub>
                                      <m:sSubPr>
                                        <m:ctrlP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  <m:t>𝐿</m:t>
                                        </m:r>
                                      </m:e>
                                      <m:sub>
                                        <m: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sub>
                                    </m:sSub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sSub>
                                      <m:sSubPr>
                                        <m:ctrlP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+ </m:t>
                            </m:r>
                            <m:sSup>
                              <m:sSup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  <m:sSub>
                                          <m:sSubPr>
                                            <m:ctrlPr>
                                              <a:rPr lang="en-IN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IN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𝐿</m:t>
                                            </m:r>
                                          </m:e>
                                          <m:sub>
                                            <m:r>
                                              <a:rPr lang="en-IN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𝑟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IN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IN" i="1">
                                                <a:latin typeface="Cambria Math" panose="02040503050406030204" pitchFamily="18" charset="0"/>
                                              </a:rPr>
                                              <m:t>𝑅</m:t>
                                            </m:r>
                                          </m:e>
                                          <m:sub>
                                            <m:r>
                                              <a:rPr lang="en-IN" i="1">
                                                <a:latin typeface="Cambria Math" panose="02040503050406030204" pitchFamily="18" charset="0"/>
                                              </a:rPr>
                                              <m:t>𝑒𝑞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rad>
                      </m:den>
                    </m:f>
                  </m:oMath>
                </a14:m>
                <a:endParaRPr lang="en-IN" dirty="0">
                  <a:latin typeface="Nunito" pitchFamily="2" charset="0"/>
                </a:endParaRPr>
              </a:p>
              <a:p>
                <a:endParaRPr lang="en-IN" dirty="0">
                  <a:latin typeface="Nunito" pitchFamily="2" charset="0"/>
                </a:endParaRPr>
              </a:p>
              <a:p>
                <a:pPr algn="ctr"/>
                <a:r>
                  <a:rPr lang="en-IN" dirty="0">
                    <a:latin typeface="Nunito" pitchFamily="2" charset="0"/>
                  </a:rPr>
                  <a:t>G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dirty="0">
                    <a:latin typeface="Nunito" pitchFamily="2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skw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l-GR" i="1"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num>
                      <m:den>
                        <m:rad>
                          <m:radPr>
                            <m:degHide m:val="on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(1−</m:t>
                                </m:r>
                                <m:sSubSup>
                                  <m:sSubSup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i="1">
                                        <a:latin typeface="Cambria Math" panose="02040503050406030204" pitchFamily="18" charset="0"/>
                                      </a:rPr>
                                      <m:t>ω</m:t>
                                    </m:r>
                                  </m:e>
                                  <m:sub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IN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IN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𝜔</m:t>
                                            </m:r>
                                          </m:e>
                                          <m:sub>
                                            <m:r>
                                              <a:rPr lang="en-IN" i="1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IN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IN" i="1">
                                                <a:latin typeface="Cambria Math" panose="02040503050406030204" pitchFamily="18" charset="0"/>
                                              </a:rPr>
                                              <m:t>𝑄</m:t>
                                            </m:r>
                                          </m:e>
                                          <m:sub>
                                            <m:r>
                                              <a:rPr lang="en-IN" i="1">
                                                <a:latin typeface="Cambria Math" panose="02040503050406030204" pitchFamily="18" charset="0"/>
                                              </a:rPr>
                                              <m:t>𝑒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endParaRPr lang="en-IN" dirty="0">
                  <a:latin typeface="Nunito" pitchFamily="2" charset="0"/>
                </a:endParaRPr>
              </a:p>
              <a:p>
                <a:endParaRPr lang="en-IN" dirty="0">
                  <a:latin typeface="Nunito" pitchFamily="2" charset="0"/>
                </a:endParaRPr>
              </a:p>
              <a:p>
                <a:r>
                  <a:rPr lang="en-IN" dirty="0">
                    <a:latin typeface="Nunito" pitchFamily="2" charset="0"/>
                  </a:rPr>
                  <a:t>    where-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den>
                    </m:f>
                  </m:oMath>
                </a14:m>
                <a:endParaRPr lang="en-IN" dirty="0">
                  <a:latin typeface="Nunito" pitchFamily="2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CC19E1B-9EA6-9C3B-F44A-EDA2CBB45C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629" y="820917"/>
                <a:ext cx="3345324" cy="5642827"/>
              </a:xfrm>
              <a:prstGeom prst="rect">
                <a:avLst/>
              </a:prstGeom>
              <a:blipFill>
                <a:blip r:embed="rId2"/>
                <a:stretch>
                  <a:fillRect l="-1093" t="-64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4FD82E9E-7606-6253-68AF-41CC0AE458D0}"/>
              </a:ext>
            </a:extLst>
          </p:cNvPr>
          <p:cNvSpPr txBox="1"/>
          <p:nvPr/>
        </p:nvSpPr>
        <p:spPr>
          <a:xfrm>
            <a:off x="7197717" y="5795713"/>
            <a:ext cx="25500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Nunito" pitchFamily="2" charset="0"/>
              </a:rPr>
              <a:t>Equivalent circuit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C3BC443-1B40-7E4E-47D2-9671A8623E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74459" y="670047"/>
            <a:ext cx="7772400" cy="313690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522F9B95-913A-ADB5-ABD4-BFF1BE106CE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75252" y="4228985"/>
            <a:ext cx="2808000" cy="1298323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00DFBE46-A78B-2242-F22F-5EFC1DA16D13}"/>
              </a:ext>
            </a:extLst>
          </p:cNvPr>
          <p:cNvGrpSpPr/>
          <p:nvPr/>
        </p:nvGrpSpPr>
        <p:grpSpPr>
          <a:xfrm>
            <a:off x="10843667" y="95403"/>
            <a:ext cx="1184532" cy="629200"/>
            <a:chOff x="8132750" y="71552"/>
            <a:chExt cx="888399" cy="471900"/>
          </a:xfrm>
        </p:grpSpPr>
        <p:pic>
          <p:nvPicPr>
            <p:cNvPr id="4" name="Google Shape;68;p14">
              <a:extLst>
                <a:ext uri="{FF2B5EF4-FFF2-40B4-BE49-F238E27FC236}">
                  <a16:creationId xmlns:a16="http://schemas.microsoft.com/office/drawing/2014/main" id="{D260AE55-2353-FDD9-1639-C7700EAE93E4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8661200" y="110872"/>
              <a:ext cx="359949" cy="3509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" name="Google Shape;70;p14">
              <a:extLst>
                <a:ext uri="{FF2B5EF4-FFF2-40B4-BE49-F238E27FC236}">
                  <a16:creationId xmlns:a16="http://schemas.microsoft.com/office/drawing/2014/main" id="{10B74191-24E8-C575-81EA-F953EC9CA574}"/>
                </a:ext>
              </a:extLst>
            </p:cNvPr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8132750" y="71552"/>
              <a:ext cx="471900" cy="4719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07197D82-85A2-204F-D9F0-56BF25D45596}"/>
              </a:ext>
            </a:extLst>
          </p:cNvPr>
          <p:cNvSpPr/>
          <p:nvPr/>
        </p:nvSpPr>
        <p:spPr>
          <a:xfrm>
            <a:off x="779529" y="4997017"/>
            <a:ext cx="2973524" cy="940996"/>
          </a:xfrm>
          <a:prstGeom prst="rect">
            <a:avLst/>
          </a:prstGeom>
          <a:noFill/>
          <a:ln w="12700">
            <a:solidFill>
              <a:srgbClr val="1F91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47D8272-6D2C-1911-9BF4-AB99BCEFACA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832833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856F7-8574-B155-EDB1-22F76C13E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2821E-ABFC-9D2E-7319-0532FF923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Gain vs. switching frequency curve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2B2B9E-9039-7D75-2EDE-318B5AF383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6000" y="946294"/>
            <a:ext cx="8160000" cy="4965413"/>
          </a:xfrm>
          <a:prstGeom prst="rect">
            <a:avLst/>
          </a:prstGeom>
          <a:ln w="12700">
            <a:solidFill>
              <a:srgbClr val="1F9180"/>
            </a:solidFill>
          </a:ln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EF35219-21A7-8496-A58F-7BC71342E091}"/>
              </a:ext>
            </a:extLst>
          </p:cNvPr>
          <p:cNvCxnSpPr/>
          <p:nvPr/>
        </p:nvCxnSpPr>
        <p:spPr>
          <a:xfrm flipV="1">
            <a:off x="5411925" y="2234280"/>
            <a:ext cx="783377" cy="2979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64EDA9A-69DA-028C-2909-49EBA37EB810}"/>
              </a:ext>
            </a:extLst>
          </p:cNvPr>
          <p:cNvSpPr txBox="1"/>
          <p:nvPr/>
        </p:nvSpPr>
        <p:spPr>
          <a:xfrm>
            <a:off x="6322188" y="1897759"/>
            <a:ext cx="15557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Light load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DBE1F81-D082-C510-2E0B-C679CD795D05}"/>
              </a:ext>
            </a:extLst>
          </p:cNvPr>
          <p:cNvCxnSpPr>
            <a:cxnSpLocks/>
          </p:cNvCxnSpPr>
          <p:nvPr/>
        </p:nvCxnSpPr>
        <p:spPr>
          <a:xfrm flipV="1">
            <a:off x="5615124" y="4693970"/>
            <a:ext cx="2262784" cy="8604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237AEE8-E329-923B-17C5-BEC42ED9420E}"/>
              </a:ext>
            </a:extLst>
          </p:cNvPr>
          <p:cNvSpPr txBox="1"/>
          <p:nvPr/>
        </p:nvSpPr>
        <p:spPr>
          <a:xfrm>
            <a:off x="7490819" y="4180785"/>
            <a:ext cx="2262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Heavy load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8171121-601A-BEB8-8D61-38FF204AADA3}"/>
              </a:ext>
            </a:extLst>
          </p:cNvPr>
          <p:cNvGrpSpPr/>
          <p:nvPr/>
        </p:nvGrpSpPr>
        <p:grpSpPr>
          <a:xfrm>
            <a:off x="10843667" y="95403"/>
            <a:ext cx="1184532" cy="629200"/>
            <a:chOff x="8132750" y="71552"/>
            <a:chExt cx="888399" cy="471900"/>
          </a:xfrm>
        </p:grpSpPr>
        <p:pic>
          <p:nvPicPr>
            <p:cNvPr id="5" name="Google Shape;68;p14">
              <a:extLst>
                <a:ext uri="{FF2B5EF4-FFF2-40B4-BE49-F238E27FC236}">
                  <a16:creationId xmlns:a16="http://schemas.microsoft.com/office/drawing/2014/main" id="{BED506EE-AE98-8E79-F534-509D121441C4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661200" y="110872"/>
              <a:ext cx="359949" cy="3509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" name="Google Shape;70;p14">
              <a:extLst>
                <a:ext uri="{FF2B5EF4-FFF2-40B4-BE49-F238E27FC236}">
                  <a16:creationId xmlns:a16="http://schemas.microsoft.com/office/drawing/2014/main" id="{6D654C7B-FAB7-158A-EE46-AA5BC3B1697E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132750" y="71552"/>
              <a:ext cx="471900" cy="4719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9193B3E-DC57-F5E3-A695-A8EE45EADD6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706964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2C613-7B48-3DDA-2BBE-13BFB0AC2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91BCE-446B-BC59-6871-18CEA18E1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791459" cy="763600"/>
          </a:xfrm>
        </p:spPr>
        <p:txBody>
          <a:bodyPr/>
          <a:lstStyle/>
          <a:p>
            <a:r>
              <a:rPr lang="en-IN" dirty="0"/>
              <a:t>Analytical vs. Simulated gain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96976EF-71E3-3791-AAF7-83554DC98670}"/>
              </a:ext>
            </a:extLst>
          </p:cNvPr>
          <p:cNvGrpSpPr/>
          <p:nvPr/>
        </p:nvGrpSpPr>
        <p:grpSpPr>
          <a:xfrm>
            <a:off x="10843667" y="95403"/>
            <a:ext cx="1184532" cy="629200"/>
            <a:chOff x="8132750" y="71552"/>
            <a:chExt cx="888399" cy="471900"/>
          </a:xfrm>
        </p:grpSpPr>
        <p:pic>
          <p:nvPicPr>
            <p:cNvPr id="4" name="Google Shape;68;p14">
              <a:extLst>
                <a:ext uri="{FF2B5EF4-FFF2-40B4-BE49-F238E27FC236}">
                  <a16:creationId xmlns:a16="http://schemas.microsoft.com/office/drawing/2014/main" id="{1DDEED93-9EC6-44D1-1986-EA1270C5925B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8661200" y="110872"/>
              <a:ext cx="359949" cy="3509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" name="Google Shape;70;p14">
              <a:extLst>
                <a:ext uri="{FF2B5EF4-FFF2-40B4-BE49-F238E27FC236}">
                  <a16:creationId xmlns:a16="http://schemas.microsoft.com/office/drawing/2014/main" id="{31312A0E-6D50-0117-E71F-FFFD4DFB2433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132750" y="71552"/>
              <a:ext cx="471900" cy="4719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445B0E1-D0E1-69B6-46A6-F9FF8D38F5E4}"/>
              </a:ext>
            </a:extLst>
          </p:cNvPr>
          <p:cNvGrpSpPr/>
          <p:nvPr/>
        </p:nvGrpSpPr>
        <p:grpSpPr>
          <a:xfrm>
            <a:off x="1296000" y="751043"/>
            <a:ext cx="9600000" cy="5355915"/>
            <a:chOff x="972000" y="563282"/>
            <a:chExt cx="7200000" cy="401693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BADE883-3AD6-28C2-E8F6-A3306A81EA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72000" y="563282"/>
              <a:ext cx="7200000" cy="4016936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641DC8E-E822-4D8D-6A1B-A5B80744F593}"/>
                </a:ext>
              </a:extLst>
            </p:cNvPr>
            <p:cNvSpPr/>
            <p:nvPr/>
          </p:nvSpPr>
          <p:spPr>
            <a:xfrm>
              <a:off x="2908701" y="1903276"/>
              <a:ext cx="165502" cy="177915"/>
            </a:xfrm>
            <a:prstGeom prst="rect">
              <a:avLst/>
            </a:prstGeom>
            <a:noFill/>
            <a:ln w="12700">
              <a:solidFill>
                <a:srgbClr val="1F918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BC45B667-6A6B-0A74-1E85-19DE296CB1F4}"/>
                </a:ext>
              </a:extLst>
            </p:cNvPr>
            <p:cNvCxnSpPr>
              <a:stCxn id="7" idx="2"/>
            </p:cNvCxnSpPr>
            <p:nvPr/>
          </p:nvCxnSpPr>
          <p:spPr>
            <a:xfrm flipH="1">
              <a:off x="2987316" y="2081191"/>
              <a:ext cx="4136" cy="52960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CFB016E-7E5E-2ADE-EDB7-7B724D761B16}"/>
                </a:ext>
              </a:extLst>
            </p:cNvPr>
            <p:cNvSpPr txBox="1"/>
            <p:nvPr/>
          </p:nvSpPr>
          <p:spPr>
            <a:xfrm>
              <a:off x="1866900" y="2644473"/>
              <a:ext cx="4087152" cy="346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dirty="0"/>
                <a:t>Gain is reduced suddenly</a:t>
              </a:r>
            </a:p>
          </p:txBody>
        </p:sp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3D32F96-1CAA-C9B3-9677-BCFCD0FB0CD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" dirty="0"/>
              <a:t>10</a:t>
            </a:r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CA5A3F60-8440-4315-ADD3-5EFB80D0FA2B}"/>
              </a:ext>
            </a:extLst>
          </p:cNvPr>
          <p:cNvGraphicFramePr>
            <a:graphicFrameLocks/>
          </p:cNvGraphicFramePr>
          <p:nvPr/>
        </p:nvGraphicFramePr>
        <p:xfrm>
          <a:off x="12865147" y="1697164"/>
          <a:ext cx="60960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587152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29DC3-0582-6425-1DBC-3486C0574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8F0E0-DFD8-49FC-9613-65D76ABCA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791459" cy="763600"/>
          </a:xfrm>
        </p:spPr>
        <p:txBody>
          <a:bodyPr/>
          <a:lstStyle/>
          <a:p>
            <a:r>
              <a:rPr lang="en-IN" dirty="0"/>
              <a:t>Analytical vs. Simulated gain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A6A9095-D24A-673C-432A-5A756AC9930F}"/>
              </a:ext>
            </a:extLst>
          </p:cNvPr>
          <p:cNvGrpSpPr/>
          <p:nvPr/>
        </p:nvGrpSpPr>
        <p:grpSpPr>
          <a:xfrm>
            <a:off x="10843667" y="95403"/>
            <a:ext cx="1184532" cy="629200"/>
            <a:chOff x="8132750" y="71552"/>
            <a:chExt cx="888399" cy="471900"/>
          </a:xfrm>
        </p:grpSpPr>
        <p:pic>
          <p:nvPicPr>
            <p:cNvPr id="4" name="Google Shape;68;p14">
              <a:extLst>
                <a:ext uri="{FF2B5EF4-FFF2-40B4-BE49-F238E27FC236}">
                  <a16:creationId xmlns:a16="http://schemas.microsoft.com/office/drawing/2014/main" id="{14A8E6C9-71CE-73A3-520C-28C9E711E579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8661200" y="110872"/>
              <a:ext cx="359949" cy="3509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" name="Google Shape;70;p14">
              <a:extLst>
                <a:ext uri="{FF2B5EF4-FFF2-40B4-BE49-F238E27FC236}">
                  <a16:creationId xmlns:a16="http://schemas.microsoft.com/office/drawing/2014/main" id="{39A5522F-698F-5EBE-1B2B-1B01E83CA3C3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132750" y="71552"/>
              <a:ext cx="471900" cy="4719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5A19155-11A1-B1ED-143B-581AA5028D69}"/>
              </a:ext>
            </a:extLst>
          </p:cNvPr>
          <p:cNvGrpSpPr/>
          <p:nvPr/>
        </p:nvGrpSpPr>
        <p:grpSpPr>
          <a:xfrm>
            <a:off x="0" y="751043"/>
            <a:ext cx="6217920" cy="5355915"/>
            <a:chOff x="972000" y="563282"/>
            <a:chExt cx="7200000" cy="401693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47A0C73-6DB7-46CA-ED38-CCC984765F7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72000" y="563282"/>
              <a:ext cx="7200000" cy="4016936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0480EB9-BFE2-D48E-D338-661980A2920B}"/>
                </a:ext>
              </a:extLst>
            </p:cNvPr>
            <p:cNvSpPr/>
            <p:nvPr/>
          </p:nvSpPr>
          <p:spPr>
            <a:xfrm>
              <a:off x="2908701" y="1903276"/>
              <a:ext cx="165502" cy="177915"/>
            </a:xfrm>
            <a:prstGeom prst="rect">
              <a:avLst/>
            </a:prstGeom>
            <a:noFill/>
            <a:ln w="12700">
              <a:solidFill>
                <a:srgbClr val="1F918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F2BAAE1F-5BAC-E6BD-AC20-AC9FE7F793B2}"/>
                </a:ext>
              </a:extLst>
            </p:cNvPr>
            <p:cNvCxnSpPr>
              <a:stCxn id="7" idx="2"/>
            </p:cNvCxnSpPr>
            <p:nvPr/>
          </p:nvCxnSpPr>
          <p:spPr>
            <a:xfrm flipH="1">
              <a:off x="2987316" y="2081191"/>
              <a:ext cx="4136" cy="52960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96B198C-1190-16EA-252A-12E201167B10}"/>
                </a:ext>
              </a:extLst>
            </p:cNvPr>
            <p:cNvSpPr txBox="1"/>
            <p:nvPr/>
          </p:nvSpPr>
          <p:spPr>
            <a:xfrm>
              <a:off x="1866900" y="2644473"/>
              <a:ext cx="4087151" cy="346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dirty="0"/>
                <a:t>Gain is reduced suddenly</a:t>
              </a:r>
            </a:p>
          </p:txBody>
        </p:sp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7477F7-5281-2121-79D1-EC9EDE26301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" dirty="0"/>
              <a:t>10</a:t>
            </a:r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5E30B22B-51FD-7BD1-A8E8-C171336788CA}"/>
              </a:ext>
            </a:extLst>
          </p:cNvPr>
          <p:cNvGraphicFramePr>
            <a:graphicFrameLocks/>
          </p:cNvGraphicFramePr>
          <p:nvPr/>
        </p:nvGraphicFramePr>
        <p:xfrm>
          <a:off x="6271307" y="1697164"/>
          <a:ext cx="60960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5865240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F88F3DE-1CDB-D0B7-2C9A-A16197819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60230-1DE5-F796-DF68-AADB9DB66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032376" cy="763600"/>
          </a:xfrm>
        </p:spPr>
        <p:txBody>
          <a:bodyPr/>
          <a:lstStyle/>
          <a:p>
            <a:r>
              <a:rPr lang="en-IN" dirty="0"/>
              <a:t>Analytical vs. Simulated Gain (R = 0.2 </a:t>
            </a:r>
            <a:r>
              <a:rPr lang="el-GR" dirty="0"/>
              <a:t>Ω</a:t>
            </a:r>
            <a:r>
              <a:rPr lang="en-IN" dirty="0"/>
              <a:t>)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17930A-E64B-FF93-A97B-B7AD0239F2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7" y="1381939"/>
            <a:ext cx="7488000" cy="4094124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6E9E50D-5C08-0481-3395-681960877914}"/>
              </a:ext>
            </a:extLst>
          </p:cNvPr>
          <p:cNvGraphicFramePr>
            <a:graphicFrameLocks noGrp="1"/>
          </p:cNvGraphicFramePr>
          <p:nvPr/>
        </p:nvGraphicFramePr>
        <p:xfrm>
          <a:off x="7866483" y="784615"/>
          <a:ext cx="4320001" cy="555358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166596">
                  <a:extLst>
                    <a:ext uri="{9D8B030D-6E8A-4147-A177-3AD203B41FA5}">
                      <a16:colId xmlns:a16="http://schemas.microsoft.com/office/drawing/2014/main" val="3083871471"/>
                    </a:ext>
                  </a:extLst>
                </a:gridCol>
                <a:gridCol w="784267">
                  <a:extLst>
                    <a:ext uri="{9D8B030D-6E8A-4147-A177-3AD203B41FA5}">
                      <a16:colId xmlns:a16="http://schemas.microsoft.com/office/drawing/2014/main" val="976582794"/>
                    </a:ext>
                  </a:extLst>
                </a:gridCol>
                <a:gridCol w="882299">
                  <a:extLst>
                    <a:ext uri="{9D8B030D-6E8A-4147-A177-3AD203B41FA5}">
                      <a16:colId xmlns:a16="http://schemas.microsoft.com/office/drawing/2014/main" val="3954692717"/>
                    </a:ext>
                  </a:extLst>
                </a:gridCol>
                <a:gridCol w="1486839">
                  <a:extLst>
                    <a:ext uri="{9D8B030D-6E8A-4147-A177-3AD203B41FA5}">
                      <a16:colId xmlns:a16="http://schemas.microsoft.com/office/drawing/2014/main" val="1565319578"/>
                    </a:ext>
                  </a:extLst>
                </a:gridCol>
              </a:tblGrid>
              <a:tr h="2069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u="none" strike="noStrike">
                          <a:effectLst/>
                        </a:rPr>
                        <a:t>Heavy Load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extLst>
                  <a:ext uri="{0D108BD9-81ED-4DB2-BD59-A6C34878D82A}">
                    <a16:rowId xmlns:a16="http://schemas.microsoft.com/office/drawing/2014/main" val="3727236133"/>
                  </a:ext>
                </a:extLst>
              </a:tr>
              <a:tr h="206933"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u="none" strike="noStrike" dirty="0">
                          <a:effectLst/>
                        </a:rPr>
                        <a:t>Analytical vs. Simulated (R = 0.2 ohm Q = 0.0187)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6174065"/>
                  </a:ext>
                </a:extLst>
              </a:tr>
              <a:tr h="2069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extLst>
                  <a:ext uri="{0D108BD9-81ED-4DB2-BD59-A6C34878D82A}">
                    <a16:rowId xmlns:a16="http://schemas.microsoft.com/office/drawing/2014/main" val="1705611725"/>
                  </a:ext>
                </a:extLst>
              </a:tr>
              <a:tr h="38025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u="none" strike="noStrike" dirty="0">
                          <a:effectLst/>
                        </a:rPr>
                        <a:t>fs (kHz)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u="none" strike="noStrike">
                          <a:effectLst/>
                        </a:rPr>
                        <a:t>Gain (calc)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u="none" strike="noStrike" dirty="0">
                          <a:effectLst/>
                        </a:rPr>
                        <a:t>Gain (</a:t>
                      </a:r>
                      <a:r>
                        <a:rPr lang="en-IN" sz="1100" b="1" u="none" strike="noStrike" dirty="0" err="1">
                          <a:effectLst/>
                        </a:rPr>
                        <a:t>simu</a:t>
                      </a:r>
                      <a:r>
                        <a:rPr lang="en-IN" sz="1100" b="1" u="none" strike="noStrike" dirty="0">
                          <a:effectLst/>
                        </a:rPr>
                        <a:t>)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u="none" strike="noStrike" dirty="0">
                          <a:effectLst/>
                        </a:rPr>
                        <a:t>Error %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extLst>
                  <a:ext uri="{0D108BD9-81ED-4DB2-BD59-A6C34878D82A}">
                    <a16:rowId xmlns:a16="http://schemas.microsoft.com/office/drawing/2014/main" val="703410098"/>
                  </a:ext>
                </a:extLst>
              </a:tr>
              <a:tr h="2069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0.0754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0.1111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32.1708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extLst>
                  <a:ext uri="{0D108BD9-81ED-4DB2-BD59-A6C34878D82A}">
                    <a16:rowId xmlns:a16="http://schemas.microsoft.com/office/drawing/2014/main" val="3996478971"/>
                  </a:ext>
                </a:extLst>
              </a:tr>
              <a:tr h="2069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0.0378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0.0532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28.9454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extLst>
                  <a:ext uri="{0D108BD9-81ED-4DB2-BD59-A6C34878D82A}">
                    <a16:rowId xmlns:a16="http://schemas.microsoft.com/office/drawing/2014/main" val="2595617146"/>
                  </a:ext>
                </a:extLst>
              </a:tr>
              <a:tr h="2069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0.0252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0.0341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26.0556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extLst>
                  <a:ext uri="{0D108BD9-81ED-4DB2-BD59-A6C34878D82A}">
                    <a16:rowId xmlns:a16="http://schemas.microsoft.com/office/drawing/2014/main" val="2280211162"/>
                  </a:ext>
                </a:extLst>
              </a:tr>
              <a:tr h="2069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0.0189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0.0248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23.7324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extLst>
                  <a:ext uri="{0D108BD9-81ED-4DB2-BD59-A6C34878D82A}">
                    <a16:rowId xmlns:a16="http://schemas.microsoft.com/office/drawing/2014/main" val="1245318886"/>
                  </a:ext>
                </a:extLst>
              </a:tr>
              <a:tr h="2069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u="none" strike="noStrike" dirty="0">
                          <a:effectLst/>
                        </a:rPr>
                        <a:t>25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u="none" strike="noStrike" dirty="0">
                          <a:effectLst/>
                        </a:rPr>
                        <a:t>0.0151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u="none" strike="noStrike" dirty="0">
                          <a:effectLst/>
                        </a:rPr>
                        <a:t>0.0194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u="none" strike="noStrike" dirty="0">
                          <a:effectLst/>
                        </a:rPr>
                        <a:t>21.9998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extLst>
                  <a:ext uri="{0D108BD9-81ED-4DB2-BD59-A6C34878D82A}">
                    <a16:rowId xmlns:a16="http://schemas.microsoft.com/office/drawing/2014/main" val="2499904616"/>
                  </a:ext>
                </a:extLst>
              </a:tr>
              <a:tr h="2069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30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0.0126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0.0159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20.6935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extLst>
                  <a:ext uri="{0D108BD9-81ED-4DB2-BD59-A6C34878D82A}">
                    <a16:rowId xmlns:a16="http://schemas.microsoft.com/office/drawing/2014/main" val="1282074264"/>
                  </a:ext>
                </a:extLst>
              </a:tr>
              <a:tr h="2069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35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0.0108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0.0134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19.3454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extLst>
                  <a:ext uri="{0D108BD9-81ED-4DB2-BD59-A6C34878D82A}">
                    <a16:rowId xmlns:a16="http://schemas.microsoft.com/office/drawing/2014/main" val="1319008146"/>
                  </a:ext>
                </a:extLst>
              </a:tr>
              <a:tr h="2069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40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0.0095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0.0116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18.4832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extLst>
                  <a:ext uri="{0D108BD9-81ED-4DB2-BD59-A6C34878D82A}">
                    <a16:rowId xmlns:a16="http://schemas.microsoft.com/office/drawing/2014/main" val="3650210977"/>
                  </a:ext>
                </a:extLst>
              </a:tr>
              <a:tr h="2069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50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0.0076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0.009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15.9661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extLst>
                  <a:ext uri="{0D108BD9-81ED-4DB2-BD59-A6C34878D82A}">
                    <a16:rowId xmlns:a16="http://schemas.microsoft.com/office/drawing/2014/main" val="326647284"/>
                  </a:ext>
                </a:extLst>
              </a:tr>
              <a:tr h="2069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60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0.0063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0.0074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14.8555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extLst>
                  <a:ext uri="{0D108BD9-81ED-4DB2-BD59-A6C34878D82A}">
                    <a16:rowId xmlns:a16="http://schemas.microsoft.com/office/drawing/2014/main" val="61424220"/>
                  </a:ext>
                </a:extLst>
              </a:tr>
              <a:tr h="2069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80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0.0047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0.0054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12.5573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extLst>
                  <a:ext uri="{0D108BD9-81ED-4DB2-BD59-A6C34878D82A}">
                    <a16:rowId xmlns:a16="http://schemas.microsoft.com/office/drawing/2014/main" val="237211759"/>
                  </a:ext>
                </a:extLst>
              </a:tr>
              <a:tr h="2069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100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0.0038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0.0042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10.1483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extLst>
                  <a:ext uri="{0D108BD9-81ED-4DB2-BD59-A6C34878D82A}">
                    <a16:rowId xmlns:a16="http://schemas.microsoft.com/office/drawing/2014/main" val="4063335712"/>
                  </a:ext>
                </a:extLst>
              </a:tr>
              <a:tr h="2069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120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0.0031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0.0034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7.6180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extLst>
                  <a:ext uri="{0D108BD9-81ED-4DB2-BD59-A6C34878D82A}">
                    <a16:rowId xmlns:a16="http://schemas.microsoft.com/office/drawing/2014/main" val="647660116"/>
                  </a:ext>
                </a:extLst>
              </a:tr>
              <a:tr h="2069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140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0.0027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0.0028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3.9852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extLst>
                  <a:ext uri="{0D108BD9-81ED-4DB2-BD59-A6C34878D82A}">
                    <a16:rowId xmlns:a16="http://schemas.microsoft.com/office/drawing/2014/main" val="1687851123"/>
                  </a:ext>
                </a:extLst>
              </a:tr>
              <a:tr h="2069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160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0.0023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0.0024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2.1467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extLst>
                  <a:ext uri="{0D108BD9-81ED-4DB2-BD59-A6C34878D82A}">
                    <a16:rowId xmlns:a16="http://schemas.microsoft.com/office/drawing/2014/main" val="342771881"/>
                  </a:ext>
                </a:extLst>
              </a:tr>
              <a:tr h="2069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180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0.0021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0.0021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0.7788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extLst>
                  <a:ext uri="{0D108BD9-81ED-4DB2-BD59-A6C34878D82A}">
                    <a16:rowId xmlns:a16="http://schemas.microsoft.com/office/drawing/2014/main" val="2656456671"/>
                  </a:ext>
                </a:extLst>
              </a:tr>
              <a:tr h="2069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200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0.0019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0.0019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1.5058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extLst>
                  <a:ext uri="{0D108BD9-81ED-4DB2-BD59-A6C34878D82A}">
                    <a16:rowId xmlns:a16="http://schemas.microsoft.com/office/drawing/2014/main" val="3080112206"/>
                  </a:ext>
                </a:extLst>
              </a:tr>
              <a:tr h="2069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220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0.0017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0.0017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0.1543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extLst>
                  <a:ext uri="{0D108BD9-81ED-4DB2-BD59-A6C34878D82A}">
                    <a16:rowId xmlns:a16="http://schemas.microsoft.com/office/drawing/2014/main" val="2342548948"/>
                  </a:ext>
                </a:extLst>
              </a:tr>
              <a:tr h="2069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240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0.0016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0.0015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3.4703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extLst>
                  <a:ext uri="{0D108BD9-81ED-4DB2-BD59-A6C34878D82A}">
                    <a16:rowId xmlns:a16="http://schemas.microsoft.com/office/drawing/2014/main" val="3881717497"/>
                  </a:ext>
                </a:extLst>
              </a:tr>
              <a:tr h="2069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260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0.0014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0.0014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2.0578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extLst>
                  <a:ext uri="{0D108BD9-81ED-4DB2-BD59-A6C34878D82A}">
                    <a16:rowId xmlns:a16="http://schemas.microsoft.com/office/drawing/2014/main" val="2206619299"/>
                  </a:ext>
                </a:extLst>
              </a:tr>
              <a:tr h="2069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280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0.0013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0.0013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1.7628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extLst>
                  <a:ext uri="{0D108BD9-81ED-4DB2-BD59-A6C34878D82A}">
                    <a16:rowId xmlns:a16="http://schemas.microsoft.com/office/drawing/2014/main" val="2490760736"/>
                  </a:ext>
                </a:extLst>
              </a:tr>
              <a:tr h="2069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0.0012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0.0012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2.5759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extLst>
                  <a:ext uri="{0D108BD9-81ED-4DB2-BD59-A6C34878D82A}">
                    <a16:rowId xmlns:a16="http://schemas.microsoft.com/office/drawing/2014/main" val="188856944"/>
                  </a:ext>
                </a:extLst>
              </a:tr>
            </a:tbl>
          </a:graphicData>
        </a:graphic>
      </p:graphicFrame>
      <p:grpSp>
        <p:nvGrpSpPr>
          <p:cNvPr id="3" name="Group 2">
            <a:extLst>
              <a:ext uri="{FF2B5EF4-FFF2-40B4-BE49-F238E27FC236}">
                <a16:creationId xmlns:a16="http://schemas.microsoft.com/office/drawing/2014/main" id="{EC6D335B-BC0C-022C-D43F-DF5CC9DEF60E}"/>
              </a:ext>
            </a:extLst>
          </p:cNvPr>
          <p:cNvGrpSpPr/>
          <p:nvPr/>
        </p:nvGrpSpPr>
        <p:grpSpPr>
          <a:xfrm>
            <a:off x="10843667" y="95403"/>
            <a:ext cx="1184532" cy="629200"/>
            <a:chOff x="8132750" y="71552"/>
            <a:chExt cx="888399" cy="471900"/>
          </a:xfrm>
        </p:grpSpPr>
        <p:pic>
          <p:nvPicPr>
            <p:cNvPr id="4" name="Google Shape;68;p14">
              <a:extLst>
                <a:ext uri="{FF2B5EF4-FFF2-40B4-BE49-F238E27FC236}">
                  <a16:creationId xmlns:a16="http://schemas.microsoft.com/office/drawing/2014/main" id="{8FB44BED-7DE8-C6C9-557C-93EA2378359C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661200" y="110872"/>
              <a:ext cx="359949" cy="3509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" name="Google Shape;70;p14">
              <a:extLst>
                <a:ext uri="{FF2B5EF4-FFF2-40B4-BE49-F238E27FC236}">
                  <a16:creationId xmlns:a16="http://schemas.microsoft.com/office/drawing/2014/main" id="{349FB3D5-347A-5C75-3965-C0EEBB6D6018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132750" y="71552"/>
              <a:ext cx="471900" cy="47190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4191241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FB67597-0FB8-771E-781B-A2D6AB08B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697AC-895D-5F3C-A8BA-EA6601765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8054444" cy="763600"/>
          </a:xfrm>
        </p:spPr>
        <p:txBody>
          <a:bodyPr/>
          <a:lstStyle/>
          <a:p>
            <a:r>
              <a:rPr lang="en-IN" dirty="0"/>
              <a:t>Analytical vs. Simulated Gain (R = 10 </a:t>
            </a:r>
            <a:r>
              <a:rPr lang="el-GR" dirty="0"/>
              <a:t>Ω</a:t>
            </a:r>
            <a:r>
              <a:rPr lang="en-IN" dirty="0"/>
              <a:t>)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BA80B3-4409-5B70-CB1F-26C205FD35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7" y="1414220"/>
            <a:ext cx="7488000" cy="4029560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FB5F886-B184-5A92-04A6-87E2117BAD9E}"/>
              </a:ext>
            </a:extLst>
          </p:cNvPr>
          <p:cNvGraphicFramePr>
            <a:graphicFrameLocks noGrp="1"/>
          </p:cNvGraphicFramePr>
          <p:nvPr/>
        </p:nvGraphicFramePr>
        <p:xfrm>
          <a:off x="7866483" y="784613"/>
          <a:ext cx="4319999" cy="555358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199253">
                  <a:extLst>
                    <a:ext uri="{9D8B030D-6E8A-4147-A177-3AD203B41FA5}">
                      <a16:colId xmlns:a16="http://schemas.microsoft.com/office/drawing/2014/main" val="887906999"/>
                    </a:ext>
                  </a:extLst>
                </a:gridCol>
                <a:gridCol w="695365">
                  <a:extLst>
                    <a:ext uri="{9D8B030D-6E8A-4147-A177-3AD203B41FA5}">
                      <a16:colId xmlns:a16="http://schemas.microsoft.com/office/drawing/2014/main" val="403804646"/>
                    </a:ext>
                  </a:extLst>
                </a:gridCol>
                <a:gridCol w="755832">
                  <a:extLst>
                    <a:ext uri="{9D8B030D-6E8A-4147-A177-3AD203B41FA5}">
                      <a16:colId xmlns:a16="http://schemas.microsoft.com/office/drawing/2014/main" val="3101353565"/>
                    </a:ext>
                  </a:extLst>
                </a:gridCol>
                <a:gridCol w="1669549">
                  <a:extLst>
                    <a:ext uri="{9D8B030D-6E8A-4147-A177-3AD203B41FA5}">
                      <a16:colId xmlns:a16="http://schemas.microsoft.com/office/drawing/2014/main" val="2926883214"/>
                    </a:ext>
                  </a:extLst>
                </a:gridCol>
              </a:tblGrid>
              <a:tr h="2069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u="none" strike="noStrike">
                          <a:effectLst/>
                        </a:rPr>
                        <a:t>Light Load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extLst>
                  <a:ext uri="{0D108BD9-81ED-4DB2-BD59-A6C34878D82A}">
                    <a16:rowId xmlns:a16="http://schemas.microsoft.com/office/drawing/2014/main" val="3648743584"/>
                  </a:ext>
                </a:extLst>
              </a:tr>
              <a:tr h="206933"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u="none" strike="noStrike" dirty="0">
                          <a:effectLst/>
                        </a:rPr>
                        <a:t>Analytical vs. Simulated (R = 10 ohm Q = 0.93)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2439877"/>
                  </a:ext>
                </a:extLst>
              </a:tr>
              <a:tr h="2069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extLst>
                  <a:ext uri="{0D108BD9-81ED-4DB2-BD59-A6C34878D82A}">
                    <a16:rowId xmlns:a16="http://schemas.microsoft.com/office/drawing/2014/main" val="2913522488"/>
                  </a:ext>
                </a:extLst>
              </a:tr>
              <a:tr h="38025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u="none" strike="noStrike">
                          <a:effectLst/>
                        </a:rPr>
                        <a:t>fs (kHz)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u="none" strike="noStrike">
                          <a:effectLst/>
                        </a:rPr>
                        <a:t>Gain (calc)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u="none" strike="noStrike">
                          <a:effectLst/>
                        </a:rPr>
                        <a:t>Gain (simu)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u="none" strike="noStrike" dirty="0">
                          <a:effectLst/>
                        </a:rPr>
                        <a:t>Error %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extLst>
                  <a:ext uri="{0D108BD9-81ED-4DB2-BD59-A6C34878D82A}">
                    <a16:rowId xmlns:a16="http://schemas.microsoft.com/office/drawing/2014/main" val="2280472487"/>
                  </a:ext>
                </a:extLst>
              </a:tr>
              <a:tr h="2069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0.8241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0.8768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6.01425193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extLst>
                  <a:ext uri="{0D108BD9-81ED-4DB2-BD59-A6C34878D82A}">
                    <a16:rowId xmlns:a16="http://schemas.microsoft.com/office/drawing/2014/main" val="323772743"/>
                  </a:ext>
                </a:extLst>
              </a:tr>
              <a:tr h="2069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0.8596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0.9978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13.85354871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extLst>
                  <a:ext uri="{0D108BD9-81ED-4DB2-BD59-A6C34878D82A}">
                    <a16:rowId xmlns:a16="http://schemas.microsoft.com/office/drawing/2014/main" val="3597656969"/>
                  </a:ext>
                </a:extLst>
              </a:tr>
              <a:tr h="2069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0.8936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0.7116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25.57701399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extLst>
                  <a:ext uri="{0D108BD9-81ED-4DB2-BD59-A6C34878D82A}">
                    <a16:rowId xmlns:a16="http://schemas.microsoft.com/office/drawing/2014/main" val="1192658333"/>
                  </a:ext>
                </a:extLst>
              </a:tr>
              <a:tr h="2069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0.8720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0.9976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12.59479065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extLst>
                  <a:ext uri="{0D108BD9-81ED-4DB2-BD59-A6C34878D82A}">
                    <a16:rowId xmlns:a16="http://schemas.microsoft.com/office/drawing/2014/main" val="2868402449"/>
                  </a:ext>
                </a:extLst>
              </a:tr>
              <a:tr h="2069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u="none" strike="noStrike" dirty="0">
                          <a:effectLst/>
                        </a:rPr>
                        <a:t>25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u="none" strike="noStrike" dirty="0">
                          <a:effectLst/>
                        </a:rPr>
                        <a:t>0.7566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u="none" strike="noStrike" dirty="0">
                          <a:effectLst/>
                        </a:rPr>
                        <a:t>0.8186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u="none" strike="noStrike" dirty="0">
                          <a:effectLst/>
                        </a:rPr>
                        <a:t>7.573703361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extLst>
                  <a:ext uri="{0D108BD9-81ED-4DB2-BD59-A6C34878D82A}">
                    <a16:rowId xmlns:a16="http://schemas.microsoft.com/office/drawing/2014/main" val="591956541"/>
                  </a:ext>
                </a:extLst>
              </a:tr>
              <a:tr h="2069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0.5965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0.5959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0.105811963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extLst>
                  <a:ext uri="{0D108BD9-81ED-4DB2-BD59-A6C34878D82A}">
                    <a16:rowId xmlns:a16="http://schemas.microsoft.com/office/drawing/2014/main" val="2928542777"/>
                  </a:ext>
                </a:extLst>
              </a:tr>
              <a:tr h="2069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0.4552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0.444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2.51717672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extLst>
                  <a:ext uri="{0D108BD9-81ED-4DB2-BD59-A6C34878D82A}">
                    <a16:rowId xmlns:a16="http://schemas.microsoft.com/office/drawing/2014/main" val="3585179966"/>
                  </a:ext>
                </a:extLst>
              </a:tr>
              <a:tr h="2069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0.3497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0.3411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2.529153426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extLst>
                  <a:ext uri="{0D108BD9-81ED-4DB2-BD59-A6C34878D82A}">
                    <a16:rowId xmlns:a16="http://schemas.microsoft.com/office/drawing/2014/main" val="3408771400"/>
                  </a:ext>
                </a:extLst>
              </a:tr>
              <a:tr h="2069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50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0.2199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0.2171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1.275628923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extLst>
                  <a:ext uri="{0D108BD9-81ED-4DB2-BD59-A6C34878D82A}">
                    <a16:rowId xmlns:a16="http://schemas.microsoft.com/office/drawing/2014/main" val="3694765898"/>
                  </a:ext>
                </a:extLst>
              </a:tr>
              <a:tr h="2069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60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0.1498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0.1494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0.285589353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extLst>
                  <a:ext uri="{0D108BD9-81ED-4DB2-BD59-A6C34878D82A}">
                    <a16:rowId xmlns:a16="http://schemas.microsoft.com/office/drawing/2014/main" val="1869530722"/>
                  </a:ext>
                </a:extLst>
              </a:tr>
              <a:tr h="2069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80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0.0822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0.0828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0.669632248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extLst>
                  <a:ext uri="{0D108BD9-81ED-4DB2-BD59-A6C34878D82A}">
                    <a16:rowId xmlns:a16="http://schemas.microsoft.com/office/drawing/2014/main" val="12583711"/>
                  </a:ext>
                </a:extLst>
              </a:tr>
              <a:tr h="2069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0.0520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0.0525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1.030170145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extLst>
                  <a:ext uri="{0D108BD9-81ED-4DB2-BD59-A6C34878D82A}">
                    <a16:rowId xmlns:a16="http://schemas.microsoft.com/office/drawing/2014/main" val="2257921638"/>
                  </a:ext>
                </a:extLst>
              </a:tr>
              <a:tr h="2069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120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0.0358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0.0363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1.335385406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extLst>
                  <a:ext uri="{0D108BD9-81ED-4DB2-BD59-A6C34878D82A}">
                    <a16:rowId xmlns:a16="http://schemas.microsoft.com/office/drawing/2014/main" val="1823882549"/>
                  </a:ext>
                </a:extLst>
              </a:tr>
              <a:tr h="2069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140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0.0262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0.0265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1.161891325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extLst>
                  <a:ext uri="{0D108BD9-81ED-4DB2-BD59-A6C34878D82A}">
                    <a16:rowId xmlns:a16="http://schemas.microsoft.com/office/drawing/2014/main" val="333925438"/>
                  </a:ext>
                </a:extLst>
              </a:tr>
              <a:tr h="2069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160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0.0200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0.0203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1.515482788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extLst>
                  <a:ext uri="{0D108BD9-81ED-4DB2-BD59-A6C34878D82A}">
                    <a16:rowId xmlns:a16="http://schemas.microsoft.com/office/drawing/2014/main" val="2150711360"/>
                  </a:ext>
                </a:extLst>
              </a:tr>
              <a:tr h="2069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180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0.0158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0.016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1.480382517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extLst>
                  <a:ext uri="{0D108BD9-81ED-4DB2-BD59-A6C34878D82A}">
                    <a16:rowId xmlns:a16="http://schemas.microsoft.com/office/drawing/2014/main" val="682567639"/>
                  </a:ext>
                </a:extLst>
              </a:tr>
              <a:tr h="2069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0.0127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0.0129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1.172480896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extLst>
                  <a:ext uri="{0D108BD9-81ED-4DB2-BD59-A6C34878D82A}">
                    <a16:rowId xmlns:a16="http://schemas.microsoft.com/office/drawing/2014/main" val="125571314"/>
                  </a:ext>
                </a:extLst>
              </a:tr>
              <a:tr h="2069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220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0.0105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0.0107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1.642487359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extLst>
                  <a:ext uri="{0D108BD9-81ED-4DB2-BD59-A6C34878D82A}">
                    <a16:rowId xmlns:a16="http://schemas.microsoft.com/office/drawing/2014/main" val="2281858829"/>
                  </a:ext>
                </a:extLst>
              </a:tr>
              <a:tr h="2069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240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0.0088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0.009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1.825910102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extLst>
                  <a:ext uri="{0D108BD9-81ED-4DB2-BD59-A6C34878D82A}">
                    <a16:rowId xmlns:a16="http://schemas.microsoft.com/office/drawing/2014/main" val="2878409041"/>
                  </a:ext>
                </a:extLst>
              </a:tr>
              <a:tr h="2069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260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0.0075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0.0076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1.005956291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extLst>
                  <a:ext uri="{0D108BD9-81ED-4DB2-BD59-A6C34878D82A}">
                    <a16:rowId xmlns:a16="http://schemas.microsoft.com/office/drawing/2014/main" val="1685644751"/>
                  </a:ext>
                </a:extLst>
              </a:tr>
              <a:tr h="2069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280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0.0065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0.0066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1.762630597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extLst>
                  <a:ext uri="{0D108BD9-81ED-4DB2-BD59-A6C34878D82A}">
                    <a16:rowId xmlns:a16="http://schemas.microsoft.com/office/drawing/2014/main" val="604061672"/>
                  </a:ext>
                </a:extLst>
              </a:tr>
              <a:tr h="2069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300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0.0056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0.0057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0.955275492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57" marR="4757" marT="4757" marB="0" anchor="ctr"/>
                </a:tc>
                <a:extLst>
                  <a:ext uri="{0D108BD9-81ED-4DB2-BD59-A6C34878D82A}">
                    <a16:rowId xmlns:a16="http://schemas.microsoft.com/office/drawing/2014/main" val="4121433737"/>
                  </a:ext>
                </a:extLst>
              </a:tr>
            </a:tbl>
          </a:graphicData>
        </a:graphic>
      </p:graphicFrame>
      <p:grpSp>
        <p:nvGrpSpPr>
          <p:cNvPr id="3" name="Group 2">
            <a:extLst>
              <a:ext uri="{FF2B5EF4-FFF2-40B4-BE49-F238E27FC236}">
                <a16:creationId xmlns:a16="http://schemas.microsoft.com/office/drawing/2014/main" id="{2F8AA8C7-BFA4-C238-B82F-2777C925FD27}"/>
              </a:ext>
            </a:extLst>
          </p:cNvPr>
          <p:cNvGrpSpPr/>
          <p:nvPr/>
        </p:nvGrpSpPr>
        <p:grpSpPr>
          <a:xfrm>
            <a:off x="10843667" y="95403"/>
            <a:ext cx="1184532" cy="629200"/>
            <a:chOff x="8132750" y="71552"/>
            <a:chExt cx="888399" cy="471900"/>
          </a:xfrm>
        </p:grpSpPr>
        <p:pic>
          <p:nvPicPr>
            <p:cNvPr id="4" name="Google Shape;68;p14">
              <a:extLst>
                <a:ext uri="{FF2B5EF4-FFF2-40B4-BE49-F238E27FC236}">
                  <a16:creationId xmlns:a16="http://schemas.microsoft.com/office/drawing/2014/main" id="{715A5DB3-317F-F203-FA4E-207B2135013D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661200" y="110872"/>
              <a:ext cx="359949" cy="3509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" name="Google Shape;70;p14">
              <a:extLst>
                <a:ext uri="{FF2B5EF4-FFF2-40B4-BE49-F238E27FC236}">
                  <a16:creationId xmlns:a16="http://schemas.microsoft.com/office/drawing/2014/main" id="{CDF4C45E-FD7A-EB74-E637-BAA9CE5C216D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132750" y="71552"/>
              <a:ext cx="471900" cy="47190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864935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AAC27-D4EC-0AA3-474D-755BA5A18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4C7F4-1C03-400E-8014-890FA3F42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039" y="0"/>
            <a:ext cx="8082027" cy="763600"/>
          </a:xfrm>
        </p:spPr>
        <p:txBody>
          <a:bodyPr>
            <a:normAutofit/>
          </a:bodyPr>
          <a:lstStyle/>
          <a:p>
            <a:r>
              <a:rPr lang="en-IN" dirty="0"/>
              <a:t>Key Observations and Inferences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49EAC1-1140-0266-B421-2C3848691F07}"/>
              </a:ext>
            </a:extLst>
          </p:cNvPr>
          <p:cNvSpPr txBox="1"/>
          <p:nvPr/>
        </p:nvSpPr>
        <p:spPr>
          <a:xfrm>
            <a:off x="5541011" y="1307898"/>
            <a:ext cx="6121400" cy="3662541"/>
          </a:xfrm>
          <a:prstGeom prst="rect">
            <a:avLst/>
          </a:prstGeom>
          <a:noFill/>
          <a:ln w="12700">
            <a:solidFill>
              <a:srgbClr val="1F9180"/>
            </a:solidFill>
          </a:ln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rgbClr val="1F9180"/>
                </a:solidFill>
                <a:latin typeface="Nunito" pitchFamily="2" charset="0"/>
              </a:rPr>
              <a:t>For R = 0.2 </a:t>
            </a:r>
            <a:r>
              <a:rPr lang="el-GR" b="1" dirty="0">
                <a:solidFill>
                  <a:srgbClr val="1F9180"/>
                </a:solidFill>
                <a:latin typeface="Nunito" pitchFamily="2" charset="0"/>
              </a:rPr>
              <a:t>Ω</a:t>
            </a:r>
            <a:r>
              <a:rPr lang="en-IN" b="1" dirty="0">
                <a:solidFill>
                  <a:srgbClr val="1F9180"/>
                </a:solidFill>
                <a:latin typeface="Nunito" pitchFamily="2" charset="0"/>
              </a:rPr>
              <a:t>, Q = 0.0187</a:t>
            </a:r>
          </a:p>
          <a:p>
            <a:endParaRPr lang="en-IN" b="1" dirty="0">
              <a:solidFill>
                <a:srgbClr val="1F9180"/>
              </a:solidFill>
              <a:latin typeface="Nunito" pitchFamily="2" charset="0"/>
            </a:endParaRPr>
          </a:p>
          <a:p>
            <a:r>
              <a:rPr lang="en-IN" b="1" dirty="0">
                <a:solidFill>
                  <a:srgbClr val="1F9180"/>
                </a:solidFill>
                <a:latin typeface="Nunito" pitchFamily="2" charset="0"/>
              </a:rPr>
              <a:t>	</a:t>
            </a:r>
            <a:r>
              <a:rPr lang="en-IN" dirty="0">
                <a:latin typeface="Nunito" pitchFamily="2" charset="0"/>
              </a:rPr>
              <a:t>For f</a:t>
            </a:r>
            <a:r>
              <a:rPr lang="en-IN" sz="1100" dirty="0">
                <a:latin typeface="Nunito" pitchFamily="2" charset="0"/>
              </a:rPr>
              <a:t>s</a:t>
            </a:r>
            <a:r>
              <a:rPr lang="en-IN" dirty="0">
                <a:latin typeface="Nunito" pitchFamily="2" charset="0"/>
              </a:rPr>
              <a:t> &lt;&lt; </a:t>
            </a:r>
            <a:r>
              <a:rPr lang="en-IN" dirty="0" err="1">
                <a:latin typeface="Nunito" pitchFamily="2" charset="0"/>
              </a:rPr>
              <a:t>f</a:t>
            </a:r>
            <a:r>
              <a:rPr lang="en-IN" sz="1100" dirty="0" err="1">
                <a:latin typeface="Nunito" pitchFamily="2" charset="0"/>
              </a:rPr>
              <a:t>r</a:t>
            </a:r>
            <a:r>
              <a:rPr lang="en-IN" dirty="0">
                <a:latin typeface="Nunito" pitchFamily="2" charset="0"/>
              </a:rPr>
              <a:t> :  Simulated gain </a:t>
            </a:r>
            <a:r>
              <a:rPr lang="en-IN" b="1" dirty="0">
                <a:solidFill>
                  <a:srgbClr val="1F9180"/>
                </a:solidFill>
                <a:latin typeface="Nunito" pitchFamily="2" charset="0"/>
              </a:rPr>
              <a:t>&gt;</a:t>
            </a:r>
            <a:r>
              <a:rPr lang="en-IN" dirty="0">
                <a:latin typeface="Nunito" pitchFamily="2" charset="0"/>
              </a:rPr>
              <a:t> Analytical gain</a:t>
            </a:r>
            <a:br>
              <a:rPr lang="en-IN" dirty="0">
                <a:latin typeface="Nunito" pitchFamily="2" charset="0"/>
              </a:rPr>
            </a:br>
            <a:r>
              <a:rPr lang="en-IN" dirty="0">
                <a:latin typeface="Nunito" pitchFamily="2" charset="0"/>
              </a:rPr>
              <a:t>	For f</a:t>
            </a:r>
            <a:r>
              <a:rPr lang="en-IN" sz="1100" dirty="0">
                <a:latin typeface="Nunito" pitchFamily="2" charset="0"/>
              </a:rPr>
              <a:t>s</a:t>
            </a:r>
            <a:r>
              <a:rPr lang="en-IN" dirty="0">
                <a:latin typeface="Nunito" pitchFamily="2" charset="0"/>
              </a:rPr>
              <a:t> = </a:t>
            </a:r>
            <a:r>
              <a:rPr lang="en-IN" dirty="0" err="1">
                <a:latin typeface="Nunito" pitchFamily="2" charset="0"/>
              </a:rPr>
              <a:t>f</a:t>
            </a:r>
            <a:r>
              <a:rPr lang="en-IN" sz="1100" dirty="0" err="1">
                <a:latin typeface="Nunito" pitchFamily="2" charset="0"/>
              </a:rPr>
              <a:t>r</a:t>
            </a:r>
            <a:r>
              <a:rPr lang="en-IN" dirty="0">
                <a:latin typeface="Nunito" pitchFamily="2" charset="0"/>
              </a:rPr>
              <a:t>   :  Simulated gain </a:t>
            </a:r>
            <a:r>
              <a:rPr lang="en-IN" b="1" dirty="0">
                <a:solidFill>
                  <a:srgbClr val="1F9180"/>
                </a:solidFill>
                <a:latin typeface="Nunito" pitchFamily="2" charset="0"/>
              </a:rPr>
              <a:t>=</a:t>
            </a:r>
            <a:r>
              <a:rPr lang="en-IN" dirty="0">
                <a:latin typeface="Nunito" pitchFamily="2" charset="0"/>
              </a:rPr>
              <a:t> Analytical gain</a:t>
            </a:r>
          </a:p>
          <a:p>
            <a:r>
              <a:rPr lang="en-IN" dirty="0">
                <a:latin typeface="Nunito" pitchFamily="2" charset="0"/>
              </a:rPr>
              <a:t>	For f</a:t>
            </a:r>
            <a:r>
              <a:rPr lang="en-IN" sz="1100" dirty="0">
                <a:latin typeface="Nunito" pitchFamily="2" charset="0"/>
              </a:rPr>
              <a:t>s</a:t>
            </a:r>
            <a:r>
              <a:rPr lang="en-IN" dirty="0">
                <a:latin typeface="Nunito" pitchFamily="2" charset="0"/>
              </a:rPr>
              <a:t> &gt; </a:t>
            </a:r>
            <a:r>
              <a:rPr lang="en-IN" dirty="0" err="1">
                <a:latin typeface="Nunito" pitchFamily="2" charset="0"/>
              </a:rPr>
              <a:t>f</a:t>
            </a:r>
            <a:r>
              <a:rPr lang="en-IN" sz="1100" dirty="0" err="1">
                <a:latin typeface="Nunito" pitchFamily="2" charset="0"/>
              </a:rPr>
              <a:t>r</a:t>
            </a:r>
            <a:r>
              <a:rPr lang="en-IN" dirty="0">
                <a:latin typeface="Nunito" pitchFamily="2" charset="0"/>
              </a:rPr>
              <a:t>   :  Simulated gain </a:t>
            </a:r>
            <a:r>
              <a:rPr lang="en-IN" b="1" dirty="0">
                <a:solidFill>
                  <a:srgbClr val="1F9180"/>
                </a:solidFill>
                <a:latin typeface="Nunito" pitchFamily="2" charset="0"/>
              </a:rPr>
              <a:t>=</a:t>
            </a:r>
            <a:r>
              <a:rPr lang="en-IN" dirty="0">
                <a:latin typeface="Nunito" pitchFamily="2" charset="0"/>
              </a:rPr>
              <a:t> Analytical gain</a:t>
            </a:r>
          </a:p>
          <a:p>
            <a:pPr lvl="6"/>
            <a:endParaRPr lang="en-IN" dirty="0">
              <a:latin typeface="Nunito" pitchFamily="2" charset="0"/>
            </a:endParaRPr>
          </a:p>
          <a:p>
            <a:pPr lvl="6"/>
            <a:endParaRPr lang="en-IN" b="1" dirty="0">
              <a:solidFill>
                <a:srgbClr val="1F9180"/>
              </a:solidFill>
              <a:latin typeface="Nunito" pitchFamily="2" charset="0"/>
            </a:endParaRP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rgbClr val="1F9180"/>
                </a:solidFill>
                <a:latin typeface="Nunito" pitchFamily="2" charset="0"/>
              </a:rPr>
              <a:t>For R = 10 </a:t>
            </a:r>
            <a:r>
              <a:rPr lang="el-GR" b="1" dirty="0">
                <a:solidFill>
                  <a:srgbClr val="1F9180"/>
                </a:solidFill>
                <a:latin typeface="Nunito" pitchFamily="2" charset="0"/>
              </a:rPr>
              <a:t>Ω</a:t>
            </a:r>
            <a:r>
              <a:rPr lang="en-IN" b="1" dirty="0">
                <a:solidFill>
                  <a:srgbClr val="1F9180"/>
                </a:solidFill>
                <a:latin typeface="Nunito" pitchFamily="2" charset="0"/>
              </a:rPr>
              <a:t>, Q = 0.93 </a:t>
            </a:r>
          </a:p>
          <a:p>
            <a:endParaRPr lang="en-IN" b="1" dirty="0">
              <a:solidFill>
                <a:srgbClr val="1F9180"/>
              </a:solidFill>
              <a:latin typeface="Nunito" pitchFamily="2" charset="0"/>
            </a:endParaRPr>
          </a:p>
          <a:p>
            <a:r>
              <a:rPr lang="en-IN" b="1" dirty="0">
                <a:solidFill>
                  <a:srgbClr val="1F9180"/>
                </a:solidFill>
                <a:latin typeface="Nunito" pitchFamily="2" charset="0"/>
              </a:rPr>
              <a:t>	</a:t>
            </a:r>
            <a:r>
              <a:rPr lang="en-IN" dirty="0">
                <a:latin typeface="Nunito" pitchFamily="2" charset="0"/>
              </a:rPr>
              <a:t>For f</a:t>
            </a:r>
            <a:r>
              <a:rPr lang="en-IN" sz="1100" dirty="0">
                <a:latin typeface="Nunito" pitchFamily="2" charset="0"/>
              </a:rPr>
              <a:t>s</a:t>
            </a:r>
            <a:r>
              <a:rPr lang="en-IN" dirty="0">
                <a:latin typeface="Nunito" pitchFamily="2" charset="0"/>
              </a:rPr>
              <a:t> &lt; </a:t>
            </a:r>
            <a:r>
              <a:rPr lang="en-IN" dirty="0" err="1">
                <a:latin typeface="Nunito" pitchFamily="2" charset="0"/>
              </a:rPr>
              <a:t>f</a:t>
            </a:r>
            <a:r>
              <a:rPr lang="en-IN" sz="1100" dirty="0" err="1">
                <a:latin typeface="Nunito" pitchFamily="2" charset="0"/>
              </a:rPr>
              <a:t>r</a:t>
            </a:r>
            <a:r>
              <a:rPr lang="en-IN" dirty="0">
                <a:latin typeface="Nunito" pitchFamily="2" charset="0"/>
              </a:rPr>
              <a:t>   :  Simulated gain </a:t>
            </a:r>
            <a:r>
              <a:rPr lang="en-IN" b="1" dirty="0">
                <a:solidFill>
                  <a:srgbClr val="1F9180"/>
                </a:solidFill>
                <a:latin typeface="Nunito" pitchFamily="2" charset="0"/>
              </a:rPr>
              <a:t>&gt;</a:t>
            </a:r>
            <a:r>
              <a:rPr lang="en-IN" dirty="0">
                <a:latin typeface="Nunito" pitchFamily="2" charset="0"/>
              </a:rPr>
              <a:t> Analytical gain</a:t>
            </a:r>
            <a:br>
              <a:rPr lang="en-IN" dirty="0">
                <a:latin typeface="Nunito" pitchFamily="2" charset="0"/>
              </a:rPr>
            </a:br>
            <a:r>
              <a:rPr lang="en-IN" dirty="0">
                <a:latin typeface="Nunito" pitchFamily="2" charset="0"/>
              </a:rPr>
              <a:t>	For f</a:t>
            </a:r>
            <a:r>
              <a:rPr lang="en-IN" sz="1100" dirty="0">
                <a:latin typeface="Nunito" pitchFamily="2" charset="0"/>
              </a:rPr>
              <a:t>s</a:t>
            </a:r>
            <a:r>
              <a:rPr lang="en-IN" dirty="0">
                <a:latin typeface="Nunito" pitchFamily="2" charset="0"/>
              </a:rPr>
              <a:t> = </a:t>
            </a:r>
            <a:r>
              <a:rPr lang="en-IN" dirty="0" err="1">
                <a:latin typeface="Nunito" pitchFamily="2" charset="0"/>
              </a:rPr>
              <a:t>f</a:t>
            </a:r>
            <a:r>
              <a:rPr lang="en-IN" sz="1100" dirty="0" err="1">
                <a:latin typeface="Nunito" pitchFamily="2" charset="0"/>
              </a:rPr>
              <a:t>r</a:t>
            </a:r>
            <a:r>
              <a:rPr lang="en-IN" dirty="0">
                <a:latin typeface="Nunito" pitchFamily="2" charset="0"/>
              </a:rPr>
              <a:t>   :  Simulated gain </a:t>
            </a:r>
            <a:r>
              <a:rPr lang="en-IN" b="1" dirty="0">
                <a:solidFill>
                  <a:srgbClr val="1F9180"/>
                </a:solidFill>
                <a:latin typeface="Nunito" pitchFamily="2" charset="0"/>
              </a:rPr>
              <a:t>&gt;</a:t>
            </a:r>
            <a:r>
              <a:rPr lang="en-IN" dirty="0">
                <a:latin typeface="Nunito" pitchFamily="2" charset="0"/>
              </a:rPr>
              <a:t> Analytical gain</a:t>
            </a:r>
          </a:p>
          <a:p>
            <a:r>
              <a:rPr lang="en-IN" dirty="0">
                <a:latin typeface="Nunito" pitchFamily="2" charset="0"/>
              </a:rPr>
              <a:t>	For f</a:t>
            </a:r>
            <a:r>
              <a:rPr lang="en-IN" sz="1100" dirty="0">
                <a:latin typeface="Nunito" pitchFamily="2" charset="0"/>
              </a:rPr>
              <a:t>s</a:t>
            </a:r>
            <a:r>
              <a:rPr lang="en-IN" dirty="0">
                <a:latin typeface="Nunito" pitchFamily="2" charset="0"/>
              </a:rPr>
              <a:t> &gt; </a:t>
            </a:r>
            <a:r>
              <a:rPr lang="en-IN" dirty="0" err="1">
                <a:latin typeface="Nunito" pitchFamily="2" charset="0"/>
              </a:rPr>
              <a:t>f</a:t>
            </a:r>
            <a:r>
              <a:rPr lang="en-IN" sz="1100" dirty="0" err="1">
                <a:latin typeface="Nunito" pitchFamily="2" charset="0"/>
              </a:rPr>
              <a:t>r</a:t>
            </a:r>
            <a:r>
              <a:rPr lang="en-IN" sz="1100" dirty="0">
                <a:latin typeface="Nunito" pitchFamily="2" charset="0"/>
              </a:rPr>
              <a:t>    </a:t>
            </a:r>
            <a:r>
              <a:rPr lang="en-IN" dirty="0">
                <a:latin typeface="Nunito" pitchFamily="2" charset="0"/>
              </a:rPr>
              <a:t>:  Simulated gain </a:t>
            </a:r>
            <a:r>
              <a:rPr lang="en-IN" b="1" dirty="0">
                <a:solidFill>
                  <a:srgbClr val="1F9180"/>
                </a:solidFill>
                <a:latin typeface="Nunito" pitchFamily="2" charset="0"/>
              </a:rPr>
              <a:t>=</a:t>
            </a:r>
            <a:r>
              <a:rPr lang="en-IN" dirty="0">
                <a:latin typeface="Nunito" pitchFamily="2" charset="0"/>
              </a:rPr>
              <a:t> Analytical gain</a:t>
            </a:r>
          </a:p>
          <a:p>
            <a:pPr lvl="6"/>
            <a:endParaRPr lang="en-IN" dirty="0">
              <a:latin typeface="Nunito" pitchFamily="2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795AB4C-D24B-544A-5DD8-DFBF1101465A}"/>
              </a:ext>
            </a:extLst>
          </p:cNvPr>
          <p:cNvGrpSpPr/>
          <p:nvPr/>
        </p:nvGrpSpPr>
        <p:grpSpPr>
          <a:xfrm>
            <a:off x="10843667" y="95403"/>
            <a:ext cx="1184532" cy="629200"/>
            <a:chOff x="8132750" y="71552"/>
            <a:chExt cx="888399" cy="471900"/>
          </a:xfrm>
        </p:grpSpPr>
        <p:pic>
          <p:nvPicPr>
            <p:cNvPr id="5" name="Google Shape;68;p14">
              <a:extLst>
                <a:ext uri="{FF2B5EF4-FFF2-40B4-BE49-F238E27FC236}">
                  <a16:creationId xmlns:a16="http://schemas.microsoft.com/office/drawing/2014/main" id="{CA2E9263-24B4-ED9F-7859-0EAC72715577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8661200" y="110872"/>
              <a:ext cx="359949" cy="3509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" name="Google Shape;70;p14">
              <a:extLst>
                <a:ext uri="{FF2B5EF4-FFF2-40B4-BE49-F238E27FC236}">
                  <a16:creationId xmlns:a16="http://schemas.microsoft.com/office/drawing/2014/main" id="{A316CC05-1323-2742-F2D4-E6ABCE7B5F7B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132750" y="71552"/>
              <a:ext cx="471900" cy="4719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DAA8CF7A-81B7-DC59-630E-CD5E13E4AC0C}"/>
              </a:ext>
            </a:extLst>
          </p:cNvPr>
          <p:cNvSpPr txBox="1"/>
          <p:nvPr/>
        </p:nvSpPr>
        <p:spPr>
          <a:xfrm>
            <a:off x="22452" y="909965"/>
            <a:ext cx="5125053" cy="2369880"/>
          </a:xfrm>
          <a:prstGeom prst="rect">
            <a:avLst/>
          </a:prstGeom>
          <a:noFill/>
          <a:ln w="12700">
            <a:solidFill>
              <a:srgbClr val="1F9180"/>
            </a:solidFill>
          </a:ln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rgbClr val="1F9180"/>
                </a:solidFill>
                <a:latin typeface="Nunito" pitchFamily="2" charset="0"/>
              </a:rPr>
              <a:t>For f</a:t>
            </a:r>
            <a:r>
              <a:rPr lang="en-IN" sz="1100" b="1" dirty="0">
                <a:solidFill>
                  <a:srgbClr val="1F9180"/>
                </a:solidFill>
                <a:latin typeface="Nunito" pitchFamily="2" charset="0"/>
              </a:rPr>
              <a:t>s</a:t>
            </a:r>
            <a:r>
              <a:rPr lang="en-IN" b="1" dirty="0">
                <a:solidFill>
                  <a:srgbClr val="1F9180"/>
                </a:solidFill>
                <a:latin typeface="Nunito" pitchFamily="2" charset="0"/>
              </a:rPr>
              <a:t> = </a:t>
            </a:r>
            <a:r>
              <a:rPr lang="en-IN" b="1" dirty="0" err="1">
                <a:solidFill>
                  <a:srgbClr val="1F9180"/>
                </a:solidFill>
                <a:latin typeface="Nunito" pitchFamily="2" charset="0"/>
              </a:rPr>
              <a:t>f</a:t>
            </a:r>
            <a:r>
              <a:rPr lang="en-IN" sz="1100" b="1" dirty="0" err="1">
                <a:solidFill>
                  <a:srgbClr val="1F9180"/>
                </a:solidFill>
                <a:latin typeface="Nunito" pitchFamily="2" charset="0"/>
              </a:rPr>
              <a:t>r</a:t>
            </a:r>
            <a:endParaRPr lang="en-IN" sz="1100" b="1" dirty="0">
              <a:solidFill>
                <a:srgbClr val="1F9180"/>
              </a:solidFill>
              <a:latin typeface="Nunito" pitchFamily="2" charset="0"/>
            </a:endParaRPr>
          </a:p>
          <a:p>
            <a:endParaRPr lang="en-IN" sz="1100" b="1" dirty="0">
              <a:solidFill>
                <a:srgbClr val="1F9180"/>
              </a:solidFill>
              <a:latin typeface="Nunito" pitchFamily="2" charset="0"/>
            </a:endParaRPr>
          </a:p>
          <a:p>
            <a:r>
              <a:rPr lang="en-IN" sz="1100" b="1" dirty="0">
                <a:solidFill>
                  <a:srgbClr val="1F9180"/>
                </a:solidFill>
                <a:latin typeface="Nunito" pitchFamily="2" charset="0"/>
              </a:rPr>
              <a:t>	</a:t>
            </a:r>
            <a:r>
              <a:rPr lang="en-IN" dirty="0">
                <a:latin typeface="Nunito" pitchFamily="2" charset="0"/>
              </a:rPr>
              <a:t>Gain &gt; 1 (not maximum) </a:t>
            </a:r>
          </a:p>
          <a:p>
            <a:r>
              <a:rPr lang="en-IN" dirty="0">
                <a:latin typeface="Nunito" pitchFamily="2" charset="0"/>
              </a:rPr>
              <a:t>		Depends on Q</a:t>
            </a:r>
          </a:p>
          <a:p>
            <a:pPr lvl="6"/>
            <a:endParaRPr lang="en-IN" dirty="0">
              <a:latin typeface="Nunito" pitchFamily="2" charset="0"/>
            </a:endParaRPr>
          </a:p>
          <a:p>
            <a:pPr marL="380990" lvl="6" indent="-38099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rgbClr val="1F9180"/>
                </a:solidFill>
                <a:latin typeface="Nunito" pitchFamily="2" charset="0"/>
              </a:rPr>
              <a:t>For f</a:t>
            </a:r>
            <a:r>
              <a:rPr lang="en-IN" sz="1100" b="1" dirty="0">
                <a:solidFill>
                  <a:srgbClr val="1F9180"/>
                </a:solidFill>
                <a:latin typeface="Nunito" pitchFamily="2" charset="0"/>
              </a:rPr>
              <a:t>s</a:t>
            </a:r>
            <a:r>
              <a:rPr lang="en-IN" b="1" dirty="0">
                <a:solidFill>
                  <a:srgbClr val="1F9180"/>
                </a:solidFill>
                <a:latin typeface="Nunito" pitchFamily="2" charset="0"/>
              </a:rPr>
              <a:t> ≠ </a:t>
            </a:r>
            <a:r>
              <a:rPr lang="en-IN" b="1" dirty="0" err="1">
                <a:solidFill>
                  <a:srgbClr val="1F9180"/>
                </a:solidFill>
                <a:latin typeface="Nunito" pitchFamily="2" charset="0"/>
              </a:rPr>
              <a:t>f</a:t>
            </a:r>
            <a:r>
              <a:rPr lang="en-IN" sz="1100" b="1" dirty="0" err="1">
                <a:solidFill>
                  <a:srgbClr val="1F9180"/>
                </a:solidFill>
                <a:latin typeface="Nunito" pitchFamily="2" charset="0"/>
              </a:rPr>
              <a:t>r</a:t>
            </a:r>
            <a:endParaRPr lang="en-IN" sz="1100" b="1" dirty="0">
              <a:solidFill>
                <a:srgbClr val="1F9180"/>
              </a:solidFill>
              <a:latin typeface="Nunito" pitchFamily="2" charset="0"/>
            </a:endParaRPr>
          </a:p>
          <a:p>
            <a:pPr marL="0" lvl="6"/>
            <a:endParaRPr lang="en-IN" sz="1100" b="1" dirty="0">
              <a:solidFill>
                <a:srgbClr val="1F9180"/>
              </a:solidFill>
              <a:latin typeface="Nunito" pitchFamily="2" charset="0"/>
            </a:endParaRPr>
          </a:p>
          <a:p>
            <a:pPr marL="0" lvl="6"/>
            <a:r>
              <a:rPr lang="en-IN" sz="1100" b="1" dirty="0">
                <a:solidFill>
                  <a:srgbClr val="1F9180"/>
                </a:solidFill>
                <a:latin typeface="Nunito" pitchFamily="2" charset="0"/>
              </a:rPr>
              <a:t>	</a:t>
            </a:r>
            <a:r>
              <a:rPr lang="en-IN" dirty="0">
                <a:latin typeface="Nunito" pitchFamily="2" charset="0"/>
              </a:rPr>
              <a:t>No direct comments on gain </a:t>
            </a:r>
            <a:r>
              <a:rPr lang="en-IN" dirty="0" err="1">
                <a:latin typeface="Nunito" pitchFamily="2" charset="0"/>
              </a:rPr>
              <a:t>w.r.t.</a:t>
            </a:r>
            <a:r>
              <a:rPr lang="en-IN" dirty="0">
                <a:latin typeface="Nunito" pitchFamily="2" charset="0"/>
              </a:rPr>
              <a:t> ‘1’ 	(depends on combination of </a:t>
            </a:r>
            <a:r>
              <a:rPr lang="en-IN" b="1" dirty="0">
                <a:solidFill>
                  <a:srgbClr val="1F9180"/>
                </a:solidFill>
                <a:latin typeface="Nunito" pitchFamily="2" charset="0"/>
              </a:rPr>
              <a:t>Q</a:t>
            </a:r>
            <a:r>
              <a:rPr lang="en-IN" dirty="0">
                <a:latin typeface="Nunito" pitchFamily="2" charset="0"/>
              </a:rPr>
              <a:t> and </a:t>
            </a:r>
            <a:r>
              <a:rPr lang="en-IN" b="1" dirty="0">
                <a:solidFill>
                  <a:srgbClr val="1F9180"/>
                </a:solidFill>
                <a:latin typeface="Nunito" pitchFamily="2" charset="0"/>
              </a:rPr>
              <a:t>f</a:t>
            </a:r>
            <a:r>
              <a:rPr lang="en-IN" sz="1100" b="1" dirty="0">
                <a:solidFill>
                  <a:srgbClr val="1F9180"/>
                </a:solidFill>
                <a:latin typeface="Nunito" pitchFamily="2" charset="0"/>
              </a:rPr>
              <a:t>s</a:t>
            </a:r>
            <a:r>
              <a:rPr lang="en-IN" dirty="0">
                <a:latin typeface="Nunito" pitchFamily="2" charset="0"/>
              </a:rPr>
              <a:t> 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A23CDC-AC92-400C-9A9A-59933DF97DFF}"/>
              </a:ext>
            </a:extLst>
          </p:cNvPr>
          <p:cNvSpPr txBox="1"/>
          <p:nvPr/>
        </p:nvSpPr>
        <p:spPr>
          <a:xfrm>
            <a:off x="16934" y="3706055"/>
            <a:ext cx="5125053" cy="2031325"/>
          </a:xfrm>
          <a:prstGeom prst="rect">
            <a:avLst/>
          </a:prstGeom>
          <a:noFill/>
          <a:ln w="12700">
            <a:solidFill>
              <a:srgbClr val="1F9180"/>
            </a:solidFill>
          </a:ln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IN" dirty="0">
                <a:latin typeface="Nunito" pitchFamily="2" charset="0"/>
              </a:rPr>
              <a:t>Can act as both Buck or Boost converter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IN" dirty="0">
                <a:latin typeface="Nunito" pitchFamily="2" charset="0"/>
              </a:rPr>
              <a:t>Peak does not occurs at </a:t>
            </a:r>
            <a:r>
              <a:rPr lang="en-IN" dirty="0" err="1">
                <a:latin typeface="Nunito" pitchFamily="2" charset="0"/>
              </a:rPr>
              <a:t>f</a:t>
            </a:r>
            <a:r>
              <a:rPr lang="en-IN" sz="1100" dirty="0" err="1">
                <a:latin typeface="Nunito" pitchFamily="2" charset="0"/>
              </a:rPr>
              <a:t>r</a:t>
            </a:r>
            <a:r>
              <a:rPr lang="en-IN" dirty="0">
                <a:latin typeface="Nunito" pitchFamily="2" charset="0"/>
              </a:rPr>
              <a:t> </a:t>
            </a:r>
          </a:p>
          <a:p>
            <a:r>
              <a:rPr lang="en-IN" dirty="0">
                <a:latin typeface="Nunito" pitchFamily="2" charset="0"/>
              </a:rPr>
              <a:t>      (depends on load)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IN" dirty="0">
                <a:latin typeface="Nunito" pitchFamily="2" charset="0"/>
              </a:rPr>
              <a:t>Peak shifts left for high loading conditions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IN" dirty="0">
                <a:latin typeface="Nunito" pitchFamily="2" charset="0"/>
              </a:rPr>
              <a:t>Voltage variation at light load is not an issue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rgbClr val="1F9180"/>
                </a:solidFill>
                <a:latin typeface="Nunito" pitchFamily="2" charset="0"/>
              </a:rPr>
              <a:t>Large circulating currents in resonant tank at light load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7E198C-1005-DDBE-C03D-7446CEF008A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415429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AB870-769C-2059-F411-3738ABCB8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Inductor Design (Ap method)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AFBB92-9B28-C45A-2BF3-A7AE9967DF2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" dirty="0"/>
              <a:t>12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4E6620-E09D-71CF-2E6D-9D8AE0B1A8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000" y="748972"/>
            <a:ext cx="9600000" cy="566913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D142EA6D-E7FF-470B-9C5C-42087DE2CF14}"/>
              </a:ext>
            </a:extLst>
          </p:cNvPr>
          <p:cNvGrpSpPr/>
          <p:nvPr/>
        </p:nvGrpSpPr>
        <p:grpSpPr>
          <a:xfrm>
            <a:off x="10843667" y="95403"/>
            <a:ext cx="1184532" cy="629200"/>
            <a:chOff x="8132750" y="71552"/>
            <a:chExt cx="888399" cy="471900"/>
          </a:xfrm>
        </p:grpSpPr>
        <p:pic>
          <p:nvPicPr>
            <p:cNvPr id="5" name="Google Shape;68;p14">
              <a:extLst>
                <a:ext uri="{FF2B5EF4-FFF2-40B4-BE49-F238E27FC236}">
                  <a16:creationId xmlns:a16="http://schemas.microsoft.com/office/drawing/2014/main" id="{A3A22B5C-842B-0A9A-F89E-3B216BCC8600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661200" y="110872"/>
              <a:ext cx="359949" cy="3509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" name="Google Shape;70;p14">
              <a:extLst>
                <a:ext uri="{FF2B5EF4-FFF2-40B4-BE49-F238E27FC236}">
                  <a16:creationId xmlns:a16="http://schemas.microsoft.com/office/drawing/2014/main" id="{EDC4C330-9995-C138-9880-92044CAC0A5B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132750" y="71552"/>
              <a:ext cx="471900" cy="47190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116393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3931E-37FA-4C92-510C-3BE79ED04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Inductor Design (cont.)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276079C-B98A-9512-CAF5-4F912435AE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" dirty="0"/>
              <a:t>13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392A55-B9DC-9FC1-1DE0-783F856E88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184" y="1833374"/>
            <a:ext cx="4320000" cy="23616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155BB0A-999D-87E9-002D-9C50DF4E47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3408" y="1862017"/>
            <a:ext cx="4320000" cy="23043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D63E6AE-31F1-D971-F180-93CA02AE762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951" b="22361"/>
          <a:stretch>
            <a:fillRect/>
          </a:stretch>
        </p:blipFill>
        <p:spPr>
          <a:xfrm>
            <a:off x="9815408" y="1722023"/>
            <a:ext cx="2056517" cy="258436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8812C332-EBA8-8339-1C00-0B06BEBEE26B}"/>
              </a:ext>
            </a:extLst>
          </p:cNvPr>
          <p:cNvGrpSpPr/>
          <p:nvPr/>
        </p:nvGrpSpPr>
        <p:grpSpPr>
          <a:xfrm>
            <a:off x="10843667" y="95403"/>
            <a:ext cx="1184532" cy="629200"/>
            <a:chOff x="8132750" y="71552"/>
            <a:chExt cx="888399" cy="471900"/>
          </a:xfrm>
        </p:grpSpPr>
        <p:pic>
          <p:nvPicPr>
            <p:cNvPr id="11" name="Google Shape;68;p14">
              <a:extLst>
                <a:ext uri="{FF2B5EF4-FFF2-40B4-BE49-F238E27FC236}">
                  <a16:creationId xmlns:a16="http://schemas.microsoft.com/office/drawing/2014/main" id="{E98686E0-F422-36D7-C34C-69387AE6B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8661200" y="110872"/>
              <a:ext cx="359949" cy="3509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70;p14">
              <a:extLst>
                <a:ext uri="{FF2B5EF4-FFF2-40B4-BE49-F238E27FC236}">
                  <a16:creationId xmlns:a16="http://schemas.microsoft.com/office/drawing/2014/main" id="{91824D78-DF5F-7C24-2DAE-3C7E7C533EE5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8132750" y="71552"/>
              <a:ext cx="471900" cy="4719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3BEBCA0B-315D-B72A-4761-D06430B19619}"/>
              </a:ext>
            </a:extLst>
          </p:cNvPr>
          <p:cNvSpPr txBox="1"/>
          <p:nvPr/>
        </p:nvSpPr>
        <p:spPr>
          <a:xfrm>
            <a:off x="558184" y="4535285"/>
            <a:ext cx="33345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latin typeface="Nunito" pitchFamily="2" charset="0"/>
              </a:rPr>
              <a:t>Impedance analyser display in LCR mode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920D1E-02E5-24FC-F2C7-7F6FA95FD676}"/>
              </a:ext>
            </a:extLst>
          </p:cNvPr>
          <p:cNvSpPr txBox="1"/>
          <p:nvPr/>
        </p:nvSpPr>
        <p:spPr>
          <a:xfrm>
            <a:off x="5354832" y="4535284"/>
            <a:ext cx="38235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Nunito" pitchFamily="2" charset="0"/>
              </a:rPr>
              <a:t>Bode Plot of Inductor Impedance from Analyzer Mode </a:t>
            </a:r>
            <a:endParaRPr lang="en-IN" sz="2400" dirty="0">
              <a:latin typeface="Nuni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4057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B5D5F-5F26-88B3-8B4B-17049E142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5AE0B-5DF0-ADEA-D86C-5244B2040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Experimental Setup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D1E1AA5-625C-11DB-90C9-D60BBDE7B304}"/>
              </a:ext>
            </a:extLst>
          </p:cNvPr>
          <p:cNvGrpSpPr/>
          <p:nvPr/>
        </p:nvGrpSpPr>
        <p:grpSpPr>
          <a:xfrm>
            <a:off x="10843667" y="95403"/>
            <a:ext cx="1184532" cy="629200"/>
            <a:chOff x="8132750" y="71552"/>
            <a:chExt cx="888399" cy="471900"/>
          </a:xfrm>
        </p:grpSpPr>
        <p:pic>
          <p:nvPicPr>
            <p:cNvPr id="4" name="Google Shape;68;p14">
              <a:extLst>
                <a:ext uri="{FF2B5EF4-FFF2-40B4-BE49-F238E27FC236}">
                  <a16:creationId xmlns:a16="http://schemas.microsoft.com/office/drawing/2014/main" id="{F9ACE190-D3F2-48F5-D69B-44D87F08794E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8661200" y="110872"/>
              <a:ext cx="359949" cy="3509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" name="Google Shape;70;p14">
              <a:extLst>
                <a:ext uri="{FF2B5EF4-FFF2-40B4-BE49-F238E27FC236}">
                  <a16:creationId xmlns:a16="http://schemas.microsoft.com/office/drawing/2014/main" id="{914FE741-C6BB-123C-6A43-C1EE926AACAF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132750" y="71552"/>
              <a:ext cx="471900" cy="4719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696593EA-EA93-0A28-AFAA-28C9A4D03F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6000" y="795205"/>
            <a:ext cx="9600000" cy="5400000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C0C7932-175B-F53E-1EF0-76F27C6D483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" dirty="0"/>
              <a:t>14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D1D864-6A9E-19B0-37C0-E30178D10DE9}"/>
              </a:ext>
            </a:extLst>
          </p:cNvPr>
          <p:cNvSpPr txBox="1"/>
          <p:nvPr/>
        </p:nvSpPr>
        <p:spPr>
          <a:xfrm>
            <a:off x="-5196198" y="1356639"/>
            <a:ext cx="4164171" cy="6740307"/>
          </a:xfrm>
          <a:prstGeom prst="rect">
            <a:avLst/>
          </a:prstGeom>
          <a:noFill/>
          <a:ln w="12700">
            <a:solidFill>
              <a:srgbClr val="1F9180"/>
            </a:solidFill>
          </a:ln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1F9180"/>
                </a:solidFill>
                <a:latin typeface="Nunito" pitchFamily="2" charset="0"/>
              </a:rPr>
              <a:t>Specifications</a:t>
            </a:r>
          </a:p>
          <a:p>
            <a:endParaRPr lang="en-IN" sz="2400" dirty="0">
              <a:latin typeface="Nunito" pitchFamily="2" charset="0"/>
            </a:endParaRPr>
          </a:p>
          <a:p>
            <a:r>
              <a:rPr lang="en-IN" sz="2400" dirty="0">
                <a:latin typeface="Nunito" pitchFamily="2" charset="0"/>
              </a:rPr>
              <a:t>Nova board – used as inverter</a:t>
            </a:r>
          </a:p>
          <a:p>
            <a:endParaRPr lang="en-IN" sz="2400" dirty="0">
              <a:latin typeface="Nunito" pitchFamily="2" charset="0"/>
            </a:endParaRPr>
          </a:p>
          <a:p>
            <a:r>
              <a:rPr lang="en-IN" sz="2400" dirty="0">
                <a:latin typeface="Nunito" pitchFamily="2" charset="0"/>
              </a:rPr>
              <a:t>IGBTs - IKW25N120H3</a:t>
            </a:r>
          </a:p>
          <a:p>
            <a:endParaRPr lang="en-IN" sz="2400" dirty="0">
              <a:latin typeface="Nunito" pitchFamily="2" charset="0"/>
            </a:endParaRPr>
          </a:p>
          <a:p>
            <a:r>
              <a:rPr lang="en-IN" sz="2400" dirty="0">
                <a:latin typeface="Nunito" pitchFamily="2" charset="0"/>
              </a:rPr>
              <a:t>Inductor – 84.142 µH, 5A (designed)</a:t>
            </a:r>
          </a:p>
          <a:p>
            <a:endParaRPr lang="en-IN" sz="2400" dirty="0">
              <a:latin typeface="Nunito" pitchFamily="2" charset="0"/>
            </a:endParaRPr>
          </a:p>
          <a:p>
            <a:r>
              <a:rPr lang="en-IN" sz="2400" dirty="0">
                <a:latin typeface="Nunito" pitchFamily="2" charset="0"/>
              </a:rPr>
              <a:t>Capacitor – 481.67 </a:t>
            </a:r>
            <a:r>
              <a:rPr lang="en-IN" sz="2400" dirty="0" err="1">
                <a:latin typeface="Nunito" pitchFamily="2" charset="0"/>
              </a:rPr>
              <a:t>nF</a:t>
            </a:r>
            <a:r>
              <a:rPr lang="en-IN" sz="2400" dirty="0">
                <a:latin typeface="Nunito" pitchFamily="2" charset="0"/>
              </a:rPr>
              <a:t>, Bipolar</a:t>
            </a:r>
          </a:p>
          <a:p>
            <a:endParaRPr lang="en-IN" sz="2400" dirty="0">
              <a:latin typeface="Nunito" pitchFamily="2" charset="0"/>
            </a:endParaRPr>
          </a:p>
          <a:p>
            <a:r>
              <a:rPr lang="en-IN" sz="2400" dirty="0">
                <a:latin typeface="Nunito" pitchFamily="2" charset="0"/>
              </a:rPr>
              <a:t>Load - 10</a:t>
            </a:r>
            <a:r>
              <a:rPr lang="el-GR" sz="2400" dirty="0">
                <a:latin typeface="Nunito" pitchFamily="2" charset="0"/>
              </a:rPr>
              <a:t>Ω</a:t>
            </a:r>
            <a:endParaRPr lang="en-IN" sz="2400" dirty="0">
              <a:latin typeface="Nunito" pitchFamily="2" charset="0"/>
            </a:endParaRPr>
          </a:p>
          <a:p>
            <a:endParaRPr lang="en-IN" sz="2400" dirty="0">
              <a:latin typeface="Nunito" pitchFamily="2" charset="0"/>
            </a:endParaRPr>
          </a:p>
          <a:p>
            <a:r>
              <a:rPr lang="en-IN" sz="2400" dirty="0">
                <a:latin typeface="Nunito" pitchFamily="2" charset="0"/>
              </a:rPr>
              <a:t>Microcontroller – TMS320F28379D </a:t>
            </a:r>
          </a:p>
          <a:p>
            <a:endParaRPr lang="en-IN" sz="2400" dirty="0">
              <a:latin typeface="Nuni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4457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150FC-368E-7302-1904-E4C2F71BF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9F8B3-739D-E0AD-3EF4-9302C52C2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Experimental Setup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1A055A0-AE54-8E1D-5779-945DC0A46D89}"/>
              </a:ext>
            </a:extLst>
          </p:cNvPr>
          <p:cNvGrpSpPr/>
          <p:nvPr/>
        </p:nvGrpSpPr>
        <p:grpSpPr>
          <a:xfrm>
            <a:off x="10843667" y="95403"/>
            <a:ext cx="1184532" cy="629200"/>
            <a:chOff x="8132750" y="71552"/>
            <a:chExt cx="888399" cy="471900"/>
          </a:xfrm>
        </p:grpSpPr>
        <p:pic>
          <p:nvPicPr>
            <p:cNvPr id="4" name="Google Shape;68;p14">
              <a:extLst>
                <a:ext uri="{FF2B5EF4-FFF2-40B4-BE49-F238E27FC236}">
                  <a16:creationId xmlns:a16="http://schemas.microsoft.com/office/drawing/2014/main" id="{615929D3-AB2D-D45F-1A0D-755D301A8A00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8661200" y="110872"/>
              <a:ext cx="359949" cy="3509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" name="Google Shape;70;p14">
              <a:extLst>
                <a:ext uri="{FF2B5EF4-FFF2-40B4-BE49-F238E27FC236}">
                  <a16:creationId xmlns:a16="http://schemas.microsoft.com/office/drawing/2014/main" id="{BD8F9DF3-83CB-9773-F44C-341C0AADF153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132750" y="71552"/>
              <a:ext cx="471900" cy="4719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338EF46B-86FF-4197-F131-051FAD2720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3702" y="795205"/>
            <a:ext cx="7169713" cy="5400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D832959-3DCC-8ECF-18BF-FF6347934513}"/>
              </a:ext>
            </a:extLst>
          </p:cNvPr>
          <p:cNvSpPr txBox="1"/>
          <p:nvPr/>
        </p:nvSpPr>
        <p:spPr>
          <a:xfrm>
            <a:off x="412123" y="1356639"/>
            <a:ext cx="4164171" cy="5324535"/>
          </a:xfrm>
          <a:prstGeom prst="rect">
            <a:avLst/>
          </a:prstGeom>
          <a:noFill/>
          <a:ln w="12700">
            <a:solidFill>
              <a:srgbClr val="1F9180"/>
            </a:solidFill>
          </a:ln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1F9180"/>
                </a:solidFill>
                <a:latin typeface="Nunito" pitchFamily="2" charset="0"/>
              </a:rPr>
              <a:t>Specifications</a:t>
            </a:r>
          </a:p>
          <a:p>
            <a:endParaRPr lang="en-IN" sz="2000" dirty="0">
              <a:latin typeface="Nunito" pitchFamily="2" charset="0"/>
            </a:endParaRPr>
          </a:p>
          <a:p>
            <a:r>
              <a:rPr lang="en-IN" sz="2000" dirty="0">
                <a:latin typeface="Nunito" pitchFamily="2" charset="0"/>
              </a:rPr>
              <a:t>Nova board – used as inverter</a:t>
            </a:r>
          </a:p>
          <a:p>
            <a:endParaRPr lang="en-IN" sz="2000" dirty="0">
              <a:latin typeface="Nunito" pitchFamily="2" charset="0"/>
            </a:endParaRPr>
          </a:p>
          <a:p>
            <a:r>
              <a:rPr lang="en-IN" sz="2000" dirty="0">
                <a:latin typeface="Nunito" pitchFamily="2" charset="0"/>
              </a:rPr>
              <a:t>IGBTs - IKW25N120H3</a:t>
            </a:r>
          </a:p>
          <a:p>
            <a:endParaRPr lang="en-IN" sz="2000" dirty="0">
              <a:latin typeface="Nunito" pitchFamily="2" charset="0"/>
            </a:endParaRPr>
          </a:p>
          <a:p>
            <a:r>
              <a:rPr lang="en-IN" sz="2000" dirty="0">
                <a:latin typeface="Nunito" pitchFamily="2" charset="0"/>
              </a:rPr>
              <a:t>Inductor – 84.142 µH, 5A (designed)</a:t>
            </a:r>
          </a:p>
          <a:p>
            <a:endParaRPr lang="en-IN" sz="2000" dirty="0">
              <a:latin typeface="Nunito" pitchFamily="2" charset="0"/>
            </a:endParaRPr>
          </a:p>
          <a:p>
            <a:r>
              <a:rPr lang="en-IN" sz="2000" dirty="0">
                <a:latin typeface="Nunito" pitchFamily="2" charset="0"/>
              </a:rPr>
              <a:t>Capacitor – 481.67 </a:t>
            </a:r>
            <a:r>
              <a:rPr lang="en-IN" sz="2000" dirty="0" err="1">
                <a:latin typeface="Nunito" pitchFamily="2" charset="0"/>
              </a:rPr>
              <a:t>nF</a:t>
            </a:r>
            <a:r>
              <a:rPr lang="en-IN" sz="2000" dirty="0">
                <a:latin typeface="Nunito" pitchFamily="2" charset="0"/>
              </a:rPr>
              <a:t>, 1 kV, Bipolar</a:t>
            </a:r>
          </a:p>
          <a:p>
            <a:endParaRPr lang="en-IN" sz="2000" dirty="0">
              <a:latin typeface="Nunito" pitchFamily="2" charset="0"/>
            </a:endParaRPr>
          </a:p>
          <a:p>
            <a:r>
              <a:rPr lang="en-IN" sz="2000" dirty="0">
                <a:latin typeface="Nunito" pitchFamily="2" charset="0"/>
              </a:rPr>
              <a:t>Load - 10</a:t>
            </a:r>
            <a:r>
              <a:rPr lang="el-GR" sz="2000" dirty="0">
                <a:latin typeface="Nunito" pitchFamily="2" charset="0"/>
              </a:rPr>
              <a:t>Ω</a:t>
            </a:r>
            <a:endParaRPr lang="en-IN" sz="2000" dirty="0">
              <a:latin typeface="Nunito" pitchFamily="2" charset="0"/>
            </a:endParaRPr>
          </a:p>
          <a:p>
            <a:endParaRPr lang="en-IN" sz="2000" dirty="0">
              <a:latin typeface="Nunito" pitchFamily="2" charset="0"/>
            </a:endParaRPr>
          </a:p>
          <a:p>
            <a:r>
              <a:rPr lang="en-IN" sz="2000" dirty="0">
                <a:latin typeface="Nunito" pitchFamily="2" charset="0"/>
              </a:rPr>
              <a:t>Microcontroller – TMS320F28379D </a:t>
            </a:r>
          </a:p>
          <a:p>
            <a:endParaRPr lang="en-IN" sz="2000" dirty="0">
              <a:latin typeface="Nunito" pitchFamily="2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870BC5-6830-5E84-F87B-585148E4201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" dirty="0"/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7303431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6E7D1-D424-7927-87C3-F0E09AC08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792579" cy="763600"/>
          </a:xfrm>
        </p:spPr>
        <p:txBody>
          <a:bodyPr>
            <a:normAutofit fontScale="90000"/>
          </a:bodyPr>
          <a:lstStyle/>
          <a:p>
            <a:r>
              <a:rPr lang="en-IN" dirty="0"/>
              <a:t>Parallel Resonant Inverter (PRI)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823FC4-4967-D62E-CB48-1C04D0A2CC08}"/>
              </a:ext>
            </a:extLst>
          </p:cNvPr>
          <p:cNvSpPr txBox="1"/>
          <p:nvPr/>
        </p:nvSpPr>
        <p:spPr>
          <a:xfrm>
            <a:off x="8346483" y="381797"/>
            <a:ext cx="2256348" cy="461665"/>
          </a:xfrm>
          <a:prstGeom prst="rect">
            <a:avLst/>
          </a:prstGeom>
          <a:noFill/>
          <a:ln>
            <a:solidFill>
              <a:srgbClr val="1F9180"/>
            </a:solidFill>
          </a:ln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E2AC00"/>
                </a:solidFill>
              </a:rPr>
              <a:t>Gate, </a:t>
            </a:r>
            <a:r>
              <a:rPr lang="en-IN" sz="2400" dirty="0">
                <a:solidFill>
                  <a:srgbClr val="1F9180"/>
                </a:solidFill>
              </a:rPr>
              <a:t>V</a:t>
            </a:r>
            <a:r>
              <a:rPr lang="en-IN" sz="1400" dirty="0">
                <a:solidFill>
                  <a:srgbClr val="1F9180"/>
                </a:solidFill>
              </a:rPr>
              <a:t>AB</a:t>
            </a:r>
            <a:r>
              <a:rPr lang="en-IN" sz="2400" dirty="0">
                <a:solidFill>
                  <a:srgbClr val="1F9180"/>
                </a:solidFill>
              </a:rPr>
              <a:t>, 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V</a:t>
            </a:r>
            <a:r>
              <a:rPr lang="en-IN" sz="1400" dirty="0">
                <a:solidFill>
                  <a:schemeClr val="accent1">
                    <a:lumMod val="75000"/>
                  </a:schemeClr>
                </a:solidFill>
              </a:rPr>
              <a:t>o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en-IN" sz="2400" dirty="0" err="1">
                <a:solidFill>
                  <a:srgbClr val="C00000"/>
                </a:solidFill>
              </a:rPr>
              <a:t>I</a:t>
            </a:r>
            <a:r>
              <a:rPr lang="en-IN" sz="1400" dirty="0" err="1">
                <a:solidFill>
                  <a:srgbClr val="C00000"/>
                </a:solidFill>
              </a:rPr>
              <a:t>Lr</a:t>
            </a:r>
            <a:endParaRPr lang="en-IN" sz="2400" dirty="0">
              <a:solidFill>
                <a:srgbClr val="FFC000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6309F9B-6A6F-4CC5-A5E8-F2C487FC2567}"/>
              </a:ext>
            </a:extLst>
          </p:cNvPr>
          <p:cNvGrpSpPr/>
          <p:nvPr/>
        </p:nvGrpSpPr>
        <p:grpSpPr>
          <a:xfrm>
            <a:off x="10843667" y="95403"/>
            <a:ext cx="1184532" cy="629200"/>
            <a:chOff x="8132750" y="71552"/>
            <a:chExt cx="888399" cy="471900"/>
          </a:xfrm>
        </p:grpSpPr>
        <p:pic>
          <p:nvPicPr>
            <p:cNvPr id="21" name="Google Shape;68;p14">
              <a:extLst>
                <a:ext uri="{FF2B5EF4-FFF2-40B4-BE49-F238E27FC236}">
                  <a16:creationId xmlns:a16="http://schemas.microsoft.com/office/drawing/2014/main" id="{E56DA8DD-C7C3-1A3D-C665-5AFE8D7629AC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8661200" y="110872"/>
              <a:ext cx="359949" cy="3509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" name="Google Shape;70;p14">
              <a:extLst>
                <a:ext uri="{FF2B5EF4-FFF2-40B4-BE49-F238E27FC236}">
                  <a16:creationId xmlns:a16="http://schemas.microsoft.com/office/drawing/2014/main" id="{B2081C37-CB8C-6135-588B-D0B99E129BD1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132750" y="71552"/>
              <a:ext cx="471900" cy="4719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F7D680C-D8CB-B1B9-2FF3-AE3F3FEC8AA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" dirty="0"/>
              <a:t>16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FC6237-3D6D-FD3A-AAD5-684B473C9B7B}"/>
              </a:ext>
            </a:extLst>
          </p:cNvPr>
          <p:cNvSpPr txBox="1"/>
          <p:nvPr/>
        </p:nvSpPr>
        <p:spPr>
          <a:xfrm>
            <a:off x="13148780" y="1167685"/>
            <a:ext cx="4444616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rgbClr val="1F9180"/>
                </a:solidFill>
                <a:latin typeface="Nunito" pitchFamily="2" charset="0"/>
              </a:rPr>
              <a:t>Inferences</a:t>
            </a:r>
          </a:p>
          <a:p>
            <a:pPr algn="ctr"/>
            <a:endParaRPr lang="en-IN" sz="2000" b="1" dirty="0">
              <a:solidFill>
                <a:srgbClr val="1F9180"/>
              </a:solidFill>
              <a:latin typeface="Nunito" pitchFamily="2" charset="0"/>
            </a:endParaRP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IN" sz="2000" dirty="0">
                <a:latin typeface="Nunito" pitchFamily="2" charset="0"/>
              </a:rPr>
              <a:t>More ripples are found in V</a:t>
            </a:r>
            <a:r>
              <a:rPr lang="en-IN" sz="1200" dirty="0">
                <a:latin typeface="Nunito" pitchFamily="2" charset="0"/>
              </a:rPr>
              <a:t>o</a:t>
            </a:r>
            <a:r>
              <a:rPr lang="en-IN" sz="2000" dirty="0">
                <a:latin typeface="Nunito" pitchFamily="2" charset="0"/>
              </a:rPr>
              <a:t> at 10kHz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IN" sz="2000" dirty="0">
              <a:latin typeface="Nunito" pitchFamily="2" charset="0"/>
            </a:endParaRP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IN" sz="2000" dirty="0">
                <a:latin typeface="Nunito" pitchFamily="2" charset="0"/>
              </a:rPr>
              <a:t>10 kHz – No discontinuous conduction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IN" sz="2000" dirty="0">
              <a:latin typeface="Nunito" pitchFamily="2" charset="0"/>
            </a:endParaRP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IN" sz="2000" dirty="0">
                <a:latin typeface="Nunito" pitchFamily="2" charset="0"/>
              </a:rPr>
              <a:t>Highest output voltage occurs at </a:t>
            </a:r>
            <a:r>
              <a:rPr lang="en-IN" sz="2000" dirty="0" err="1">
                <a:latin typeface="Nunito" pitchFamily="2" charset="0"/>
              </a:rPr>
              <a:t>f</a:t>
            </a:r>
            <a:r>
              <a:rPr lang="en-IN" sz="1200" dirty="0" err="1">
                <a:latin typeface="Nunito" pitchFamily="2" charset="0"/>
              </a:rPr>
              <a:t>r</a:t>
            </a:r>
            <a:endParaRPr lang="en-IN" sz="2000" dirty="0">
              <a:latin typeface="Nunito" pitchFamily="2" charset="0"/>
            </a:endParaRPr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IN" sz="2000" dirty="0">
              <a:latin typeface="Nunito" pitchFamily="2" charset="0"/>
            </a:endParaRP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IN" sz="2000" dirty="0">
                <a:latin typeface="Nunito" pitchFamily="2" charset="0"/>
              </a:rPr>
              <a:t>At higher f</a:t>
            </a:r>
            <a:r>
              <a:rPr lang="en-IN" sz="1200" dirty="0">
                <a:latin typeface="Nunito" pitchFamily="2" charset="0"/>
              </a:rPr>
              <a:t>s</a:t>
            </a:r>
            <a:r>
              <a:rPr lang="en-IN" sz="2000" dirty="0">
                <a:latin typeface="Nunito" pitchFamily="2" charset="0"/>
              </a:rPr>
              <a:t>, V</a:t>
            </a:r>
            <a:r>
              <a:rPr lang="en-IN" sz="1200" dirty="0">
                <a:latin typeface="Nunito" pitchFamily="2" charset="0"/>
              </a:rPr>
              <a:t>o</a:t>
            </a:r>
            <a:r>
              <a:rPr lang="en-IN" sz="2000" dirty="0">
                <a:latin typeface="Nunito" pitchFamily="2" charset="0"/>
              </a:rPr>
              <a:t> continue to rise even after V</a:t>
            </a:r>
            <a:r>
              <a:rPr lang="en-IN" sz="1200" dirty="0">
                <a:latin typeface="Nunito" pitchFamily="2" charset="0"/>
              </a:rPr>
              <a:t>AB</a:t>
            </a:r>
            <a:r>
              <a:rPr lang="en-IN" sz="2000" dirty="0">
                <a:latin typeface="Nunito" pitchFamily="2" charset="0"/>
              </a:rPr>
              <a:t> become negative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IN" sz="2000" dirty="0">
              <a:latin typeface="Nunito" pitchFamily="2" charset="0"/>
            </a:endParaRP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1F9180"/>
                </a:solidFill>
                <a:latin typeface="Nunito" pitchFamily="2" charset="0"/>
              </a:rPr>
              <a:t>Irregularity – </a:t>
            </a:r>
            <a:r>
              <a:rPr lang="en-IN" sz="2000" dirty="0">
                <a:latin typeface="Nunito" pitchFamily="2" charset="0"/>
              </a:rPr>
              <a:t>Zero crossing of inductor voltage waveform at resonant frequency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IN" sz="2000" dirty="0">
              <a:latin typeface="Nunito" pitchFamily="2" charset="0"/>
            </a:endParaRPr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IN" sz="2000" dirty="0">
              <a:latin typeface="Nunito" pitchFamily="2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29DC58E-678F-6483-F450-56FE63C1F080}"/>
              </a:ext>
            </a:extLst>
          </p:cNvPr>
          <p:cNvGrpSpPr/>
          <p:nvPr/>
        </p:nvGrpSpPr>
        <p:grpSpPr>
          <a:xfrm>
            <a:off x="5518" y="894080"/>
            <a:ext cx="12180965" cy="5937110"/>
            <a:chOff x="4138" y="670560"/>
            <a:chExt cx="9135724" cy="4452832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1CE0F59-F623-000A-C61C-E1C34BCE1FE3}"/>
                </a:ext>
              </a:extLst>
            </p:cNvPr>
            <p:cNvGrpSpPr/>
            <p:nvPr/>
          </p:nvGrpSpPr>
          <p:grpSpPr>
            <a:xfrm>
              <a:off x="4138" y="760950"/>
              <a:ext cx="2880000" cy="3869937"/>
              <a:chOff x="4138" y="760950"/>
              <a:chExt cx="2880000" cy="3869937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7C14FD93-785C-46CA-4285-9FA981E6A7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38" y="760950"/>
                <a:ext cx="2880000" cy="1810800"/>
              </a:xfrm>
              <a:prstGeom prst="rect">
                <a:avLst/>
              </a:prstGeom>
              <a:ln>
                <a:solidFill>
                  <a:srgbClr val="1F9180"/>
                </a:solidFill>
              </a:ln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275C0921-AD80-E1A6-5336-B8A7462E788C}"/>
                  </a:ext>
                </a:extLst>
              </p:cNvPr>
              <p:cNvPicPr>
                <a:picLocks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138" y="2830887"/>
                <a:ext cx="2880000" cy="1800000"/>
              </a:xfrm>
              <a:prstGeom prst="rect">
                <a:avLst/>
              </a:prstGeom>
              <a:ln>
                <a:solidFill>
                  <a:srgbClr val="1F9180"/>
                </a:solidFill>
              </a:ln>
            </p:spPr>
          </p:pic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81955E9D-CEF0-7811-AECF-D7E00BFBC42C}"/>
                </a:ext>
              </a:extLst>
            </p:cNvPr>
            <p:cNvGrpSpPr/>
            <p:nvPr/>
          </p:nvGrpSpPr>
          <p:grpSpPr>
            <a:xfrm>
              <a:off x="3132000" y="760950"/>
              <a:ext cx="2880000" cy="3869937"/>
              <a:chOff x="3132000" y="760950"/>
              <a:chExt cx="2880000" cy="3869937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702636B9-AB29-5BA6-7F2C-A1AA488B0A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132000" y="760950"/>
                <a:ext cx="2880000" cy="1810800"/>
              </a:xfrm>
              <a:prstGeom prst="rect">
                <a:avLst/>
              </a:prstGeom>
              <a:ln>
                <a:solidFill>
                  <a:srgbClr val="1F9180"/>
                </a:solidFill>
              </a:ln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B60257B9-346E-D9C5-615F-3A23572D7101}"/>
                  </a:ext>
                </a:extLst>
              </p:cNvPr>
              <p:cNvPicPr>
                <a:picLocks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132000" y="2830887"/>
                <a:ext cx="2880000" cy="1800000"/>
              </a:xfrm>
              <a:prstGeom prst="rect">
                <a:avLst/>
              </a:prstGeom>
              <a:ln>
                <a:solidFill>
                  <a:srgbClr val="1F9180"/>
                </a:solidFill>
              </a:ln>
            </p:spPr>
          </p:pic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A4F54B00-65FA-0358-6D82-C7FD3DDC4E2D}"/>
                </a:ext>
              </a:extLst>
            </p:cNvPr>
            <p:cNvGrpSpPr/>
            <p:nvPr/>
          </p:nvGrpSpPr>
          <p:grpSpPr>
            <a:xfrm>
              <a:off x="6259862" y="760950"/>
              <a:ext cx="2880000" cy="3869937"/>
              <a:chOff x="6259862" y="760950"/>
              <a:chExt cx="2880000" cy="3869937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64C78DCE-05AE-3D13-43CD-9885AC9622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259862" y="760950"/>
                <a:ext cx="2880000" cy="1810800"/>
              </a:xfrm>
              <a:prstGeom prst="rect">
                <a:avLst/>
              </a:prstGeom>
              <a:ln>
                <a:solidFill>
                  <a:srgbClr val="1F9180"/>
                </a:solidFill>
              </a:ln>
            </p:spPr>
          </p:pic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F502338A-04E1-B6DD-2B5F-22063970F4EA}"/>
                  </a:ext>
                </a:extLst>
              </p:cNvPr>
              <p:cNvPicPr>
                <a:picLocks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259862" y="2830887"/>
                <a:ext cx="2880000" cy="1800000"/>
              </a:xfrm>
              <a:prstGeom prst="rect">
                <a:avLst/>
              </a:prstGeom>
              <a:ln>
                <a:solidFill>
                  <a:srgbClr val="1F9180"/>
                </a:solidFill>
              </a:ln>
            </p:spPr>
          </p:pic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AADEA46-11E9-F010-13E7-4435CA37D74A}"/>
                </a:ext>
              </a:extLst>
            </p:cNvPr>
            <p:cNvSpPr txBox="1"/>
            <p:nvPr/>
          </p:nvSpPr>
          <p:spPr>
            <a:xfrm>
              <a:off x="690972" y="4823309"/>
              <a:ext cx="2078354" cy="3000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000" dirty="0" err="1">
                  <a:solidFill>
                    <a:srgbClr val="1F9180"/>
                  </a:solidFill>
                  <a:latin typeface="Nunito" pitchFamily="2" charset="0"/>
                </a:rPr>
                <a:t>f</a:t>
              </a:r>
              <a:r>
                <a:rPr lang="en-IN" sz="1200" dirty="0" err="1">
                  <a:solidFill>
                    <a:srgbClr val="1F9180"/>
                  </a:solidFill>
                  <a:latin typeface="Nunito" pitchFamily="2" charset="0"/>
                </a:rPr>
                <a:t>sw</a:t>
              </a:r>
              <a:r>
                <a:rPr lang="en-IN" sz="2000" dirty="0">
                  <a:solidFill>
                    <a:srgbClr val="1F9180"/>
                  </a:solidFill>
                  <a:latin typeface="Nunito" pitchFamily="2" charset="0"/>
                </a:rPr>
                <a:t> = 10 kHz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E5756D9-584C-6906-FED4-F1363BFCFE64}"/>
                </a:ext>
              </a:extLst>
            </p:cNvPr>
            <p:cNvSpPr txBox="1"/>
            <p:nvPr/>
          </p:nvSpPr>
          <p:spPr>
            <a:xfrm>
              <a:off x="3918266" y="4823309"/>
              <a:ext cx="2078354" cy="3000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000" dirty="0" err="1">
                  <a:solidFill>
                    <a:srgbClr val="1F9180"/>
                  </a:solidFill>
                  <a:latin typeface="Nunito" pitchFamily="2" charset="0"/>
                </a:rPr>
                <a:t>f</a:t>
              </a:r>
              <a:r>
                <a:rPr lang="en-IN" sz="1200" dirty="0" err="1">
                  <a:solidFill>
                    <a:srgbClr val="1F9180"/>
                  </a:solidFill>
                  <a:latin typeface="Nunito" pitchFamily="2" charset="0"/>
                </a:rPr>
                <a:t>sw</a:t>
              </a:r>
              <a:r>
                <a:rPr lang="en-IN" sz="2000" dirty="0">
                  <a:solidFill>
                    <a:srgbClr val="1F9180"/>
                  </a:solidFill>
                  <a:latin typeface="Nunito" pitchFamily="2" charset="0"/>
                </a:rPr>
                <a:t> = 25 kHz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CA630CF-E4A2-78DA-93D4-53FE6C7D9588}"/>
                </a:ext>
              </a:extLst>
            </p:cNvPr>
            <p:cNvSpPr txBox="1"/>
            <p:nvPr/>
          </p:nvSpPr>
          <p:spPr>
            <a:xfrm>
              <a:off x="6975291" y="4819171"/>
              <a:ext cx="2078353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000" dirty="0" err="1">
                  <a:solidFill>
                    <a:srgbClr val="1F9180"/>
                  </a:solidFill>
                  <a:latin typeface="Nunito" pitchFamily="2" charset="0"/>
                </a:rPr>
                <a:t>f</a:t>
              </a:r>
              <a:r>
                <a:rPr lang="en-IN" sz="1200" dirty="0" err="1">
                  <a:solidFill>
                    <a:srgbClr val="1F9180"/>
                  </a:solidFill>
                  <a:latin typeface="Nunito" pitchFamily="2" charset="0"/>
                </a:rPr>
                <a:t>sw</a:t>
              </a:r>
              <a:r>
                <a:rPr lang="en-IN" sz="2000" dirty="0">
                  <a:solidFill>
                    <a:srgbClr val="1F9180"/>
                  </a:solidFill>
                  <a:latin typeface="Nunito" pitchFamily="2" charset="0"/>
                </a:rPr>
                <a:t> = 40 kHz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8E15885-3595-0D79-7128-ADC02FE8D90D}"/>
                </a:ext>
              </a:extLst>
            </p:cNvPr>
            <p:cNvCxnSpPr/>
            <p:nvPr/>
          </p:nvCxnSpPr>
          <p:spPr>
            <a:xfrm>
              <a:off x="3017520" y="670560"/>
              <a:ext cx="0" cy="4302437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0EE33D-D40F-DCC4-3BA9-D8306AF975B1}"/>
                </a:ext>
              </a:extLst>
            </p:cNvPr>
            <p:cNvCxnSpPr/>
            <p:nvPr/>
          </p:nvCxnSpPr>
          <p:spPr>
            <a:xfrm>
              <a:off x="6126480" y="687324"/>
              <a:ext cx="0" cy="4302437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95115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37DF7-54E5-311B-672F-DC93A8C4F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18F55-278A-AB9A-5513-382CC68AD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792579" cy="763600"/>
          </a:xfrm>
        </p:spPr>
        <p:txBody>
          <a:bodyPr>
            <a:normAutofit fontScale="90000"/>
          </a:bodyPr>
          <a:lstStyle/>
          <a:p>
            <a:r>
              <a:rPr lang="en-IN" dirty="0"/>
              <a:t>Parallel Resonant Inverter (PRI)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37C9E2-699D-F501-9AEB-65B5CC0DA75B}"/>
              </a:ext>
            </a:extLst>
          </p:cNvPr>
          <p:cNvSpPr txBox="1"/>
          <p:nvPr/>
        </p:nvSpPr>
        <p:spPr>
          <a:xfrm>
            <a:off x="8346483" y="381797"/>
            <a:ext cx="2256348" cy="461665"/>
          </a:xfrm>
          <a:prstGeom prst="rect">
            <a:avLst/>
          </a:prstGeom>
          <a:noFill/>
          <a:ln>
            <a:solidFill>
              <a:srgbClr val="1F9180"/>
            </a:solidFill>
          </a:ln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E2AC00"/>
                </a:solidFill>
              </a:rPr>
              <a:t>Gate, </a:t>
            </a:r>
            <a:r>
              <a:rPr lang="en-IN" sz="2400" dirty="0">
                <a:solidFill>
                  <a:srgbClr val="1F9180"/>
                </a:solidFill>
              </a:rPr>
              <a:t>V</a:t>
            </a:r>
            <a:r>
              <a:rPr lang="en-IN" sz="1400" dirty="0">
                <a:solidFill>
                  <a:srgbClr val="1F9180"/>
                </a:solidFill>
              </a:rPr>
              <a:t>AB</a:t>
            </a:r>
            <a:r>
              <a:rPr lang="en-IN" sz="2400" dirty="0">
                <a:solidFill>
                  <a:srgbClr val="1F9180"/>
                </a:solidFill>
              </a:rPr>
              <a:t>, 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V</a:t>
            </a:r>
            <a:r>
              <a:rPr lang="en-IN" sz="1400" dirty="0">
                <a:solidFill>
                  <a:schemeClr val="accent1">
                    <a:lumMod val="75000"/>
                  </a:schemeClr>
                </a:solidFill>
              </a:rPr>
              <a:t>o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en-IN" sz="2400" dirty="0" err="1">
                <a:solidFill>
                  <a:srgbClr val="C00000"/>
                </a:solidFill>
              </a:rPr>
              <a:t>I</a:t>
            </a:r>
            <a:r>
              <a:rPr lang="en-IN" sz="1400" dirty="0" err="1">
                <a:solidFill>
                  <a:srgbClr val="C00000"/>
                </a:solidFill>
              </a:rPr>
              <a:t>Lr</a:t>
            </a:r>
            <a:endParaRPr lang="en-IN" sz="2400" dirty="0">
              <a:solidFill>
                <a:srgbClr val="FFC000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9B3E330-B265-C5B6-1124-7B783AAA7F75}"/>
              </a:ext>
            </a:extLst>
          </p:cNvPr>
          <p:cNvGrpSpPr/>
          <p:nvPr/>
        </p:nvGrpSpPr>
        <p:grpSpPr>
          <a:xfrm>
            <a:off x="10843667" y="95403"/>
            <a:ext cx="1184532" cy="629200"/>
            <a:chOff x="8132750" y="71552"/>
            <a:chExt cx="888399" cy="471900"/>
          </a:xfrm>
        </p:grpSpPr>
        <p:pic>
          <p:nvPicPr>
            <p:cNvPr id="21" name="Google Shape;68;p14">
              <a:extLst>
                <a:ext uri="{FF2B5EF4-FFF2-40B4-BE49-F238E27FC236}">
                  <a16:creationId xmlns:a16="http://schemas.microsoft.com/office/drawing/2014/main" id="{70DAFE0C-CAA6-637E-6F08-393B16D83D98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8661200" y="110872"/>
              <a:ext cx="359949" cy="3509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" name="Google Shape;70;p14">
              <a:extLst>
                <a:ext uri="{FF2B5EF4-FFF2-40B4-BE49-F238E27FC236}">
                  <a16:creationId xmlns:a16="http://schemas.microsoft.com/office/drawing/2014/main" id="{8B016554-4DB2-42C8-9EA6-C5B4981B05F1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132750" y="71552"/>
              <a:ext cx="471900" cy="4719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546FE9-97A8-E5B7-E4A7-3084795E57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" dirty="0"/>
              <a:t>16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F4D510-2198-CB04-FDD4-6CF941C8D45E}"/>
              </a:ext>
            </a:extLst>
          </p:cNvPr>
          <p:cNvSpPr txBox="1"/>
          <p:nvPr/>
        </p:nvSpPr>
        <p:spPr>
          <a:xfrm>
            <a:off x="7479523" y="1167685"/>
            <a:ext cx="4444616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rgbClr val="1F9180"/>
                </a:solidFill>
                <a:latin typeface="Nunito" pitchFamily="2" charset="0"/>
              </a:rPr>
              <a:t>Inferences</a:t>
            </a:r>
          </a:p>
          <a:p>
            <a:pPr algn="ctr"/>
            <a:endParaRPr lang="en-IN" sz="2000" b="1" dirty="0">
              <a:solidFill>
                <a:srgbClr val="1F9180"/>
              </a:solidFill>
              <a:latin typeface="Nunito" pitchFamily="2" charset="0"/>
            </a:endParaRP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IN" sz="2000" dirty="0">
                <a:latin typeface="Nunito" pitchFamily="2" charset="0"/>
              </a:rPr>
              <a:t>More ripples are found in V</a:t>
            </a:r>
            <a:r>
              <a:rPr lang="en-IN" sz="1200" dirty="0">
                <a:latin typeface="Nunito" pitchFamily="2" charset="0"/>
              </a:rPr>
              <a:t>o</a:t>
            </a:r>
            <a:r>
              <a:rPr lang="en-IN" sz="2000" dirty="0">
                <a:latin typeface="Nunito" pitchFamily="2" charset="0"/>
              </a:rPr>
              <a:t> at 10kHz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IN" sz="2000" dirty="0">
              <a:latin typeface="Nunito" pitchFamily="2" charset="0"/>
            </a:endParaRP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IN" sz="2000" dirty="0">
                <a:latin typeface="Nunito" pitchFamily="2" charset="0"/>
              </a:rPr>
              <a:t>10 kHz – No discontinuous conduction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IN" sz="2000" dirty="0">
              <a:latin typeface="Nunito" pitchFamily="2" charset="0"/>
            </a:endParaRP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IN" sz="2000" dirty="0">
                <a:latin typeface="Nunito" pitchFamily="2" charset="0"/>
              </a:rPr>
              <a:t>Highest output voltage occurs at </a:t>
            </a:r>
            <a:r>
              <a:rPr lang="en-IN" sz="2000" dirty="0" err="1">
                <a:latin typeface="Nunito" pitchFamily="2" charset="0"/>
              </a:rPr>
              <a:t>f</a:t>
            </a:r>
            <a:r>
              <a:rPr lang="en-IN" sz="1200" dirty="0" err="1">
                <a:latin typeface="Nunito" pitchFamily="2" charset="0"/>
              </a:rPr>
              <a:t>r</a:t>
            </a:r>
            <a:endParaRPr lang="en-IN" sz="2000" dirty="0">
              <a:latin typeface="Nunito" pitchFamily="2" charset="0"/>
            </a:endParaRPr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IN" sz="2000" dirty="0">
              <a:latin typeface="Nunito" pitchFamily="2" charset="0"/>
            </a:endParaRP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IN" sz="2000" dirty="0">
                <a:latin typeface="Nunito" pitchFamily="2" charset="0"/>
              </a:rPr>
              <a:t>At higher f</a:t>
            </a:r>
            <a:r>
              <a:rPr lang="en-IN" sz="1200" dirty="0">
                <a:latin typeface="Nunito" pitchFamily="2" charset="0"/>
              </a:rPr>
              <a:t>s</a:t>
            </a:r>
            <a:r>
              <a:rPr lang="en-IN" sz="2000" dirty="0">
                <a:latin typeface="Nunito" pitchFamily="2" charset="0"/>
              </a:rPr>
              <a:t>, V</a:t>
            </a:r>
            <a:r>
              <a:rPr lang="en-IN" sz="1200" dirty="0">
                <a:latin typeface="Nunito" pitchFamily="2" charset="0"/>
              </a:rPr>
              <a:t>o</a:t>
            </a:r>
            <a:r>
              <a:rPr lang="en-IN" sz="2000" dirty="0">
                <a:latin typeface="Nunito" pitchFamily="2" charset="0"/>
              </a:rPr>
              <a:t> continue to rise even after V</a:t>
            </a:r>
            <a:r>
              <a:rPr lang="en-IN" sz="1200" dirty="0">
                <a:latin typeface="Nunito" pitchFamily="2" charset="0"/>
              </a:rPr>
              <a:t>AB</a:t>
            </a:r>
            <a:r>
              <a:rPr lang="en-IN" sz="2000" dirty="0">
                <a:latin typeface="Nunito" pitchFamily="2" charset="0"/>
              </a:rPr>
              <a:t> become negative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IN" sz="2000" dirty="0">
              <a:latin typeface="Nunito" pitchFamily="2" charset="0"/>
            </a:endParaRP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1F9180"/>
                </a:solidFill>
                <a:latin typeface="Nunito" pitchFamily="2" charset="0"/>
              </a:rPr>
              <a:t>Irregularity – </a:t>
            </a:r>
            <a:r>
              <a:rPr lang="en-IN" sz="2000" dirty="0">
                <a:latin typeface="Nunito" pitchFamily="2" charset="0"/>
              </a:rPr>
              <a:t>Zero crossing of inductor voltage waveform at resonant frequency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IN" sz="2000" dirty="0">
              <a:latin typeface="Nunito" pitchFamily="2" charset="0"/>
            </a:endParaRPr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IN" sz="2000" dirty="0">
              <a:latin typeface="Nunito" pitchFamily="2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CE6EA26-8A77-7FAD-33D9-221B584A30FF}"/>
              </a:ext>
            </a:extLst>
          </p:cNvPr>
          <p:cNvGrpSpPr/>
          <p:nvPr/>
        </p:nvGrpSpPr>
        <p:grpSpPr>
          <a:xfrm>
            <a:off x="5518" y="894080"/>
            <a:ext cx="7222597" cy="5937109"/>
            <a:chOff x="4138" y="670560"/>
            <a:chExt cx="9135724" cy="4452831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E9B28364-2FAC-3875-2B0B-18C1CB80D00C}"/>
                </a:ext>
              </a:extLst>
            </p:cNvPr>
            <p:cNvGrpSpPr/>
            <p:nvPr/>
          </p:nvGrpSpPr>
          <p:grpSpPr>
            <a:xfrm>
              <a:off x="4138" y="760950"/>
              <a:ext cx="2880000" cy="3869937"/>
              <a:chOff x="4138" y="760950"/>
              <a:chExt cx="2880000" cy="3869937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7AAB2220-ACCC-10E4-B75F-66A668C578D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38" y="760950"/>
                <a:ext cx="2880000" cy="1810800"/>
              </a:xfrm>
              <a:prstGeom prst="rect">
                <a:avLst/>
              </a:prstGeom>
              <a:ln>
                <a:solidFill>
                  <a:srgbClr val="1F9180"/>
                </a:solidFill>
              </a:ln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4FDE98E4-BC37-AA19-F645-91627538860C}"/>
                  </a:ext>
                </a:extLst>
              </p:cNvPr>
              <p:cNvPicPr>
                <a:picLocks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138" y="2830887"/>
                <a:ext cx="2880000" cy="1800000"/>
              </a:xfrm>
              <a:prstGeom prst="rect">
                <a:avLst/>
              </a:prstGeom>
              <a:ln>
                <a:solidFill>
                  <a:srgbClr val="1F9180"/>
                </a:solidFill>
              </a:ln>
            </p:spPr>
          </p:pic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9420827B-13D6-C326-5642-E7D9325E0DB4}"/>
                </a:ext>
              </a:extLst>
            </p:cNvPr>
            <p:cNvGrpSpPr/>
            <p:nvPr/>
          </p:nvGrpSpPr>
          <p:grpSpPr>
            <a:xfrm>
              <a:off x="3132000" y="760950"/>
              <a:ext cx="2880000" cy="3869937"/>
              <a:chOff x="3132000" y="760950"/>
              <a:chExt cx="2880000" cy="3869937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7ABDAF83-9222-6EDB-8590-DA5E3341D0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132000" y="760950"/>
                <a:ext cx="2880000" cy="1810800"/>
              </a:xfrm>
              <a:prstGeom prst="rect">
                <a:avLst/>
              </a:prstGeom>
              <a:ln>
                <a:solidFill>
                  <a:srgbClr val="1F9180"/>
                </a:solidFill>
              </a:ln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AD3E9911-2F06-1762-9F85-B88F790294FF}"/>
                  </a:ext>
                </a:extLst>
              </p:cNvPr>
              <p:cNvPicPr>
                <a:picLocks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132000" y="2830887"/>
                <a:ext cx="2880000" cy="1800000"/>
              </a:xfrm>
              <a:prstGeom prst="rect">
                <a:avLst/>
              </a:prstGeom>
              <a:ln>
                <a:solidFill>
                  <a:srgbClr val="1F9180"/>
                </a:solidFill>
              </a:ln>
            </p:spPr>
          </p:pic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59970B61-5F22-C5BA-615F-881D36ED62C1}"/>
                </a:ext>
              </a:extLst>
            </p:cNvPr>
            <p:cNvGrpSpPr/>
            <p:nvPr/>
          </p:nvGrpSpPr>
          <p:grpSpPr>
            <a:xfrm>
              <a:off x="6259862" y="760950"/>
              <a:ext cx="2880000" cy="3869937"/>
              <a:chOff x="6259862" y="760950"/>
              <a:chExt cx="2880000" cy="3869937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74CE7D25-5CF9-6CD6-29FC-4D16C04C078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259862" y="760950"/>
                <a:ext cx="2880000" cy="1810800"/>
              </a:xfrm>
              <a:prstGeom prst="rect">
                <a:avLst/>
              </a:prstGeom>
              <a:ln>
                <a:solidFill>
                  <a:srgbClr val="1F9180"/>
                </a:solidFill>
              </a:ln>
            </p:spPr>
          </p:pic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76F2ECC6-C095-DA8E-16ED-E28D8A1D31E4}"/>
                  </a:ext>
                </a:extLst>
              </p:cNvPr>
              <p:cNvPicPr>
                <a:picLocks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259862" y="2830887"/>
                <a:ext cx="2880000" cy="1800000"/>
              </a:xfrm>
              <a:prstGeom prst="rect">
                <a:avLst/>
              </a:prstGeom>
              <a:ln>
                <a:solidFill>
                  <a:srgbClr val="1F9180"/>
                </a:solidFill>
              </a:ln>
            </p:spPr>
          </p:pic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FBA0F07-B646-F9D4-7146-EDE19CA9B160}"/>
                </a:ext>
              </a:extLst>
            </p:cNvPr>
            <p:cNvSpPr txBox="1"/>
            <p:nvPr/>
          </p:nvSpPr>
          <p:spPr>
            <a:xfrm>
              <a:off x="690972" y="4823309"/>
              <a:ext cx="2078353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000" dirty="0" err="1">
                  <a:solidFill>
                    <a:srgbClr val="1F9180"/>
                  </a:solidFill>
                  <a:latin typeface="Nunito" pitchFamily="2" charset="0"/>
                </a:rPr>
                <a:t>f</a:t>
              </a:r>
              <a:r>
                <a:rPr lang="en-IN" sz="1200" dirty="0" err="1">
                  <a:solidFill>
                    <a:srgbClr val="1F9180"/>
                  </a:solidFill>
                  <a:latin typeface="Nunito" pitchFamily="2" charset="0"/>
                </a:rPr>
                <a:t>sw</a:t>
              </a:r>
              <a:r>
                <a:rPr lang="en-IN" sz="2000" dirty="0">
                  <a:solidFill>
                    <a:srgbClr val="1F9180"/>
                  </a:solidFill>
                  <a:latin typeface="Nunito" pitchFamily="2" charset="0"/>
                </a:rPr>
                <a:t> = 10 kHz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E7EDA5D-FF44-F6DD-58CC-2EE5E0CD56E5}"/>
                </a:ext>
              </a:extLst>
            </p:cNvPr>
            <p:cNvSpPr txBox="1"/>
            <p:nvPr/>
          </p:nvSpPr>
          <p:spPr>
            <a:xfrm>
              <a:off x="3918266" y="4823309"/>
              <a:ext cx="2078353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000" dirty="0" err="1">
                  <a:solidFill>
                    <a:srgbClr val="1F9180"/>
                  </a:solidFill>
                  <a:latin typeface="Nunito" pitchFamily="2" charset="0"/>
                </a:rPr>
                <a:t>f</a:t>
              </a:r>
              <a:r>
                <a:rPr lang="en-IN" sz="1200" dirty="0" err="1">
                  <a:solidFill>
                    <a:srgbClr val="1F9180"/>
                  </a:solidFill>
                  <a:latin typeface="Nunito" pitchFamily="2" charset="0"/>
                </a:rPr>
                <a:t>sw</a:t>
              </a:r>
              <a:r>
                <a:rPr lang="en-IN" sz="2000" dirty="0">
                  <a:solidFill>
                    <a:srgbClr val="1F9180"/>
                  </a:solidFill>
                  <a:latin typeface="Nunito" pitchFamily="2" charset="0"/>
                </a:rPr>
                <a:t> = 25 kHz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0ECB119-5F0A-EDB4-5023-D0718D4C6503}"/>
                </a:ext>
              </a:extLst>
            </p:cNvPr>
            <p:cNvSpPr txBox="1"/>
            <p:nvPr/>
          </p:nvSpPr>
          <p:spPr>
            <a:xfrm>
              <a:off x="6975291" y="4819171"/>
              <a:ext cx="2078352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000" dirty="0" err="1">
                  <a:solidFill>
                    <a:srgbClr val="1F9180"/>
                  </a:solidFill>
                  <a:latin typeface="Nunito" pitchFamily="2" charset="0"/>
                </a:rPr>
                <a:t>f</a:t>
              </a:r>
              <a:r>
                <a:rPr lang="en-IN" sz="1200" dirty="0" err="1">
                  <a:solidFill>
                    <a:srgbClr val="1F9180"/>
                  </a:solidFill>
                  <a:latin typeface="Nunito" pitchFamily="2" charset="0"/>
                </a:rPr>
                <a:t>sw</a:t>
              </a:r>
              <a:r>
                <a:rPr lang="en-IN" sz="2000" dirty="0">
                  <a:solidFill>
                    <a:srgbClr val="1F9180"/>
                  </a:solidFill>
                  <a:latin typeface="Nunito" pitchFamily="2" charset="0"/>
                </a:rPr>
                <a:t> = 40 kHz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A80B99F-F15C-E0D2-E450-4D35E4BA3719}"/>
                </a:ext>
              </a:extLst>
            </p:cNvPr>
            <p:cNvCxnSpPr/>
            <p:nvPr/>
          </p:nvCxnSpPr>
          <p:spPr>
            <a:xfrm>
              <a:off x="3017520" y="670560"/>
              <a:ext cx="0" cy="4302437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8B89D51-8AEF-ED60-03F7-8B74B71A063A}"/>
                </a:ext>
              </a:extLst>
            </p:cNvPr>
            <p:cNvCxnSpPr/>
            <p:nvPr/>
          </p:nvCxnSpPr>
          <p:spPr>
            <a:xfrm>
              <a:off x="6126480" y="687324"/>
              <a:ext cx="0" cy="4302437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891279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2D0B59C-496A-15CA-5E32-C34255EA4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02C7F-E4B1-9376-2D8E-74B49A184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6835244" cy="763600"/>
          </a:xfrm>
        </p:spPr>
        <p:txBody>
          <a:bodyPr>
            <a:normAutofit/>
          </a:bodyPr>
          <a:lstStyle/>
          <a:p>
            <a:r>
              <a:rPr lang="en-IN" dirty="0"/>
              <a:t>Parallel Resonant Inverter (cont.)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9FDBAF-D1CF-DC1B-1307-61623F0ED89D}"/>
              </a:ext>
            </a:extLst>
          </p:cNvPr>
          <p:cNvSpPr txBox="1"/>
          <p:nvPr/>
        </p:nvSpPr>
        <p:spPr>
          <a:xfrm>
            <a:off x="8346483" y="410003"/>
            <a:ext cx="2256348" cy="461665"/>
          </a:xfrm>
          <a:prstGeom prst="rect">
            <a:avLst/>
          </a:prstGeom>
          <a:noFill/>
          <a:ln>
            <a:solidFill>
              <a:srgbClr val="1F9180"/>
            </a:solidFill>
          </a:ln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E2AC00"/>
                </a:solidFill>
              </a:rPr>
              <a:t>Gate, </a:t>
            </a:r>
            <a:r>
              <a:rPr lang="en-IN" sz="2400" dirty="0">
                <a:solidFill>
                  <a:srgbClr val="1F9180"/>
                </a:solidFill>
              </a:rPr>
              <a:t>V</a:t>
            </a:r>
            <a:r>
              <a:rPr lang="en-IN" sz="1400" dirty="0">
                <a:solidFill>
                  <a:srgbClr val="1F9180"/>
                </a:solidFill>
              </a:rPr>
              <a:t>L</a:t>
            </a:r>
            <a:r>
              <a:rPr lang="en-IN" sz="2400" dirty="0">
                <a:solidFill>
                  <a:srgbClr val="1F9180"/>
                </a:solidFill>
              </a:rPr>
              <a:t>, 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I</a:t>
            </a:r>
            <a:r>
              <a:rPr lang="en-IN" sz="1400" dirty="0">
                <a:solidFill>
                  <a:schemeClr val="accent1">
                    <a:lumMod val="75000"/>
                  </a:schemeClr>
                </a:solidFill>
              </a:rPr>
              <a:t>o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en-IN" sz="2400" dirty="0" err="1">
                <a:solidFill>
                  <a:srgbClr val="C00000"/>
                </a:solidFill>
              </a:rPr>
              <a:t>I</a:t>
            </a:r>
            <a:r>
              <a:rPr lang="en-IN" sz="1400" dirty="0" err="1">
                <a:solidFill>
                  <a:srgbClr val="C00000"/>
                </a:solidFill>
              </a:rPr>
              <a:t>dc</a:t>
            </a:r>
            <a:endParaRPr lang="en-IN" sz="2400" dirty="0">
              <a:solidFill>
                <a:srgbClr val="FFC000"/>
              </a:solidFill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FEC9B13-41A4-45D2-FE8E-2C398320BDB8}"/>
              </a:ext>
            </a:extLst>
          </p:cNvPr>
          <p:cNvGrpSpPr/>
          <p:nvPr/>
        </p:nvGrpSpPr>
        <p:grpSpPr>
          <a:xfrm>
            <a:off x="5517" y="1014602"/>
            <a:ext cx="3840000" cy="5068601"/>
            <a:chOff x="4138" y="760951"/>
            <a:chExt cx="2880000" cy="380145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A2BF02A-A194-240C-3589-7AE7A64CE4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38" y="760951"/>
              <a:ext cx="2880000" cy="1810799"/>
            </a:xfrm>
            <a:prstGeom prst="rect">
              <a:avLst/>
            </a:prstGeom>
            <a:ln>
              <a:solidFill>
                <a:srgbClr val="1F9180"/>
              </a:solidFill>
            </a:ln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05D1A90C-8454-4808-23E0-43D280984E1F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38" y="2762402"/>
              <a:ext cx="2880000" cy="1800000"/>
            </a:xfrm>
            <a:prstGeom prst="rect">
              <a:avLst/>
            </a:prstGeom>
            <a:ln>
              <a:solidFill>
                <a:srgbClr val="1F9180"/>
              </a:solidFill>
            </a:ln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11560A1-4BCD-6DF3-B055-8C62B911B977}"/>
              </a:ext>
            </a:extLst>
          </p:cNvPr>
          <p:cNvGrpSpPr/>
          <p:nvPr/>
        </p:nvGrpSpPr>
        <p:grpSpPr>
          <a:xfrm>
            <a:off x="4176000" y="1014602"/>
            <a:ext cx="3840000" cy="5068601"/>
            <a:chOff x="3132000" y="760951"/>
            <a:chExt cx="2880000" cy="3801451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BC8798A-F976-D5F1-E4EF-46E445FD5B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32000" y="760951"/>
              <a:ext cx="2880000" cy="1810799"/>
            </a:xfrm>
            <a:prstGeom prst="rect">
              <a:avLst/>
            </a:prstGeom>
            <a:ln>
              <a:solidFill>
                <a:srgbClr val="1F9180"/>
              </a:solidFill>
            </a:ln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ACDDEBA-E36B-4A00-57C9-D0CA811A985C}"/>
                </a:ext>
              </a:extLst>
            </p:cNvPr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132000" y="2762402"/>
              <a:ext cx="2880000" cy="1800000"/>
            </a:xfrm>
            <a:prstGeom prst="rect">
              <a:avLst/>
            </a:prstGeom>
            <a:ln>
              <a:solidFill>
                <a:srgbClr val="1F9180"/>
              </a:solidFill>
            </a:ln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EC640F3-A03D-3A86-9373-F45BF59BAC5F}"/>
              </a:ext>
            </a:extLst>
          </p:cNvPr>
          <p:cNvGrpSpPr/>
          <p:nvPr/>
        </p:nvGrpSpPr>
        <p:grpSpPr>
          <a:xfrm>
            <a:off x="8346483" y="1014602"/>
            <a:ext cx="3840000" cy="5068601"/>
            <a:chOff x="6259862" y="760951"/>
            <a:chExt cx="2880000" cy="3801451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6A3AEE7-B483-3E1E-A0D2-0438A697D72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259862" y="760951"/>
              <a:ext cx="2880000" cy="1810799"/>
            </a:xfrm>
            <a:prstGeom prst="rect">
              <a:avLst/>
            </a:prstGeom>
            <a:ln>
              <a:solidFill>
                <a:srgbClr val="1F9180"/>
              </a:solidFill>
            </a:ln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CA9FEE15-663D-6012-AAF1-FE49454E136E}"/>
                </a:ext>
              </a:extLst>
            </p:cNvPr>
            <p:cNvPicPr>
              <a:picLocks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259862" y="2762402"/>
              <a:ext cx="2880000" cy="1800000"/>
            </a:xfrm>
            <a:prstGeom prst="rect">
              <a:avLst/>
            </a:prstGeom>
            <a:ln>
              <a:solidFill>
                <a:srgbClr val="1F9180"/>
              </a:solidFill>
            </a:ln>
          </p:spPr>
        </p:pic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6A639DF8-661C-1AAB-0CFB-CE14AE47B616}"/>
              </a:ext>
            </a:extLst>
          </p:cNvPr>
          <p:cNvSpPr txBox="1"/>
          <p:nvPr/>
        </p:nvSpPr>
        <p:spPr>
          <a:xfrm>
            <a:off x="921296" y="6431079"/>
            <a:ext cx="17432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 err="1">
                <a:solidFill>
                  <a:srgbClr val="1F9180"/>
                </a:solidFill>
                <a:latin typeface="Nunito" pitchFamily="2" charset="0"/>
              </a:rPr>
              <a:t>f</a:t>
            </a:r>
            <a:r>
              <a:rPr lang="en-IN" sz="1200" dirty="0" err="1">
                <a:solidFill>
                  <a:srgbClr val="1F9180"/>
                </a:solidFill>
                <a:latin typeface="Nunito" pitchFamily="2" charset="0"/>
              </a:rPr>
              <a:t>sw</a:t>
            </a:r>
            <a:r>
              <a:rPr lang="en-IN" sz="2000" dirty="0">
                <a:solidFill>
                  <a:srgbClr val="1F9180"/>
                </a:solidFill>
                <a:latin typeface="Nunito" pitchFamily="2" charset="0"/>
              </a:rPr>
              <a:t> = 10 kHz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5C220CE-8587-7450-61C1-1E130D3B19D9}"/>
              </a:ext>
            </a:extLst>
          </p:cNvPr>
          <p:cNvGrpSpPr/>
          <p:nvPr/>
        </p:nvGrpSpPr>
        <p:grpSpPr>
          <a:xfrm>
            <a:off x="10843667" y="95403"/>
            <a:ext cx="1184532" cy="629200"/>
            <a:chOff x="8132750" y="71552"/>
            <a:chExt cx="888399" cy="471900"/>
          </a:xfrm>
        </p:grpSpPr>
        <p:pic>
          <p:nvPicPr>
            <p:cNvPr id="25" name="Google Shape;68;p14">
              <a:extLst>
                <a:ext uri="{FF2B5EF4-FFF2-40B4-BE49-F238E27FC236}">
                  <a16:creationId xmlns:a16="http://schemas.microsoft.com/office/drawing/2014/main" id="{61C06BFA-4F8F-AA68-1291-02E66DE5975B}"/>
                </a:ext>
              </a:extLst>
            </p:cNvPr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8661200" y="110872"/>
              <a:ext cx="359949" cy="3509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" name="Google Shape;70;p14">
              <a:extLst>
                <a:ext uri="{FF2B5EF4-FFF2-40B4-BE49-F238E27FC236}">
                  <a16:creationId xmlns:a16="http://schemas.microsoft.com/office/drawing/2014/main" id="{707E0815-77E6-78EF-C64F-7C72AB1CE73A}"/>
                </a:ext>
              </a:extLst>
            </p:cNvPr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8132750" y="71552"/>
              <a:ext cx="471900" cy="4719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2664D170-3662-37E2-2B27-1B78C928952D}"/>
              </a:ext>
            </a:extLst>
          </p:cNvPr>
          <p:cNvSpPr txBox="1"/>
          <p:nvPr/>
        </p:nvSpPr>
        <p:spPr>
          <a:xfrm>
            <a:off x="5224355" y="6431079"/>
            <a:ext cx="17432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 err="1">
                <a:solidFill>
                  <a:srgbClr val="1F9180"/>
                </a:solidFill>
                <a:latin typeface="Nunito" pitchFamily="2" charset="0"/>
              </a:rPr>
              <a:t>f</a:t>
            </a:r>
            <a:r>
              <a:rPr lang="en-IN" sz="1200" dirty="0" err="1">
                <a:solidFill>
                  <a:srgbClr val="1F9180"/>
                </a:solidFill>
                <a:latin typeface="Nunito" pitchFamily="2" charset="0"/>
              </a:rPr>
              <a:t>sw</a:t>
            </a:r>
            <a:r>
              <a:rPr lang="en-IN" sz="2000" dirty="0">
                <a:solidFill>
                  <a:srgbClr val="1F9180"/>
                </a:solidFill>
                <a:latin typeface="Nunito" pitchFamily="2" charset="0"/>
              </a:rPr>
              <a:t> = 25 kHz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9C4E6DE-E232-51E2-8087-4DD1C9A16581}"/>
              </a:ext>
            </a:extLst>
          </p:cNvPr>
          <p:cNvSpPr txBox="1"/>
          <p:nvPr/>
        </p:nvSpPr>
        <p:spPr>
          <a:xfrm>
            <a:off x="9300389" y="6431079"/>
            <a:ext cx="17432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 err="1">
                <a:solidFill>
                  <a:srgbClr val="1F9180"/>
                </a:solidFill>
                <a:latin typeface="Nunito" pitchFamily="2" charset="0"/>
              </a:rPr>
              <a:t>f</a:t>
            </a:r>
            <a:r>
              <a:rPr lang="en-IN" sz="1200" dirty="0" err="1">
                <a:solidFill>
                  <a:srgbClr val="1F9180"/>
                </a:solidFill>
                <a:latin typeface="Nunito" pitchFamily="2" charset="0"/>
              </a:rPr>
              <a:t>sw</a:t>
            </a:r>
            <a:r>
              <a:rPr lang="en-IN" sz="2000" dirty="0">
                <a:solidFill>
                  <a:srgbClr val="1F9180"/>
                </a:solidFill>
                <a:latin typeface="Nunito" pitchFamily="2" charset="0"/>
              </a:rPr>
              <a:t> = 40 kHz</a:t>
            </a:r>
          </a:p>
        </p:txBody>
      </p:sp>
    </p:spTree>
    <p:extLst>
      <p:ext uri="{BB962C8B-B14F-4D97-AF65-F5344CB8AC3E}">
        <p14:creationId xmlns:p14="http://schemas.microsoft.com/office/powerpoint/2010/main" val="18864105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4BAFA-A7CE-2385-E1C7-FA72D09AD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0"/>
            <a:ext cx="11360800" cy="763600"/>
          </a:xfrm>
        </p:spPr>
        <p:txBody>
          <a:bodyPr/>
          <a:lstStyle/>
          <a:p>
            <a:pPr algn="ctr"/>
            <a:r>
              <a:rPr lang="en-IN" dirty="0"/>
              <a:t>Parameter values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CEF956-70E5-6C65-61F3-61B52CC9F91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" dirty="0"/>
              <a:t>17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733536-39D7-EB40-C75D-ED26277EE325}"/>
              </a:ext>
            </a:extLst>
          </p:cNvPr>
          <p:cNvPicPr>
            <a:picLocks/>
          </p:cNvPicPr>
          <p:nvPr/>
        </p:nvPicPr>
        <p:blipFill>
          <a:blip r:embed="rId2"/>
          <a:srcRect r="15944"/>
          <a:stretch>
            <a:fillRect/>
          </a:stretch>
        </p:blipFill>
        <p:spPr>
          <a:xfrm>
            <a:off x="1148240" y="720023"/>
            <a:ext cx="4560000" cy="5760000"/>
          </a:xfrm>
          <a:prstGeom prst="rect">
            <a:avLst/>
          </a:prstGeom>
          <a:ln>
            <a:solidFill>
              <a:srgbClr val="1F9180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D516EFF-E045-2A44-1AC1-4184FFBD02C8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484532" y="720023"/>
            <a:ext cx="4560000" cy="5760000"/>
          </a:xfrm>
          <a:prstGeom prst="rect">
            <a:avLst/>
          </a:prstGeom>
          <a:ln>
            <a:solidFill>
              <a:srgbClr val="1F9180"/>
            </a:solidFill>
          </a:ln>
        </p:spPr>
      </p:pic>
    </p:spTree>
    <p:extLst>
      <p:ext uri="{BB962C8B-B14F-4D97-AF65-F5344CB8AC3E}">
        <p14:creationId xmlns:p14="http://schemas.microsoft.com/office/powerpoint/2010/main" val="201286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162D7-4F0D-DB3C-26C5-BB726C1EE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8030" y="0"/>
            <a:ext cx="6735943" cy="763600"/>
          </a:xfrm>
        </p:spPr>
        <p:txBody>
          <a:bodyPr/>
          <a:lstStyle/>
          <a:p>
            <a:pPr algn="ctr"/>
            <a:r>
              <a:rPr lang="en-IN" dirty="0"/>
              <a:t>Key Takeaways and Conclusion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03926B-3F2E-7011-494A-74CCE7C9960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" dirty="0"/>
              <a:t>18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8EFA3B-EBA1-3BED-D1D9-A9A3D2102AC6}"/>
              </a:ext>
            </a:extLst>
          </p:cNvPr>
          <p:cNvSpPr txBox="1"/>
          <p:nvPr/>
        </p:nvSpPr>
        <p:spPr>
          <a:xfrm>
            <a:off x="1715707" y="1092304"/>
            <a:ext cx="803789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400" dirty="0">
              <a:latin typeface="Nunito" pitchFamily="2" charset="0"/>
            </a:endParaRP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1F9180"/>
                </a:solidFill>
                <a:latin typeface="Nunito" pitchFamily="2" charset="0"/>
              </a:rPr>
              <a:t>Drawback with PRC </a:t>
            </a:r>
            <a:r>
              <a:rPr lang="en-IN" sz="2400" dirty="0">
                <a:latin typeface="Nunito" pitchFamily="2" charset="0"/>
              </a:rPr>
              <a:t>– Large circulating currents flows at light load resulting in more conduction and switching losses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C40B571-AD06-7699-C56B-59B90913BCE5}"/>
              </a:ext>
            </a:extLst>
          </p:cNvPr>
          <p:cNvSpPr txBox="1">
            <a:spLocks/>
          </p:cNvSpPr>
          <p:nvPr/>
        </p:nvSpPr>
        <p:spPr>
          <a:xfrm>
            <a:off x="2728030" y="3047200"/>
            <a:ext cx="6735943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9180"/>
              </a:buClr>
              <a:buSzPts val="2500"/>
              <a:buFont typeface="Nunito Medium"/>
              <a:buNone/>
              <a:defRPr sz="2500" b="0" i="0" u="none" strike="noStrike" cap="none">
                <a:solidFill>
                  <a:srgbClr val="1F9180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333" dirty="0"/>
              <a:t>Future Work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4C39C3-224D-2F8E-116E-EA0639EDD10A}"/>
              </a:ext>
            </a:extLst>
          </p:cNvPr>
          <p:cNvSpPr txBox="1"/>
          <p:nvPr/>
        </p:nvSpPr>
        <p:spPr>
          <a:xfrm>
            <a:off x="1714778" y="4109067"/>
            <a:ext cx="80378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IN" sz="2400" dirty="0">
                <a:latin typeface="Nunito" pitchFamily="2" charset="0"/>
              </a:rPr>
              <a:t>Moving to LLC resonant converter in next stage to overcome these drawbacks.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IN" sz="2400" dirty="0">
                <a:latin typeface="Nunito" pitchFamily="2" charset="0"/>
              </a:rPr>
              <a:t>LLC – Design and Control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C98D926-2E83-84A0-EF51-6D4FF8C3223A}"/>
              </a:ext>
            </a:extLst>
          </p:cNvPr>
          <p:cNvGrpSpPr/>
          <p:nvPr/>
        </p:nvGrpSpPr>
        <p:grpSpPr>
          <a:xfrm>
            <a:off x="10843667" y="95403"/>
            <a:ext cx="1184532" cy="629200"/>
            <a:chOff x="8132750" y="71552"/>
            <a:chExt cx="888399" cy="471900"/>
          </a:xfrm>
        </p:grpSpPr>
        <p:pic>
          <p:nvPicPr>
            <p:cNvPr id="8" name="Google Shape;68;p14">
              <a:extLst>
                <a:ext uri="{FF2B5EF4-FFF2-40B4-BE49-F238E27FC236}">
                  <a16:creationId xmlns:a16="http://schemas.microsoft.com/office/drawing/2014/main" id="{D5D20E2C-E348-EB73-9B31-4EA003337C9B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8661200" y="110872"/>
              <a:ext cx="359949" cy="3509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" name="Google Shape;70;p14">
              <a:extLst>
                <a:ext uri="{FF2B5EF4-FFF2-40B4-BE49-F238E27FC236}">
                  <a16:creationId xmlns:a16="http://schemas.microsoft.com/office/drawing/2014/main" id="{5DA3AD2D-FAEC-D973-2A79-E826FD0BAD8A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132750" y="71552"/>
              <a:ext cx="471900" cy="47190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211833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D2850-93B8-DCC2-3C40-7957F5D7D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841" y="2664854"/>
            <a:ext cx="11874321" cy="1528293"/>
          </a:xfrm>
        </p:spPr>
        <p:txBody>
          <a:bodyPr>
            <a:normAutofit/>
          </a:bodyPr>
          <a:lstStyle/>
          <a:p>
            <a:pPr algn="ctr"/>
            <a:r>
              <a:rPr lang="en-IN" sz="80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450270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929</Words>
  <Application>Microsoft Office PowerPoint</Application>
  <PresentationFormat>Widescreen</PresentationFormat>
  <Paragraphs>357</Paragraphs>
  <Slides>19</Slides>
  <Notes>2</Notes>
  <HiddenSlides>3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Calibri Light</vt:lpstr>
      <vt:lpstr>Cambria Math</vt:lpstr>
      <vt:lpstr>Nunito</vt:lpstr>
      <vt:lpstr>Nunito Medium</vt:lpstr>
      <vt:lpstr>Office Theme</vt:lpstr>
      <vt:lpstr>Design and Development of LLC Resonant Converter for EV charging</vt:lpstr>
      <vt:lpstr>Converter Specifications</vt:lpstr>
      <vt:lpstr>DC-DC Parallel Resonant Converter</vt:lpstr>
      <vt:lpstr>Gain vs. switching frequency curve</vt:lpstr>
      <vt:lpstr>Analytical vs. Simulated gain</vt:lpstr>
      <vt:lpstr>Analytical vs. Simulated gain</vt:lpstr>
      <vt:lpstr>Analytical vs. Simulated Gain (R = 0.2 Ω) </vt:lpstr>
      <vt:lpstr>Analytical vs. Simulated Gain (R = 10 Ω) </vt:lpstr>
      <vt:lpstr>Key Observations and Inferences</vt:lpstr>
      <vt:lpstr>Inductor Design (Ap method)</vt:lpstr>
      <vt:lpstr>Inductor Design (cont.)</vt:lpstr>
      <vt:lpstr>Experimental Setup</vt:lpstr>
      <vt:lpstr>Experimental Setup</vt:lpstr>
      <vt:lpstr>Parallel Resonant Inverter (PRI)</vt:lpstr>
      <vt:lpstr>Parallel Resonant Inverter (PRI)</vt:lpstr>
      <vt:lpstr>Parallel Resonant Inverter (cont.)</vt:lpstr>
      <vt:lpstr>Parameter values</vt:lpstr>
      <vt:lpstr>Key Takeaways and 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Aditya Kumar</dc:creator>
  <cp:lastModifiedBy>Aditya Kumar</cp:lastModifiedBy>
  <cp:revision>5</cp:revision>
  <dcterms:created xsi:type="dcterms:W3CDTF">2026-01-13T20:22:07Z</dcterms:created>
  <dcterms:modified xsi:type="dcterms:W3CDTF">2026-01-13T20:26:57Z</dcterms:modified>
</cp:coreProperties>
</file>