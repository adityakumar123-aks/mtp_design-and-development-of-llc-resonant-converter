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73" r:id="rId3"/>
    <p:sldId id="266" r:id="rId4"/>
    <p:sldId id="285" r:id="rId5"/>
    <p:sldId id="274" r:id="rId6"/>
    <p:sldId id="267" r:id="rId7"/>
    <p:sldId id="269" r:id="rId8"/>
    <p:sldId id="288" r:id="rId9"/>
    <p:sldId id="270" r:id="rId10"/>
    <p:sldId id="297" r:id="rId11"/>
    <p:sldId id="305" r:id="rId12"/>
    <p:sldId id="293" r:id="rId13"/>
    <p:sldId id="299" r:id="rId14"/>
    <p:sldId id="291" r:id="rId15"/>
    <p:sldId id="302" r:id="rId16"/>
    <p:sldId id="294" r:id="rId17"/>
    <p:sldId id="301" r:id="rId18"/>
    <p:sldId id="290" r:id="rId19"/>
    <p:sldId id="30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E9DD5-EB49-43F5-97C0-AEEB1CA6BFB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1DD9EF-5B89-4795-AF5D-D2B17C9B16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913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8E806314-BD7E-E173-7E60-915AA4FAB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>
            <a:extLst>
              <a:ext uri="{FF2B5EF4-FFF2-40B4-BE49-F238E27FC236}">
                <a16:creationId xmlns:a16="http://schemas.microsoft.com/office/drawing/2014/main" id="{95B0113E-E865-A9CE-748C-63971B9A0F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2:notes">
            <a:extLst>
              <a:ext uri="{FF2B5EF4-FFF2-40B4-BE49-F238E27FC236}">
                <a16:creationId xmlns:a16="http://schemas.microsoft.com/office/drawing/2014/main" id="{A11498D0-1A46-D541-4029-AC800B4316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3327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868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7823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28562-EDB0-5BBF-D245-A96CAC18B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AFE7D-DFF6-DA4C-DD27-5DF7AD418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F2824-6F81-9978-7B68-AB1ECE63E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AF0B-6BD3-459E-9D16-CD43BA2C20D7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7B1DA-6C5F-B447-C41C-1B52E9F93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40929-2729-1C88-4742-72B6B3530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08E72-14E7-4611-BCA6-E46A68B4E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756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180"/>
              </a:buClr>
              <a:buSzPts val="2500"/>
              <a:buFont typeface="Nunito Medium"/>
              <a:buNone/>
              <a:defRPr sz="3333">
                <a:solidFill>
                  <a:srgbClr val="1F9180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r>
              <a:rPr lang="en"/>
              <a:t>/6</a:t>
            </a:r>
          </a:p>
        </p:txBody>
      </p:sp>
      <p:sp>
        <p:nvSpPr>
          <p:cNvPr id="18" name="Google Shape;18;p3"/>
          <p:cNvSpPr txBox="1"/>
          <p:nvPr/>
        </p:nvSpPr>
        <p:spPr>
          <a:xfrm>
            <a:off x="777967" y="1417067"/>
            <a:ext cx="3279600" cy="9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140282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9D197-8176-B13B-BB59-63F415BEF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1C060-177F-A297-F808-269F80347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56DE0-15D6-B15D-AF6C-AD40280EDE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3AF0B-6BD3-459E-9D16-CD43BA2C20D7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46ACA-65DD-F5EC-F64E-309020B1E4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48DB7-001D-18C5-8574-8E86B51F5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08E72-14E7-4611-BCA6-E46A68B4E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720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0" y="2227547"/>
            <a:ext cx="12192000" cy="977600"/>
          </a:xfrm>
          <a:prstGeom prst="rect">
            <a:avLst/>
          </a:prstGeom>
          <a:solidFill>
            <a:srgbClr val="1F9180">
              <a:alpha val="13333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745617" y="11038"/>
            <a:ext cx="10700800" cy="15702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1100"/>
            </a:pPr>
            <a:r>
              <a:rPr lang="en-IN" sz="4000" dirty="0">
                <a:solidFill>
                  <a:srgbClr val="1F9180"/>
                </a:solidFill>
                <a:latin typeface="Nunito Medium"/>
                <a:ea typeface="Nunito Medium"/>
                <a:cs typeface="Nunito Medium"/>
                <a:sym typeface="Nunito Medium"/>
              </a:rPr>
              <a:t>Design and Development of LLC Resonant Converter for EV charging</a:t>
            </a:r>
            <a:endParaRPr sz="4000" dirty="0">
              <a:solidFill>
                <a:srgbClr val="1F9180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1854633" y="1581283"/>
            <a:ext cx="8482800" cy="163195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lnSpc>
                <a:spcPct val="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-IN" b="1" dirty="0">
                <a:solidFill>
                  <a:srgbClr val="1F9180"/>
                </a:solidFill>
                <a:latin typeface="Nunito"/>
                <a:ea typeface="Nunito"/>
                <a:cs typeface="Nunito"/>
                <a:sym typeface="Nunito"/>
              </a:rPr>
              <a:t>(MTP - Stage 0 )</a:t>
            </a:r>
          </a:p>
          <a:p>
            <a:pPr>
              <a:lnSpc>
                <a:spcPct val="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endParaRPr lang="en-IN" b="1" dirty="0">
              <a:solidFill>
                <a:srgbClr val="1F9180"/>
              </a:solidFill>
              <a:latin typeface="Nunito"/>
              <a:ea typeface="Nunito"/>
              <a:cs typeface="Nunito"/>
              <a:sym typeface="Nunito"/>
            </a:endParaRPr>
          </a:p>
          <a:p>
            <a:pPr>
              <a:lnSpc>
                <a:spcPct val="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-IN" dirty="0">
                <a:solidFill>
                  <a:srgbClr val="1F9180"/>
                </a:solidFill>
                <a:latin typeface="Nunito"/>
                <a:ea typeface="Nunito"/>
                <a:cs typeface="Nunito"/>
                <a:sym typeface="Nunito"/>
              </a:rPr>
              <a:t>Aditya Kumar</a:t>
            </a:r>
            <a:endParaRPr dirty="0">
              <a:solidFill>
                <a:srgbClr val="1F9180"/>
              </a:solidFill>
              <a:latin typeface="Nunito"/>
              <a:ea typeface="Nunito"/>
              <a:cs typeface="Nunito"/>
              <a:sym typeface="Nunito"/>
            </a:endParaRPr>
          </a:p>
          <a:p>
            <a:pPr>
              <a:lnSpc>
                <a:spcPct val="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" sz="1867" dirty="0">
                <a:solidFill>
                  <a:srgbClr val="1F9180"/>
                </a:solidFill>
                <a:latin typeface="Nunito"/>
                <a:ea typeface="Nunito"/>
                <a:cs typeface="Nunito"/>
                <a:sym typeface="Nunito"/>
              </a:rPr>
              <a:t>Guide: Prof. Siddavatam Ravi Prakash Reddy</a:t>
            </a:r>
            <a:endParaRPr sz="1867" dirty="0">
              <a:solidFill>
                <a:srgbClr val="1F9180"/>
              </a:solidFill>
              <a:latin typeface="Nunito"/>
              <a:ea typeface="Nunito"/>
              <a:cs typeface="Nunito"/>
              <a:sym typeface="Nunito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" sz="1867" dirty="0">
                <a:solidFill>
                  <a:srgbClr val="1F9180"/>
                </a:solidFill>
                <a:latin typeface="Nunito"/>
                <a:ea typeface="Nunito"/>
                <a:cs typeface="Nunito"/>
                <a:sym typeface="Nunito"/>
              </a:rPr>
              <a:t>Electrical Machines &amp; Power Electronic Systems (EMPES) Lab</a:t>
            </a:r>
            <a:endParaRPr sz="1867" dirty="0">
              <a:solidFill>
                <a:srgbClr val="1F918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309233" y="3397218"/>
            <a:ext cx="5573600" cy="86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lnSpc>
                <a:spcPct val="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" sz="1867">
                <a:solidFill>
                  <a:srgbClr val="999999"/>
                </a:solidFill>
                <a:latin typeface="Nunito"/>
                <a:ea typeface="Nunito"/>
                <a:cs typeface="Nunito"/>
                <a:sym typeface="Nunito"/>
              </a:rPr>
              <a:t>Department of Energy Science and Engineering</a:t>
            </a:r>
            <a:endParaRPr sz="1867">
              <a:solidFill>
                <a:srgbClr val="999999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ctr">
              <a:lnSpc>
                <a:spcPct val="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" sz="1867">
                <a:solidFill>
                  <a:srgbClr val="999999"/>
                </a:solidFill>
                <a:latin typeface="Nunito"/>
                <a:ea typeface="Nunito"/>
                <a:cs typeface="Nunito"/>
                <a:sym typeface="Nunito"/>
              </a:rPr>
              <a:t>Indian Institute of Technology Bombay</a:t>
            </a:r>
            <a:endParaRPr sz="1867">
              <a:solidFill>
                <a:srgbClr val="99999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9167" y="4900402"/>
            <a:ext cx="1733700" cy="1690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1320" y="5256784"/>
            <a:ext cx="1996097" cy="9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05363" y="5283985"/>
            <a:ext cx="2611412" cy="92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2D05EF74-753A-1586-5E72-E3BB8FCE2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20B8748B-DF23-81DD-2F17-E6333D6360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64914" y="0"/>
            <a:ext cx="8062175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IN" dirty="0"/>
              <a:t>Converter Specifications</a:t>
            </a:r>
            <a:endParaRPr dirty="0">
              <a:solidFill>
                <a:srgbClr val="1F9180"/>
              </a:solidFill>
            </a:endParaRPr>
          </a:p>
        </p:txBody>
      </p:sp>
      <p:pic>
        <p:nvPicPr>
          <p:cNvPr id="68" name="Google Shape;68;p14">
            <a:extLst>
              <a:ext uri="{FF2B5EF4-FFF2-40B4-BE49-F238E27FC236}">
                <a16:creationId xmlns:a16="http://schemas.microsoft.com/office/drawing/2014/main" id="{5269008D-7F81-C9B8-AC92-C1692338DDB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48267" y="147830"/>
            <a:ext cx="479932" cy="467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>
            <a:extLst>
              <a:ext uri="{FF2B5EF4-FFF2-40B4-BE49-F238E27FC236}">
                <a16:creationId xmlns:a16="http://schemas.microsoft.com/office/drawing/2014/main" id="{1199B54F-FC0D-E0DB-52C9-8C688BD1A7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43667" y="95403"/>
            <a:ext cx="629200" cy="6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4A8017BA-2B3C-20EB-4C86-1B73D95C9D42}"/>
              </a:ext>
            </a:extLst>
          </p:cNvPr>
          <p:cNvSpPr txBox="1"/>
          <p:nvPr/>
        </p:nvSpPr>
        <p:spPr>
          <a:xfrm>
            <a:off x="4752367" y="1531567"/>
            <a:ext cx="2340800" cy="1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F59A4B-8A0E-5A60-92C4-FFCA38B467D3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698413"/>
          <a:ext cx="8128000" cy="395562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868065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32225706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Nunito" pitchFamily="2" charset="0"/>
                        </a:rPr>
                        <a:t>Parameter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Nunito" pitchFamily="2" charset="0"/>
                        </a:rPr>
                        <a:t>Value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103350173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Input voltage (V</a:t>
                      </a:r>
                      <a:r>
                        <a:rPr lang="en-IN" sz="1400" b="0" dirty="0">
                          <a:latin typeface="Nunito" pitchFamily="2" charset="0"/>
                        </a:rPr>
                        <a:t>in</a:t>
                      </a:r>
                      <a:r>
                        <a:rPr lang="en-IN" sz="1900" b="0" dirty="0">
                          <a:latin typeface="Nunito" pitchFamily="2" charset="0"/>
                        </a:rPr>
                        <a:t>)</a:t>
                      </a:r>
                      <a:endParaRPr lang="en-IN" sz="2400" b="0" dirty="0">
                        <a:latin typeface="Nunito" pitchFamily="2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20 V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657992302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Resonant tank inductor (L</a:t>
                      </a:r>
                      <a:r>
                        <a:rPr lang="en-IN" sz="1400" b="0" dirty="0">
                          <a:latin typeface="Nunito" pitchFamily="2" charset="0"/>
                        </a:rPr>
                        <a:t>r</a:t>
                      </a:r>
                      <a:r>
                        <a:rPr lang="en-IN" sz="1900" b="0" dirty="0">
                          <a:latin typeface="Nunito" pitchFamily="2" charset="0"/>
                        </a:rPr>
                        <a:t>)</a:t>
                      </a:r>
                      <a:endParaRPr lang="en-IN" sz="2400" b="0" dirty="0">
                        <a:latin typeface="Nunito" pitchFamily="2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84.142 µH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046975583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b="0" dirty="0">
                          <a:latin typeface="Nunito" pitchFamily="2" charset="0"/>
                        </a:rPr>
                        <a:t>Resonant tank capacitor (C</a:t>
                      </a:r>
                      <a:r>
                        <a:rPr lang="en-IN" sz="1400" b="0" dirty="0">
                          <a:latin typeface="Nunito" pitchFamily="2" charset="0"/>
                        </a:rPr>
                        <a:t>r</a:t>
                      </a:r>
                      <a:r>
                        <a:rPr lang="en-IN" sz="1900" b="0" dirty="0">
                          <a:latin typeface="Nunito" pitchFamily="2" charset="0"/>
                        </a:rPr>
                        <a:t>)</a:t>
                      </a:r>
                      <a:endParaRPr lang="en-IN" sz="2400" b="0" dirty="0">
                        <a:latin typeface="Nunito" pitchFamily="2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481.667 </a:t>
                      </a:r>
                      <a:r>
                        <a:rPr lang="en-IN" sz="2400" b="0" dirty="0" err="1">
                          <a:latin typeface="Nunito" pitchFamily="2" charset="0"/>
                        </a:rPr>
                        <a:t>nF</a:t>
                      </a:r>
                      <a:endParaRPr lang="en-IN" sz="2400" b="0" dirty="0">
                        <a:latin typeface="Nunito" pitchFamily="2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093627125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Resonant frequency (</a:t>
                      </a:r>
                      <a:r>
                        <a:rPr lang="en-IN" sz="2400" b="0" dirty="0" err="1">
                          <a:latin typeface="Nunito" pitchFamily="2" charset="0"/>
                        </a:rPr>
                        <a:t>f</a:t>
                      </a:r>
                      <a:r>
                        <a:rPr lang="en-IN" sz="1400" b="0" dirty="0" err="1">
                          <a:latin typeface="Nunito" pitchFamily="2" charset="0"/>
                        </a:rPr>
                        <a:t>r</a:t>
                      </a:r>
                      <a:r>
                        <a:rPr lang="en-IN" sz="1900" b="0" dirty="0">
                          <a:latin typeface="Nunito" pitchFamily="2" charset="0"/>
                        </a:rPr>
                        <a:t>)</a:t>
                      </a:r>
                      <a:endParaRPr lang="en-IN" sz="2400" b="0" dirty="0">
                        <a:latin typeface="Nunito" pitchFamily="2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25 kHz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331694954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Output inductor (L)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80 µH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988329218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Output capacitor (C) 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500 µF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265635480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Switches and Diodes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Ideal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633384886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6FE68071-C1A8-3346-E218-D417143DCA1E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4" name="Google Shape;68;p14">
              <a:extLst>
                <a:ext uri="{FF2B5EF4-FFF2-40B4-BE49-F238E27FC236}">
                  <a16:creationId xmlns:a16="http://schemas.microsoft.com/office/drawing/2014/main" id="{0DA773BD-6DA0-086A-664C-1E13A5EE2CB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70;p14">
              <a:extLst>
                <a:ext uri="{FF2B5EF4-FFF2-40B4-BE49-F238E27FC236}">
                  <a16:creationId xmlns:a16="http://schemas.microsoft.com/office/drawing/2014/main" id="{C130BCFA-3717-9AF2-F2CA-4F698014BE9E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48FBE-81ED-857F-A499-4C79ED00A8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89385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04694-35A2-EFD6-ACCE-AA38AAF56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62827" cy="763600"/>
          </a:xfrm>
        </p:spPr>
        <p:txBody>
          <a:bodyPr/>
          <a:lstStyle/>
          <a:p>
            <a:r>
              <a:rPr lang="en-IN" dirty="0"/>
              <a:t>DC-DC Series Resonant Converter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19E1B-9EA6-9C3B-F44A-EDA2CBB45C34}"/>
                  </a:ext>
                </a:extLst>
              </p:cNvPr>
              <p:cNvSpPr txBox="1"/>
              <p:nvPr/>
            </p:nvSpPr>
            <p:spPr>
              <a:xfrm>
                <a:off x="643732" y="1056487"/>
                <a:ext cx="3088359" cy="5423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80990" indent="-38099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Nunito" pitchFamily="2" charset="0"/>
                  </a:rPr>
                  <a:t>First Harmonic Approximation (FHA)</a:t>
                </a:r>
              </a:p>
              <a:p>
                <a:pPr marL="380990" indent="-380990">
                  <a:buFont typeface="Arial" panose="020B0604020202020204" pitchFamily="34" charset="0"/>
                  <a:buChar char="•"/>
                </a:pPr>
                <a:endParaRPr lang="en-IN" dirty="0">
                  <a:latin typeface="Nunito" pitchFamily="2" charset="0"/>
                </a:endParaRPr>
              </a:p>
              <a:p>
                <a:pPr marL="380990" indent="-38099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Nunito" pitchFamily="2" charset="0"/>
                  </a:rPr>
                  <a:t>Equivalent resistance</a:t>
                </a:r>
              </a:p>
              <a:p>
                <a:pPr marL="380990" indent="-380990">
                  <a:buFont typeface="Arial" panose="020B0604020202020204" pitchFamily="34" charset="0"/>
                  <a:buChar char="•"/>
                </a:pPr>
                <a:endParaRPr lang="en-IN" dirty="0">
                  <a:latin typeface="Nunito" pitchFamily="2" charset="0"/>
                </a:endParaRPr>
              </a:p>
              <a:p>
                <a:pPr algn="ctr"/>
                <a:r>
                  <a:rPr lang="en-IN" dirty="0" err="1">
                    <a:latin typeface="Nunito" pitchFamily="2" charset="0"/>
                  </a:rPr>
                  <a:t>R</a:t>
                </a:r>
                <a:r>
                  <a:rPr lang="en-IN" sz="1100" dirty="0" err="1">
                    <a:latin typeface="Nunito" pitchFamily="2" charset="0"/>
                  </a:rPr>
                  <a:t>eq</a:t>
                </a:r>
                <a:r>
                  <a:rPr lang="en-IN" dirty="0">
                    <a:latin typeface="Nunito" pitchFamily="2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IN" dirty="0">
                  <a:latin typeface="Nunito" pitchFamily="2" charset="0"/>
                </a:endParaRPr>
              </a:p>
              <a:p>
                <a:endParaRPr lang="en-IN" dirty="0">
                  <a:latin typeface="Nunito" pitchFamily="2" charset="0"/>
                </a:endParaRPr>
              </a:p>
              <a:p>
                <a:pPr marL="380990" indent="-38099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Nunito" pitchFamily="2" charset="0"/>
                  </a:rPr>
                  <a:t>Resonant frequency</a:t>
                </a:r>
              </a:p>
              <a:p>
                <a:endParaRPr lang="en-IN" dirty="0">
                  <a:latin typeface="Nunito" pitchFamily="2" charset="0"/>
                </a:endParaRPr>
              </a:p>
              <a:p>
                <a:pPr algn="ctr"/>
                <a:r>
                  <a:rPr lang="en-IN" dirty="0" err="1">
                    <a:latin typeface="Nunito" pitchFamily="2" charset="0"/>
                  </a:rPr>
                  <a:t>f</a:t>
                </a:r>
                <a:r>
                  <a:rPr lang="en-IN" sz="1100" dirty="0" err="1">
                    <a:latin typeface="Nunito" pitchFamily="2" charset="0"/>
                  </a:rPr>
                  <a:t>r</a:t>
                </a:r>
                <a:r>
                  <a:rPr lang="en-IN" dirty="0">
                    <a:latin typeface="Nunito" pitchFamily="2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</a:rPr>
                          <m:t>π</m:t>
                        </m:r>
                        <m:rad>
                          <m:radPr>
                            <m:degHide m:val="on"/>
                            <m:ctrlPr>
                              <a:rPr lang="el-G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endParaRPr lang="en-IN" dirty="0">
                  <a:latin typeface="Nunito" pitchFamily="2" charset="0"/>
                </a:endParaRPr>
              </a:p>
              <a:p>
                <a:endParaRPr lang="en-IN" dirty="0">
                  <a:latin typeface="Nunito" pitchFamily="2" charset="0"/>
                </a:endParaRPr>
              </a:p>
              <a:p>
                <a:pPr marL="380990" indent="-38099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Nunito" pitchFamily="2" charset="0"/>
                  </a:rPr>
                  <a:t>Voltage gain </a:t>
                </a:r>
              </a:p>
              <a:p>
                <a:pPr marL="380990" indent="-380990">
                  <a:buFont typeface="Arial" panose="020B0604020202020204" pitchFamily="34" charset="0"/>
                  <a:buChar char="•"/>
                </a:pPr>
                <a:endParaRPr lang="en-IN" dirty="0">
                  <a:latin typeface="Nunito" pitchFamily="2" charset="0"/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𝐶𝐷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𝐴𝐵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>
                    <a:latin typeface="Nunito" pitchFamily="2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𝑒𝑞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𝑒𝑞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 + (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+  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  <m:r>
                          <a:rPr lang="en-IN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IN" dirty="0">
                  <a:latin typeface="Nunito" pitchFamily="2" charset="0"/>
                </a:endParaRPr>
              </a:p>
              <a:p>
                <a:endParaRPr lang="en-IN" dirty="0">
                  <a:latin typeface="Nunito" pitchFamily="2" charset="0"/>
                </a:endParaRPr>
              </a:p>
              <a:p>
                <a:pPr algn="ctr"/>
                <a:r>
                  <a:rPr lang="en-IN" dirty="0">
                    <a:latin typeface="Nunito" pitchFamily="2" charset="0"/>
                  </a:rPr>
                  <a:t>G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>
                    <a:latin typeface="Nunito" pitchFamily="2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+ </m:t>
                            </m:r>
                            <m:sSubSup>
                              <m:sSubSup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IN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l-GR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ω</m:t>
                                            </m:r>
                                          </m:e>
                                          <m:sub>
                                            <m:r>
                                              <a:rPr lang="en-IN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IN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l-GR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ω</m:t>
                                            </m:r>
                                          </m:e>
                                          <m:sub>
                                            <m:r>
                                              <a:rPr lang="en-IN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−  </m:t>
                                    </m:r>
                                    <m:f>
                                      <m:f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IN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l-GR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ω</m:t>
                                            </m:r>
                                          </m:e>
                                          <m:sub>
                                            <m:r>
                                              <a:rPr lang="en-IN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IN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l-GR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ω</m:t>
                                            </m:r>
                                          </m:e>
                                          <m:sub>
                                            <m:r>
                                              <a:rPr lang="en-IN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endParaRPr lang="en-IN" dirty="0">
                  <a:latin typeface="Nunito" pitchFamily="2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19E1B-9EA6-9C3B-F44A-EDA2CBB45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32" y="1056487"/>
                <a:ext cx="3088359" cy="5423536"/>
              </a:xfrm>
              <a:prstGeom prst="rect">
                <a:avLst/>
              </a:prstGeom>
              <a:blipFill>
                <a:blip r:embed="rId3"/>
                <a:stretch>
                  <a:fillRect l="-1383" t="-5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FD82E9E-7606-6253-68AF-41CC0AE458D0}"/>
              </a:ext>
            </a:extLst>
          </p:cNvPr>
          <p:cNvSpPr txBox="1"/>
          <p:nvPr/>
        </p:nvSpPr>
        <p:spPr>
          <a:xfrm>
            <a:off x="6872231" y="5815670"/>
            <a:ext cx="20924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Nunito" pitchFamily="2" charset="0"/>
              </a:rPr>
              <a:t>Equivalent circuit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37F1BF6-8FE2-3EE6-BEC7-2918CE582C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3457" y="4372444"/>
            <a:ext cx="2809004" cy="1298787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65A8ECC-DF8B-33CA-1DAE-8DBEA796EE24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7" name="Google Shape;68;p14">
              <a:extLst>
                <a:ext uri="{FF2B5EF4-FFF2-40B4-BE49-F238E27FC236}">
                  <a16:creationId xmlns:a16="http://schemas.microsoft.com/office/drawing/2014/main" id="{824329D4-5D88-F3B3-2ABE-0040FAC67F91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70;p14">
              <a:extLst>
                <a:ext uri="{FF2B5EF4-FFF2-40B4-BE49-F238E27FC236}">
                  <a16:creationId xmlns:a16="http://schemas.microsoft.com/office/drawing/2014/main" id="{6A1A70F2-66C6-89FD-84CA-A1C1C48AC161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CC6AB4D7-F7E4-E82B-10A4-F27B69097953}"/>
              </a:ext>
            </a:extLst>
          </p:cNvPr>
          <p:cNvSpPr/>
          <p:nvPr/>
        </p:nvSpPr>
        <p:spPr>
          <a:xfrm>
            <a:off x="716794" y="5606943"/>
            <a:ext cx="3149600" cy="897163"/>
          </a:xfrm>
          <a:prstGeom prst="rect">
            <a:avLst/>
          </a:prstGeom>
          <a:noFill/>
          <a:ln w="12700">
            <a:solidFill>
              <a:srgbClr val="1F91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112788-6C3F-04C3-353A-73EDD2757B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C68B6D7-CEC6-82B3-1A36-FF5184CB80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3533" y="927272"/>
            <a:ext cx="6464735" cy="258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629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B74C5-91C8-00AE-DECA-2DBE332F3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Gain vs. switching frequency curve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C0A0C5-625A-4580-8BA7-2DC20818F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000" y="941484"/>
            <a:ext cx="8160000" cy="4975032"/>
          </a:xfrm>
          <a:prstGeom prst="rect">
            <a:avLst/>
          </a:prstGeom>
          <a:ln w="12700">
            <a:solidFill>
              <a:srgbClr val="1F9180"/>
            </a:solidFill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E011D6-06A8-CF3C-6F0A-54FBB0186F81}"/>
              </a:ext>
            </a:extLst>
          </p:cNvPr>
          <p:cNvCxnSpPr>
            <a:cxnSpLocks/>
          </p:cNvCxnSpPr>
          <p:nvPr/>
        </p:nvCxnSpPr>
        <p:spPr>
          <a:xfrm flipV="1">
            <a:off x="8697513" y="1329535"/>
            <a:ext cx="1784296" cy="564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ABF5A2-68FF-07CA-EC26-704EB97D39F2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7044879" y="3674988"/>
            <a:ext cx="3375326" cy="1713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F032284-6310-0AF0-C696-C866AAAD39B8}"/>
              </a:ext>
            </a:extLst>
          </p:cNvPr>
          <p:cNvSpPr txBox="1"/>
          <p:nvPr/>
        </p:nvSpPr>
        <p:spPr>
          <a:xfrm>
            <a:off x="10586629" y="1092315"/>
            <a:ext cx="1511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Light load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A96344-BC60-9671-998D-11DF0FF4A328}"/>
              </a:ext>
            </a:extLst>
          </p:cNvPr>
          <p:cNvSpPr txBox="1"/>
          <p:nvPr/>
        </p:nvSpPr>
        <p:spPr>
          <a:xfrm>
            <a:off x="10420205" y="3259489"/>
            <a:ext cx="15115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Heavy load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133787A-6E69-FD12-6B3F-A34EB69C2935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4" name="Google Shape;68;p14">
              <a:extLst>
                <a:ext uri="{FF2B5EF4-FFF2-40B4-BE49-F238E27FC236}">
                  <a16:creationId xmlns:a16="http://schemas.microsoft.com/office/drawing/2014/main" id="{ADBFFECC-122A-0161-768E-3A5D3CC2324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70;p14">
              <a:extLst>
                <a:ext uri="{FF2B5EF4-FFF2-40B4-BE49-F238E27FC236}">
                  <a16:creationId xmlns:a16="http://schemas.microsoft.com/office/drawing/2014/main" id="{54B500B7-2454-83EB-41A0-B2F72F68447C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CC4D88-9B6B-3DDB-CE80-186007CB80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63900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8A12C-0DEE-EE7E-4FAF-04AF8E154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5992969" cy="763600"/>
          </a:xfrm>
        </p:spPr>
        <p:txBody>
          <a:bodyPr/>
          <a:lstStyle/>
          <a:p>
            <a:r>
              <a:rPr lang="en-IN" dirty="0"/>
              <a:t>Analytical vs. Simulated Gain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7A1855-805F-7191-1CF9-6774D1EB4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0" y="824715"/>
            <a:ext cx="9600000" cy="520857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7CB5F41-38EA-BF8C-B9B0-5C2B22206B2E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4" name="Google Shape;68;p14">
              <a:extLst>
                <a:ext uri="{FF2B5EF4-FFF2-40B4-BE49-F238E27FC236}">
                  <a16:creationId xmlns:a16="http://schemas.microsoft.com/office/drawing/2014/main" id="{F9B348F8-6FA5-CD07-5877-EDF8C822593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70;p14">
              <a:extLst>
                <a:ext uri="{FF2B5EF4-FFF2-40B4-BE49-F238E27FC236}">
                  <a16:creationId xmlns:a16="http://schemas.microsoft.com/office/drawing/2014/main" id="{7CF65B6C-5339-8C0B-F366-873EF234217E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7DA6E76-3E4A-C624-280A-FF4557DC694C}"/>
              </a:ext>
            </a:extLst>
          </p:cNvPr>
          <p:cNvCxnSpPr/>
          <p:nvPr/>
        </p:nvCxnSpPr>
        <p:spPr>
          <a:xfrm flipV="1">
            <a:off x="4576293" y="1906074"/>
            <a:ext cx="910107" cy="558084"/>
          </a:xfrm>
          <a:prstGeom prst="straightConnector1">
            <a:avLst/>
          </a:prstGeom>
          <a:ln>
            <a:solidFill>
              <a:srgbClr val="E896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E43507A-F909-525E-AF0D-29164A05B99E}"/>
              </a:ext>
            </a:extLst>
          </p:cNvPr>
          <p:cNvSpPr txBox="1"/>
          <p:nvPr/>
        </p:nvSpPr>
        <p:spPr>
          <a:xfrm>
            <a:off x="5494986" y="1631327"/>
            <a:ext cx="13308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Light load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C08D0E0-8F12-1B26-B0DF-7391D68ED77B}"/>
              </a:ext>
            </a:extLst>
          </p:cNvPr>
          <p:cNvCxnSpPr/>
          <p:nvPr/>
        </p:nvCxnSpPr>
        <p:spPr>
          <a:xfrm flipV="1">
            <a:off x="4086896" y="3545983"/>
            <a:ext cx="2438400" cy="1682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0FB5A71-AAA8-8569-6A77-33B2BC19244A}"/>
              </a:ext>
            </a:extLst>
          </p:cNvPr>
          <p:cNvSpPr txBox="1"/>
          <p:nvPr/>
        </p:nvSpPr>
        <p:spPr>
          <a:xfrm>
            <a:off x="6525298" y="3223815"/>
            <a:ext cx="1493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Heavy load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877F321-FD36-5304-972B-FE8E2B4301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49629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09DB2-30C1-64EF-25D5-703ADBA31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8120644" cy="763600"/>
          </a:xfrm>
        </p:spPr>
        <p:txBody>
          <a:bodyPr/>
          <a:lstStyle/>
          <a:p>
            <a:r>
              <a:rPr lang="en-IN" dirty="0"/>
              <a:t>Analytical vs. Simulated Gain (R = 0.2 </a:t>
            </a:r>
            <a:r>
              <a:rPr lang="el-GR" dirty="0"/>
              <a:t>Ω</a:t>
            </a:r>
            <a:r>
              <a:rPr lang="en-IN" dirty="0"/>
              <a:t>)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207D253-7897-6835-0F3B-8E9A3DD00BDA}"/>
              </a:ext>
            </a:extLst>
          </p:cNvPr>
          <p:cNvGraphicFramePr>
            <a:graphicFrameLocks noGrp="1"/>
          </p:cNvGraphicFramePr>
          <p:nvPr/>
        </p:nvGraphicFramePr>
        <p:xfrm>
          <a:off x="7866483" y="851053"/>
          <a:ext cx="4320000" cy="5520001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75052">
                  <a:extLst>
                    <a:ext uri="{9D8B030D-6E8A-4147-A177-3AD203B41FA5}">
                      <a16:colId xmlns:a16="http://schemas.microsoft.com/office/drawing/2014/main" val="4120937733"/>
                    </a:ext>
                  </a:extLst>
                </a:gridCol>
                <a:gridCol w="755927">
                  <a:extLst>
                    <a:ext uri="{9D8B030D-6E8A-4147-A177-3AD203B41FA5}">
                      <a16:colId xmlns:a16="http://schemas.microsoft.com/office/drawing/2014/main" val="1041358708"/>
                    </a:ext>
                  </a:extLst>
                </a:gridCol>
                <a:gridCol w="865212">
                  <a:extLst>
                    <a:ext uri="{9D8B030D-6E8A-4147-A177-3AD203B41FA5}">
                      <a16:colId xmlns:a16="http://schemas.microsoft.com/office/drawing/2014/main" val="2313612964"/>
                    </a:ext>
                  </a:extLst>
                </a:gridCol>
                <a:gridCol w="1423809">
                  <a:extLst>
                    <a:ext uri="{9D8B030D-6E8A-4147-A177-3AD203B41FA5}">
                      <a16:colId xmlns:a16="http://schemas.microsoft.com/office/drawing/2014/main" val="1717163269"/>
                    </a:ext>
                  </a:extLst>
                </a:gridCol>
              </a:tblGrid>
              <a:tr h="3536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Heavy Load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8536" marR="128536" marT="64268" marB="64268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3249718733"/>
                  </a:ext>
                </a:extLst>
              </a:tr>
              <a:tr h="353687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Analytical vs. Simulated (R = 0.2 ohm Q = 81.529)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8536" marR="128536" marT="64268" marB="64268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1354102"/>
                  </a:ext>
                </a:extLst>
              </a:tr>
              <a:tr h="1937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1121053595"/>
                  </a:ext>
                </a:extLst>
              </a:tr>
              <a:tr h="3560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fs (kHz)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Gain (calc)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Gain (</a:t>
                      </a:r>
                      <a:r>
                        <a:rPr lang="en-IN" sz="1100" b="1" u="none" strike="noStrike" dirty="0" err="1">
                          <a:effectLst/>
                        </a:rPr>
                        <a:t>simu</a:t>
                      </a:r>
                      <a:r>
                        <a:rPr lang="en-IN" sz="1100" b="1" u="none" strike="noStrike" dirty="0">
                          <a:effectLst/>
                        </a:rPr>
                        <a:t>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Error %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2226470271"/>
                  </a:ext>
                </a:extLst>
              </a:tr>
              <a:tr h="1937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0.0026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0.1932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98.6774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3422037103"/>
                  </a:ext>
                </a:extLst>
              </a:tr>
              <a:tr h="1937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0.0058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0.0125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53.2748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1598239607"/>
                  </a:ext>
                </a:extLst>
              </a:tr>
              <a:tr h="1937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0.0115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0.0125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8.0143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3303518835"/>
                  </a:ext>
                </a:extLst>
              </a:tr>
              <a:tr h="1937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0.0272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0.0278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1.9903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826228736"/>
                  </a:ext>
                </a:extLst>
              </a:tr>
              <a:tr h="1937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25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1.0000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0.9986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0.1402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496392350"/>
                  </a:ext>
                </a:extLst>
              </a:tr>
              <a:tr h="1937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0.0334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0.0331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1.0056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2245954063"/>
                  </a:ext>
                </a:extLst>
              </a:tr>
              <a:tr h="1937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0.0179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0.0176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1.6160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3009872770"/>
                  </a:ext>
                </a:extLst>
              </a:tr>
              <a:tr h="1937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40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0.0126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0.0123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2.2689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369979514"/>
                  </a:ext>
                </a:extLst>
              </a:tr>
              <a:tr h="1937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50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0.0082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2.2096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276188566"/>
                  </a:ext>
                </a:extLst>
              </a:tr>
              <a:tr h="1937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60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0.0062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3.0700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3268974248"/>
                  </a:ext>
                </a:extLst>
              </a:tr>
              <a:tr h="1937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80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0.0042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0.0041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3.6043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1744773081"/>
                  </a:ext>
                </a:extLst>
              </a:tr>
              <a:tr h="1937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100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0.0033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0.0032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2.2125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353864099"/>
                  </a:ext>
                </a:extLst>
              </a:tr>
              <a:tr h="1937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120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0.0027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0.0026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2.7406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498670761"/>
                  </a:ext>
                </a:extLst>
              </a:tr>
              <a:tr h="1937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140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0.0022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2.8371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1895804249"/>
                  </a:ext>
                </a:extLst>
              </a:tr>
              <a:tr h="1937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160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3.3922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2188500300"/>
                  </a:ext>
                </a:extLst>
              </a:tr>
              <a:tr h="1937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180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2.1798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1167036395"/>
                  </a:ext>
                </a:extLst>
              </a:tr>
              <a:tr h="1937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200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3.8353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3611707112"/>
                  </a:ext>
                </a:extLst>
              </a:tr>
              <a:tr h="1937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220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0.8605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2439367787"/>
                  </a:ext>
                </a:extLst>
              </a:tr>
              <a:tr h="1937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240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0.6402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600582111"/>
                  </a:ext>
                </a:extLst>
              </a:tr>
              <a:tr h="1937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260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0.8012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2982957891"/>
                  </a:ext>
                </a:extLst>
              </a:tr>
              <a:tr h="1937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280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0.3581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247908605"/>
                  </a:ext>
                </a:extLst>
              </a:tr>
              <a:tr h="1937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300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2.9278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81" marR="5981" marT="5981" marB="0" anchor="ctr"/>
                </a:tc>
                <a:extLst>
                  <a:ext uri="{0D108BD9-81ED-4DB2-BD59-A6C34878D82A}">
                    <a16:rowId xmlns:a16="http://schemas.microsoft.com/office/drawing/2014/main" val="2186760571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A80A97E1-C717-E683-21DB-F0353809E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7" y="1194462"/>
            <a:ext cx="7507200" cy="446907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9A76803-F075-C4FA-0F08-26FE09BB2568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4" name="Google Shape;68;p14">
              <a:extLst>
                <a:ext uri="{FF2B5EF4-FFF2-40B4-BE49-F238E27FC236}">
                  <a16:creationId xmlns:a16="http://schemas.microsoft.com/office/drawing/2014/main" id="{8CF811A5-56FD-7D87-2867-057D8EDD182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70;p14">
              <a:extLst>
                <a:ext uri="{FF2B5EF4-FFF2-40B4-BE49-F238E27FC236}">
                  <a16:creationId xmlns:a16="http://schemas.microsoft.com/office/drawing/2014/main" id="{4F699DF9-47BF-F0E9-FA8B-5FFF2D7F156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025756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5B22784-DED5-670C-572E-E134E6010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186F3-D859-FCA6-C5CA-49A2CED4D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010309" cy="763600"/>
          </a:xfrm>
        </p:spPr>
        <p:txBody>
          <a:bodyPr/>
          <a:lstStyle/>
          <a:p>
            <a:r>
              <a:rPr lang="en-IN" dirty="0"/>
              <a:t>Analytical vs. Simulated Gain (R = 10 </a:t>
            </a:r>
            <a:r>
              <a:rPr lang="el-GR" dirty="0"/>
              <a:t>Ω</a:t>
            </a:r>
            <a:r>
              <a:rPr lang="en-IN" dirty="0"/>
              <a:t>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75296A-6B51-B39C-2B7C-D9E9FDB81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" y="1269001"/>
            <a:ext cx="7507200" cy="4578465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28238FB-FAA7-9216-61B4-075108660379}"/>
              </a:ext>
            </a:extLst>
          </p:cNvPr>
          <p:cNvGraphicFramePr>
            <a:graphicFrameLocks noGrp="1"/>
          </p:cNvGraphicFramePr>
          <p:nvPr/>
        </p:nvGraphicFramePr>
        <p:xfrm>
          <a:off x="7866358" y="762488"/>
          <a:ext cx="4319999" cy="552000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12151">
                  <a:extLst>
                    <a:ext uri="{9D8B030D-6E8A-4147-A177-3AD203B41FA5}">
                      <a16:colId xmlns:a16="http://schemas.microsoft.com/office/drawing/2014/main" val="213221987"/>
                    </a:ext>
                  </a:extLst>
                </a:gridCol>
                <a:gridCol w="710887">
                  <a:extLst>
                    <a:ext uri="{9D8B030D-6E8A-4147-A177-3AD203B41FA5}">
                      <a16:colId xmlns:a16="http://schemas.microsoft.com/office/drawing/2014/main" val="1656024903"/>
                    </a:ext>
                  </a:extLst>
                </a:gridCol>
                <a:gridCol w="802025">
                  <a:extLst>
                    <a:ext uri="{9D8B030D-6E8A-4147-A177-3AD203B41FA5}">
                      <a16:colId xmlns:a16="http://schemas.microsoft.com/office/drawing/2014/main" val="2541235510"/>
                    </a:ext>
                  </a:extLst>
                </a:gridCol>
                <a:gridCol w="1594936">
                  <a:extLst>
                    <a:ext uri="{9D8B030D-6E8A-4147-A177-3AD203B41FA5}">
                      <a16:colId xmlns:a16="http://schemas.microsoft.com/office/drawing/2014/main" val="3517571036"/>
                    </a:ext>
                  </a:extLst>
                </a:gridCol>
              </a:tblGrid>
              <a:tr h="3243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Light Load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625" marR="152625" marT="76313" marB="76313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94971430"/>
                  </a:ext>
                </a:extLst>
              </a:tr>
              <a:tr h="324317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Analytical vs. Simulated (R = 10 ohm Q = 1.631)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625" marR="152625" marT="76313" marB="7631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309281"/>
                  </a:ext>
                </a:extLst>
              </a:tr>
              <a:tr h="1961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28404210"/>
                  </a:ext>
                </a:extLst>
              </a:tr>
              <a:tr h="3604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fs (kHz)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Gain (calc)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Gain (simu)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Error %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90901868"/>
                  </a:ext>
                </a:extLst>
              </a:tr>
              <a:tr h="1961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0.1267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0.333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61.9411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83188296"/>
                  </a:ext>
                </a:extLst>
              </a:tr>
              <a:tr h="1961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0.2803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0.3854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27.2632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59740951"/>
                  </a:ext>
                </a:extLst>
              </a:tr>
              <a:tr h="1961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0.4984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0.6069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17.8716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27661103"/>
                  </a:ext>
                </a:extLst>
              </a:tr>
              <a:tr h="1961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0.8062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0.9182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12.1934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92955502"/>
                  </a:ext>
                </a:extLst>
              </a:tr>
              <a:tr h="1961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25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1.0000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1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0.0000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86933711"/>
                  </a:ext>
                </a:extLst>
              </a:tr>
              <a:tr h="1961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0.8583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0.8099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5.9754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89194376"/>
                  </a:ext>
                </a:extLst>
              </a:tr>
              <a:tr h="1961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0.6666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8.0455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6926419"/>
                  </a:ext>
                </a:extLst>
              </a:tr>
              <a:tr h="1961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0.5324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0.4939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7.8019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59931452"/>
                  </a:ext>
                </a:extLst>
              </a:tr>
              <a:tr h="1961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0.3784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0.3551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6.5738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4724678"/>
                  </a:ext>
                </a:extLst>
              </a:tr>
              <a:tr h="1961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0.2954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0.2797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5.6186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08242488"/>
                  </a:ext>
                </a:extLst>
              </a:tr>
              <a:tr h="1961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0.2078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0.1987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4.5579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5287779"/>
                  </a:ext>
                </a:extLst>
              </a:tr>
              <a:tr h="1961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0.1614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0.1551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4.0598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95241529"/>
                  </a:ext>
                </a:extLst>
              </a:tr>
              <a:tr h="1961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0.1324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0.1275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3.8335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9220302"/>
                  </a:ext>
                </a:extLst>
              </a:tr>
              <a:tr h="1961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0.1124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0.1084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3.6940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96020092"/>
                  </a:ext>
                </a:extLst>
              </a:tr>
              <a:tr h="1961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160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0.0978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0.0944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3.5512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47787065"/>
                  </a:ext>
                </a:extLst>
              </a:tr>
              <a:tr h="1961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180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0.0865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0.0836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3.5014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95795506"/>
                  </a:ext>
                </a:extLst>
              </a:tr>
              <a:tr h="1961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0.0776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0.0751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3.3842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56908294"/>
                  </a:ext>
                </a:extLst>
              </a:tr>
              <a:tr h="1961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0.0704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0.0681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3.4172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47363100"/>
                  </a:ext>
                </a:extLst>
              </a:tr>
              <a:tr h="1961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0.0644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0.0624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3.2847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23055928"/>
                  </a:ext>
                </a:extLst>
              </a:tr>
              <a:tr h="1961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260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0.0594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0.0575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3.3290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9328718"/>
                  </a:ext>
                </a:extLst>
              </a:tr>
              <a:tr h="1961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280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0.0551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0.0533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3.4017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90681679"/>
                  </a:ext>
                </a:extLst>
              </a:tr>
              <a:tr h="1961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300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0.0514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0.0498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3.2046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6" marR="5956" marT="5956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5343496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B12B246C-D066-3C84-42FA-C8F3D6CA2CCA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4" name="Google Shape;68;p14">
              <a:extLst>
                <a:ext uri="{FF2B5EF4-FFF2-40B4-BE49-F238E27FC236}">
                  <a16:creationId xmlns:a16="http://schemas.microsoft.com/office/drawing/2014/main" id="{B4F585D9-E920-05F2-4A51-585CC7212DB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70;p14">
              <a:extLst>
                <a:ext uri="{FF2B5EF4-FFF2-40B4-BE49-F238E27FC236}">
                  <a16:creationId xmlns:a16="http://schemas.microsoft.com/office/drawing/2014/main" id="{49501859-A4D4-B627-A846-66FFFB7B991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056961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8852F-2215-5E84-087A-0D1C8AD33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Irregularities (SRC)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6FA85D-54E5-D1E4-89F6-3D8F8B444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68" y="1803973"/>
            <a:ext cx="4800000" cy="284387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3955698-6C95-7413-1956-176413BAB054}"/>
              </a:ext>
            </a:extLst>
          </p:cNvPr>
          <p:cNvCxnSpPr>
            <a:cxnSpLocks/>
          </p:cNvCxnSpPr>
          <p:nvPr/>
        </p:nvCxnSpPr>
        <p:spPr>
          <a:xfrm flipV="1">
            <a:off x="2670628" y="1279885"/>
            <a:ext cx="1748283" cy="957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F292403-0CE1-2386-F7AF-3045628A578E}"/>
              </a:ext>
            </a:extLst>
          </p:cNvPr>
          <p:cNvSpPr txBox="1"/>
          <p:nvPr/>
        </p:nvSpPr>
        <p:spPr>
          <a:xfrm>
            <a:off x="4418911" y="1015082"/>
            <a:ext cx="11427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Nunito" pitchFamily="2" charset="0"/>
              </a:rPr>
              <a:t>0.1932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9547E84-52FF-49CA-FB17-C5192148F573}"/>
              </a:ext>
            </a:extLst>
          </p:cNvPr>
          <p:cNvCxnSpPr>
            <a:cxnSpLocks/>
          </p:cNvCxnSpPr>
          <p:nvPr/>
        </p:nvCxnSpPr>
        <p:spPr>
          <a:xfrm flipV="1">
            <a:off x="2651276" y="1676933"/>
            <a:ext cx="2964768" cy="1775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B7BD5DA-26FB-E1A3-F5B9-7B71155461A9}"/>
              </a:ext>
            </a:extLst>
          </p:cNvPr>
          <p:cNvSpPr txBox="1"/>
          <p:nvPr/>
        </p:nvSpPr>
        <p:spPr>
          <a:xfrm>
            <a:off x="5555868" y="1435999"/>
            <a:ext cx="1241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Nunito" pitchFamily="2" charset="0"/>
              </a:rPr>
              <a:t>0.0026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DA1267-308A-C44B-1981-CAECAA2932D5}"/>
              </a:ext>
            </a:extLst>
          </p:cNvPr>
          <p:cNvSpPr txBox="1"/>
          <p:nvPr/>
        </p:nvSpPr>
        <p:spPr>
          <a:xfrm>
            <a:off x="2071865" y="4975883"/>
            <a:ext cx="2466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Nunito" pitchFamily="2" charset="0"/>
              </a:rPr>
              <a:t>Error = 98.68 %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F2B7BD-F30B-8D37-675C-697830F2C7B5}"/>
              </a:ext>
            </a:extLst>
          </p:cNvPr>
          <p:cNvSpPr txBox="1"/>
          <p:nvPr/>
        </p:nvSpPr>
        <p:spPr>
          <a:xfrm>
            <a:off x="7007160" y="871453"/>
            <a:ext cx="38277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1F9180"/>
                </a:solidFill>
                <a:latin typeface="Nunito" pitchFamily="2" charset="0"/>
              </a:rPr>
              <a:t>Let’s change the loading conditions at 5 kHz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B97FF14-FAFB-13E6-364C-B02250012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236901"/>
              </p:ext>
            </p:extLst>
          </p:nvPr>
        </p:nvGraphicFramePr>
        <p:xfrm>
          <a:off x="7007159" y="1960424"/>
          <a:ext cx="4603748" cy="4267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150937">
                  <a:extLst>
                    <a:ext uri="{9D8B030D-6E8A-4147-A177-3AD203B41FA5}">
                      <a16:colId xmlns:a16="http://schemas.microsoft.com/office/drawing/2014/main" val="380576113"/>
                    </a:ext>
                  </a:extLst>
                </a:gridCol>
                <a:gridCol w="1150937">
                  <a:extLst>
                    <a:ext uri="{9D8B030D-6E8A-4147-A177-3AD203B41FA5}">
                      <a16:colId xmlns:a16="http://schemas.microsoft.com/office/drawing/2014/main" val="1061774348"/>
                    </a:ext>
                  </a:extLst>
                </a:gridCol>
                <a:gridCol w="1150937">
                  <a:extLst>
                    <a:ext uri="{9D8B030D-6E8A-4147-A177-3AD203B41FA5}">
                      <a16:colId xmlns:a16="http://schemas.microsoft.com/office/drawing/2014/main" val="3691312509"/>
                    </a:ext>
                  </a:extLst>
                </a:gridCol>
                <a:gridCol w="1150937">
                  <a:extLst>
                    <a:ext uri="{9D8B030D-6E8A-4147-A177-3AD203B41FA5}">
                      <a16:colId xmlns:a16="http://schemas.microsoft.com/office/drawing/2014/main" val="1508443350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Nunito" pitchFamily="2" charset="0"/>
                        </a:rPr>
                        <a:t>R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Nunito" pitchFamily="2" charset="0"/>
                        </a:rPr>
                        <a:t>Gain (calc)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Nunito" pitchFamily="2" charset="0"/>
                        </a:rPr>
                        <a:t>Gain (sim)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Nunito" pitchFamily="2" charset="0"/>
                        </a:rPr>
                        <a:t>Error 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353870485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Nunito" pitchFamily="2" charset="0"/>
                        </a:rPr>
                        <a:t>0.1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Nunito" pitchFamily="2" charset="0"/>
                        </a:rPr>
                        <a:t>0.0013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Nunito" pitchFamily="2" charset="0"/>
                        </a:rPr>
                        <a:t>0.1818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Nunito" pitchFamily="2" charset="0"/>
                        </a:rPr>
                        <a:t>99.28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774996538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Nunito" pitchFamily="2" charset="0"/>
                        </a:rPr>
                        <a:t>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Nunito" pitchFamily="2" charset="0"/>
                        </a:rPr>
                        <a:t>0.0128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Nunito" pitchFamily="2" charset="0"/>
                        </a:rPr>
                        <a:t>0.1997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Nunito" pitchFamily="2" charset="0"/>
                        </a:rPr>
                        <a:t>93.59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715420907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Nunito" pitchFamily="2" charset="0"/>
                        </a:rPr>
                        <a:t>5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Nunito" pitchFamily="2" charset="0"/>
                        </a:rPr>
                        <a:t>0.0638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Nunito" pitchFamily="2" charset="0"/>
                        </a:rPr>
                        <a:t>0.2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Nunito" pitchFamily="2" charset="0"/>
                        </a:rPr>
                        <a:t>68.1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426506978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Nunito" pitchFamily="2" charset="0"/>
                        </a:rPr>
                        <a:t>10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Nunito" pitchFamily="2" charset="0"/>
                        </a:rPr>
                        <a:t>0.1267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Nunito" pitchFamily="2" charset="0"/>
                        </a:rPr>
                        <a:t>0.333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Nunito" pitchFamily="2" charset="0"/>
                        </a:rPr>
                        <a:t>61.95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279457888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37FC2192-D80A-2FB0-95AE-63A2B794D38D}"/>
              </a:ext>
            </a:extLst>
          </p:cNvPr>
          <p:cNvSpPr txBox="1"/>
          <p:nvPr/>
        </p:nvSpPr>
        <p:spPr>
          <a:xfrm>
            <a:off x="976463" y="1130933"/>
            <a:ext cx="1674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At R = 0.2 </a:t>
            </a:r>
            <a:r>
              <a:rPr lang="el-GR" sz="2400" dirty="0"/>
              <a:t>Ω</a:t>
            </a:r>
            <a:endParaRPr lang="en-IN" sz="2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5092661-760F-86E7-EB64-064F4D0D144D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4" name="Google Shape;68;p14">
              <a:extLst>
                <a:ext uri="{FF2B5EF4-FFF2-40B4-BE49-F238E27FC236}">
                  <a16:creationId xmlns:a16="http://schemas.microsoft.com/office/drawing/2014/main" id="{9C2CD317-A5E0-D78A-6D3B-6171D91C98B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70;p14">
              <a:extLst>
                <a:ext uri="{FF2B5EF4-FFF2-40B4-BE49-F238E27FC236}">
                  <a16:creationId xmlns:a16="http://schemas.microsoft.com/office/drawing/2014/main" id="{27A84572-BE31-B1A3-DD10-2FE92B1C5873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3F47A-2CAC-7B5E-1FCF-F4B4EA95A3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5750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19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ED42E-DA39-33CC-C738-976010862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039" y="0"/>
            <a:ext cx="7022812" cy="763600"/>
          </a:xfrm>
        </p:spPr>
        <p:txBody>
          <a:bodyPr>
            <a:normAutofit/>
          </a:bodyPr>
          <a:lstStyle/>
          <a:p>
            <a:r>
              <a:rPr lang="en-IN" sz="2800" dirty="0"/>
              <a:t>Key Observations and Inferences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549760-299D-577E-AC1F-1F97EBC60C1F}"/>
              </a:ext>
            </a:extLst>
          </p:cNvPr>
          <p:cNvSpPr txBox="1"/>
          <p:nvPr/>
        </p:nvSpPr>
        <p:spPr>
          <a:xfrm>
            <a:off x="5619125" y="1307179"/>
            <a:ext cx="6318371" cy="3416320"/>
          </a:xfrm>
          <a:prstGeom prst="rect">
            <a:avLst/>
          </a:prstGeom>
          <a:noFill/>
          <a:ln w="12700">
            <a:solidFill>
              <a:srgbClr val="1F9180"/>
            </a:solidFill>
          </a:ln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For R = 0.2 </a:t>
            </a:r>
            <a:r>
              <a:rPr lang="el-GR" b="1" dirty="0">
                <a:solidFill>
                  <a:srgbClr val="1F9180"/>
                </a:solidFill>
                <a:latin typeface="Nunito" pitchFamily="2" charset="0"/>
              </a:rPr>
              <a:t>Ω</a:t>
            </a: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, Q = 81.529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b="1" dirty="0">
              <a:solidFill>
                <a:srgbClr val="1F9180"/>
              </a:solidFill>
              <a:latin typeface="Nunito" pitchFamily="2" charset="0"/>
            </a:endParaRPr>
          </a:p>
          <a:p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	</a:t>
            </a:r>
            <a:r>
              <a:rPr lang="en-IN" dirty="0">
                <a:latin typeface="Nunito" pitchFamily="2" charset="0"/>
              </a:rPr>
              <a:t>For f</a:t>
            </a:r>
            <a:r>
              <a:rPr lang="en-IN" sz="1100" dirty="0">
                <a:latin typeface="Nunito" pitchFamily="2" charset="0"/>
              </a:rPr>
              <a:t>s</a:t>
            </a:r>
            <a:r>
              <a:rPr lang="en-IN" dirty="0">
                <a:latin typeface="Nunito" pitchFamily="2" charset="0"/>
              </a:rPr>
              <a:t> &lt;&lt; </a:t>
            </a:r>
            <a:r>
              <a:rPr lang="en-IN" dirty="0" err="1">
                <a:latin typeface="Nunito" pitchFamily="2" charset="0"/>
              </a:rPr>
              <a:t>f</a:t>
            </a:r>
            <a:r>
              <a:rPr lang="en-IN" sz="1100" dirty="0" err="1">
                <a:latin typeface="Nunito" pitchFamily="2" charset="0"/>
              </a:rPr>
              <a:t>r</a:t>
            </a:r>
            <a:r>
              <a:rPr lang="en-IN" dirty="0">
                <a:latin typeface="Nunito" pitchFamily="2" charset="0"/>
              </a:rPr>
              <a:t>  :  Simulated gain </a:t>
            </a: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&gt;</a:t>
            </a:r>
            <a:r>
              <a:rPr lang="en-IN" dirty="0">
                <a:latin typeface="Nunito" pitchFamily="2" charset="0"/>
              </a:rPr>
              <a:t> Analytical gain</a:t>
            </a:r>
            <a:br>
              <a:rPr lang="en-IN" dirty="0">
                <a:latin typeface="Nunito" pitchFamily="2" charset="0"/>
              </a:rPr>
            </a:br>
            <a:r>
              <a:rPr lang="en-IN" dirty="0">
                <a:latin typeface="Nunito" pitchFamily="2" charset="0"/>
              </a:rPr>
              <a:t>	For f</a:t>
            </a:r>
            <a:r>
              <a:rPr lang="en-IN" sz="1100" dirty="0">
                <a:latin typeface="Nunito" pitchFamily="2" charset="0"/>
              </a:rPr>
              <a:t>s</a:t>
            </a:r>
            <a:r>
              <a:rPr lang="en-IN" dirty="0">
                <a:latin typeface="Nunito" pitchFamily="2" charset="0"/>
              </a:rPr>
              <a:t> = </a:t>
            </a:r>
            <a:r>
              <a:rPr lang="en-IN" dirty="0" err="1">
                <a:latin typeface="Nunito" pitchFamily="2" charset="0"/>
              </a:rPr>
              <a:t>f</a:t>
            </a:r>
            <a:r>
              <a:rPr lang="en-IN" sz="1100" dirty="0" err="1">
                <a:latin typeface="Nunito" pitchFamily="2" charset="0"/>
              </a:rPr>
              <a:t>r</a:t>
            </a:r>
            <a:r>
              <a:rPr lang="en-IN" dirty="0">
                <a:latin typeface="Nunito" pitchFamily="2" charset="0"/>
              </a:rPr>
              <a:t>    :  Simulated gain </a:t>
            </a: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=</a:t>
            </a:r>
            <a:r>
              <a:rPr lang="en-IN" dirty="0">
                <a:latin typeface="Nunito" pitchFamily="2" charset="0"/>
              </a:rPr>
              <a:t> Analytical gain</a:t>
            </a:r>
          </a:p>
          <a:p>
            <a:r>
              <a:rPr lang="en-IN" dirty="0">
                <a:latin typeface="Nunito" pitchFamily="2" charset="0"/>
              </a:rPr>
              <a:t>	For f</a:t>
            </a:r>
            <a:r>
              <a:rPr lang="en-IN" sz="1100" dirty="0">
                <a:latin typeface="Nunito" pitchFamily="2" charset="0"/>
              </a:rPr>
              <a:t>s</a:t>
            </a:r>
            <a:r>
              <a:rPr lang="en-IN" dirty="0">
                <a:latin typeface="Nunito" pitchFamily="2" charset="0"/>
              </a:rPr>
              <a:t> &gt; </a:t>
            </a:r>
            <a:r>
              <a:rPr lang="en-IN" dirty="0" err="1">
                <a:latin typeface="Nunito" pitchFamily="2" charset="0"/>
              </a:rPr>
              <a:t>f</a:t>
            </a:r>
            <a:r>
              <a:rPr lang="en-IN" sz="1100" dirty="0" err="1">
                <a:latin typeface="Nunito" pitchFamily="2" charset="0"/>
              </a:rPr>
              <a:t>r</a:t>
            </a:r>
            <a:r>
              <a:rPr lang="en-IN" dirty="0">
                <a:latin typeface="Nunito" pitchFamily="2" charset="0"/>
              </a:rPr>
              <a:t>    :  Simulated gain </a:t>
            </a: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=</a:t>
            </a:r>
            <a:r>
              <a:rPr lang="en-IN" dirty="0">
                <a:latin typeface="Nunito" pitchFamily="2" charset="0"/>
              </a:rPr>
              <a:t> Analytical gain</a:t>
            </a:r>
          </a:p>
          <a:p>
            <a:pPr lvl="6"/>
            <a:endParaRPr lang="en-IN" b="1" dirty="0">
              <a:solidFill>
                <a:srgbClr val="1F9180"/>
              </a:solidFill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For R = 10 </a:t>
            </a:r>
            <a:r>
              <a:rPr lang="el-GR" b="1" dirty="0">
                <a:solidFill>
                  <a:srgbClr val="1F9180"/>
                </a:solidFill>
                <a:latin typeface="Nunito" pitchFamily="2" charset="0"/>
              </a:rPr>
              <a:t>Ω</a:t>
            </a: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, Q = 1.631 </a:t>
            </a:r>
          </a:p>
          <a:p>
            <a:endParaRPr lang="en-IN" b="1" dirty="0">
              <a:solidFill>
                <a:srgbClr val="1F9180"/>
              </a:solidFill>
              <a:latin typeface="Nunito" pitchFamily="2" charset="0"/>
            </a:endParaRPr>
          </a:p>
          <a:p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	</a:t>
            </a:r>
            <a:r>
              <a:rPr lang="en-IN" dirty="0">
                <a:latin typeface="Nunito" pitchFamily="2" charset="0"/>
              </a:rPr>
              <a:t>For f</a:t>
            </a:r>
            <a:r>
              <a:rPr lang="en-IN" sz="1100" dirty="0">
                <a:latin typeface="Nunito" pitchFamily="2" charset="0"/>
              </a:rPr>
              <a:t>s</a:t>
            </a:r>
            <a:r>
              <a:rPr lang="en-IN" dirty="0">
                <a:latin typeface="Nunito" pitchFamily="2" charset="0"/>
              </a:rPr>
              <a:t> &lt; </a:t>
            </a:r>
            <a:r>
              <a:rPr lang="en-IN" dirty="0" err="1">
                <a:latin typeface="Nunito" pitchFamily="2" charset="0"/>
              </a:rPr>
              <a:t>f</a:t>
            </a:r>
            <a:r>
              <a:rPr lang="en-IN" sz="1100" dirty="0" err="1">
                <a:latin typeface="Nunito" pitchFamily="2" charset="0"/>
              </a:rPr>
              <a:t>r</a:t>
            </a:r>
            <a:r>
              <a:rPr lang="en-IN" dirty="0">
                <a:latin typeface="Nunito" pitchFamily="2" charset="0"/>
              </a:rPr>
              <a:t>   :  Simulated gain </a:t>
            </a: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&gt;</a:t>
            </a:r>
            <a:r>
              <a:rPr lang="en-IN" dirty="0">
                <a:latin typeface="Nunito" pitchFamily="2" charset="0"/>
              </a:rPr>
              <a:t> Analytical gain</a:t>
            </a:r>
            <a:br>
              <a:rPr lang="en-IN" dirty="0">
                <a:latin typeface="Nunito" pitchFamily="2" charset="0"/>
              </a:rPr>
            </a:br>
            <a:r>
              <a:rPr lang="en-IN" dirty="0">
                <a:latin typeface="Nunito" pitchFamily="2" charset="0"/>
              </a:rPr>
              <a:t>	For f</a:t>
            </a:r>
            <a:r>
              <a:rPr lang="en-IN" sz="1100" dirty="0">
                <a:latin typeface="Nunito" pitchFamily="2" charset="0"/>
              </a:rPr>
              <a:t>s</a:t>
            </a:r>
            <a:r>
              <a:rPr lang="en-IN" dirty="0">
                <a:latin typeface="Nunito" pitchFamily="2" charset="0"/>
              </a:rPr>
              <a:t> = </a:t>
            </a:r>
            <a:r>
              <a:rPr lang="en-IN" dirty="0" err="1">
                <a:latin typeface="Nunito" pitchFamily="2" charset="0"/>
              </a:rPr>
              <a:t>f</a:t>
            </a:r>
            <a:r>
              <a:rPr lang="en-IN" sz="1100" dirty="0" err="1">
                <a:latin typeface="Nunito" pitchFamily="2" charset="0"/>
              </a:rPr>
              <a:t>r</a:t>
            </a:r>
            <a:r>
              <a:rPr lang="en-IN" dirty="0">
                <a:latin typeface="Nunito" pitchFamily="2" charset="0"/>
              </a:rPr>
              <a:t>   :  Simulated gain </a:t>
            </a: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=</a:t>
            </a:r>
            <a:r>
              <a:rPr lang="en-IN" dirty="0">
                <a:latin typeface="Nunito" pitchFamily="2" charset="0"/>
              </a:rPr>
              <a:t> Analytical gain</a:t>
            </a:r>
          </a:p>
          <a:p>
            <a:r>
              <a:rPr lang="en-IN" dirty="0">
                <a:latin typeface="Nunito" pitchFamily="2" charset="0"/>
              </a:rPr>
              <a:t>	For f</a:t>
            </a:r>
            <a:r>
              <a:rPr lang="en-IN" sz="1100" dirty="0">
                <a:latin typeface="Nunito" pitchFamily="2" charset="0"/>
              </a:rPr>
              <a:t>s</a:t>
            </a:r>
            <a:r>
              <a:rPr lang="en-IN" dirty="0">
                <a:latin typeface="Nunito" pitchFamily="2" charset="0"/>
              </a:rPr>
              <a:t> &gt; </a:t>
            </a:r>
            <a:r>
              <a:rPr lang="en-IN" dirty="0" err="1">
                <a:latin typeface="Nunito" pitchFamily="2" charset="0"/>
              </a:rPr>
              <a:t>f</a:t>
            </a:r>
            <a:r>
              <a:rPr lang="en-IN" sz="1100" dirty="0" err="1">
                <a:latin typeface="Nunito" pitchFamily="2" charset="0"/>
              </a:rPr>
              <a:t>r</a:t>
            </a:r>
            <a:r>
              <a:rPr lang="en-IN" sz="1100" dirty="0">
                <a:latin typeface="Nunito" pitchFamily="2" charset="0"/>
              </a:rPr>
              <a:t>    </a:t>
            </a:r>
            <a:r>
              <a:rPr lang="en-IN" dirty="0">
                <a:latin typeface="Nunito" pitchFamily="2" charset="0"/>
              </a:rPr>
              <a:t>:  Simulated gain </a:t>
            </a: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&lt;</a:t>
            </a:r>
            <a:r>
              <a:rPr lang="en-IN" dirty="0">
                <a:latin typeface="Nunito" pitchFamily="2" charset="0"/>
              </a:rPr>
              <a:t> Analytical gain</a:t>
            </a:r>
          </a:p>
          <a:p>
            <a:pPr lvl="6"/>
            <a:endParaRPr lang="en-IN" dirty="0">
              <a:latin typeface="Nunito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8180FE3-C090-1F83-77EB-6ED1435BFEBE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5" name="Google Shape;68;p14">
              <a:extLst>
                <a:ext uri="{FF2B5EF4-FFF2-40B4-BE49-F238E27FC236}">
                  <a16:creationId xmlns:a16="http://schemas.microsoft.com/office/drawing/2014/main" id="{83740114-68AE-9E9E-25DE-01EF15B0255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70;p14">
              <a:extLst>
                <a:ext uri="{FF2B5EF4-FFF2-40B4-BE49-F238E27FC236}">
                  <a16:creationId xmlns:a16="http://schemas.microsoft.com/office/drawing/2014/main" id="{343E059A-685E-10F0-584E-071B0D6C9E92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0EFF5F6-DA06-D658-F89C-92460D6D01D2}"/>
              </a:ext>
            </a:extLst>
          </p:cNvPr>
          <p:cNvSpPr txBox="1"/>
          <p:nvPr/>
        </p:nvSpPr>
        <p:spPr>
          <a:xfrm>
            <a:off x="306025" y="1307180"/>
            <a:ext cx="5054311" cy="1646605"/>
          </a:xfrm>
          <a:prstGeom prst="rect">
            <a:avLst/>
          </a:prstGeom>
          <a:noFill/>
          <a:ln w="12700">
            <a:solidFill>
              <a:srgbClr val="1F9180"/>
            </a:solidFill>
          </a:ln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For f</a:t>
            </a:r>
            <a:r>
              <a:rPr lang="en-IN" sz="1100" b="1" dirty="0">
                <a:solidFill>
                  <a:srgbClr val="1F9180"/>
                </a:solidFill>
                <a:latin typeface="Nunito" pitchFamily="2" charset="0"/>
              </a:rPr>
              <a:t>s</a:t>
            </a: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 = </a:t>
            </a:r>
            <a:r>
              <a:rPr lang="en-IN" b="1" dirty="0" err="1">
                <a:solidFill>
                  <a:srgbClr val="1F9180"/>
                </a:solidFill>
                <a:latin typeface="Nunito" pitchFamily="2" charset="0"/>
              </a:rPr>
              <a:t>f</a:t>
            </a:r>
            <a:r>
              <a:rPr lang="en-IN" sz="1100" b="1" dirty="0" err="1">
                <a:solidFill>
                  <a:srgbClr val="1F9180"/>
                </a:solidFill>
                <a:latin typeface="Nunito" pitchFamily="2" charset="0"/>
              </a:rPr>
              <a:t>r</a:t>
            </a:r>
            <a:endParaRPr lang="en-IN" sz="1100" b="1" dirty="0">
              <a:solidFill>
                <a:srgbClr val="1F9180"/>
              </a:solidFill>
              <a:latin typeface="Nunito" pitchFamily="2" charset="0"/>
            </a:endParaRPr>
          </a:p>
          <a:p>
            <a:endParaRPr lang="en-IN" sz="1100" b="1" dirty="0">
              <a:solidFill>
                <a:srgbClr val="1F9180"/>
              </a:solidFill>
              <a:latin typeface="Nunito" pitchFamily="2" charset="0"/>
            </a:endParaRPr>
          </a:p>
          <a:p>
            <a:r>
              <a:rPr lang="en-IN" sz="1100" b="1" dirty="0">
                <a:solidFill>
                  <a:srgbClr val="1F9180"/>
                </a:solidFill>
                <a:latin typeface="Nunito" pitchFamily="2" charset="0"/>
              </a:rPr>
              <a:t>                                 </a:t>
            </a:r>
            <a:r>
              <a:rPr lang="en-IN" dirty="0">
                <a:latin typeface="Nunito" pitchFamily="2" charset="0"/>
              </a:rPr>
              <a:t>Gain = 1 (Maximum)</a:t>
            </a:r>
          </a:p>
          <a:p>
            <a:pPr lvl="6"/>
            <a:endParaRPr lang="en-IN" dirty="0">
              <a:latin typeface="Nunito" pitchFamily="2" charset="0"/>
            </a:endParaRPr>
          </a:p>
          <a:p>
            <a:pPr marL="380990" lvl="6" indent="-38099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For f</a:t>
            </a:r>
            <a:r>
              <a:rPr lang="en-IN" sz="1100" b="1" dirty="0">
                <a:solidFill>
                  <a:srgbClr val="1F9180"/>
                </a:solidFill>
                <a:latin typeface="Nunito" pitchFamily="2" charset="0"/>
              </a:rPr>
              <a:t>s</a:t>
            </a: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 ≠ </a:t>
            </a:r>
            <a:r>
              <a:rPr lang="en-IN" b="1" dirty="0" err="1">
                <a:solidFill>
                  <a:srgbClr val="1F9180"/>
                </a:solidFill>
                <a:latin typeface="Nunito" pitchFamily="2" charset="0"/>
              </a:rPr>
              <a:t>f</a:t>
            </a:r>
            <a:r>
              <a:rPr lang="en-IN" sz="1100" b="1" dirty="0" err="1">
                <a:solidFill>
                  <a:srgbClr val="1F9180"/>
                </a:solidFill>
                <a:latin typeface="Nunito" pitchFamily="2" charset="0"/>
              </a:rPr>
              <a:t>r</a:t>
            </a:r>
            <a:endParaRPr lang="en-IN" sz="1100" b="1" dirty="0">
              <a:solidFill>
                <a:srgbClr val="1F9180"/>
              </a:solidFill>
              <a:latin typeface="Nunito" pitchFamily="2" charset="0"/>
            </a:endParaRPr>
          </a:p>
          <a:p>
            <a:pPr marL="0" lvl="6"/>
            <a:r>
              <a:rPr lang="en-IN" sz="1100" b="1" dirty="0">
                <a:solidFill>
                  <a:srgbClr val="1F9180"/>
                </a:solidFill>
                <a:latin typeface="Nunito" pitchFamily="2" charset="0"/>
              </a:rPr>
              <a:t>                                                </a:t>
            </a:r>
            <a:r>
              <a:rPr lang="en-IN" dirty="0">
                <a:latin typeface="Nunito" pitchFamily="2" charset="0"/>
              </a:rPr>
              <a:t>Gain &lt; 1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29C9D2-2EC3-1DD5-CD3B-E74A9EEA5D9E}"/>
              </a:ext>
            </a:extLst>
          </p:cNvPr>
          <p:cNvSpPr txBox="1"/>
          <p:nvPr/>
        </p:nvSpPr>
        <p:spPr>
          <a:xfrm>
            <a:off x="306025" y="3772258"/>
            <a:ext cx="5054311" cy="2585323"/>
          </a:xfrm>
          <a:prstGeom prst="rect">
            <a:avLst/>
          </a:prstGeom>
          <a:noFill/>
          <a:ln w="12700">
            <a:solidFill>
              <a:srgbClr val="1F9180"/>
            </a:solidFill>
          </a:ln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dirty="0">
                <a:latin typeface="Nunito" pitchFamily="2" charset="0"/>
              </a:rPr>
              <a:t>Acts as Buck converter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dirty="0">
                <a:latin typeface="Nunito" pitchFamily="2" charset="0"/>
              </a:rPr>
              <a:t>Loading independent operation at </a:t>
            </a:r>
            <a:r>
              <a:rPr lang="en-IN" dirty="0" err="1">
                <a:latin typeface="Nunito" pitchFamily="2" charset="0"/>
              </a:rPr>
              <a:t>f</a:t>
            </a:r>
            <a:r>
              <a:rPr lang="en-IN" sz="1100" dirty="0" err="1">
                <a:latin typeface="Nunito" pitchFamily="2" charset="0"/>
              </a:rPr>
              <a:t>r</a:t>
            </a:r>
            <a:r>
              <a:rPr lang="en-IN" dirty="0">
                <a:latin typeface="Nunito" pitchFamily="2" charset="0"/>
              </a:rPr>
              <a:t>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dirty="0">
                <a:latin typeface="Nunito" pitchFamily="2" charset="0"/>
              </a:rPr>
              <a:t>Peak occurs at </a:t>
            </a:r>
            <a:r>
              <a:rPr lang="en-IN" dirty="0" err="1">
                <a:latin typeface="Nunito" pitchFamily="2" charset="0"/>
              </a:rPr>
              <a:t>f</a:t>
            </a:r>
            <a:r>
              <a:rPr lang="en-IN" sz="1100" dirty="0" err="1">
                <a:latin typeface="Nunito" pitchFamily="2" charset="0"/>
              </a:rPr>
              <a:t>r</a:t>
            </a:r>
            <a:r>
              <a:rPr lang="en-IN" dirty="0">
                <a:latin typeface="Nunito" pitchFamily="2" charset="0"/>
              </a:rPr>
              <a:t>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dirty="0">
                <a:latin typeface="Nunito" pitchFamily="2" charset="0"/>
              </a:rPr>
              <a:t>At no load, output voltage can not be regulated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Voltage regulation requires large f</a:t>
            </a:r>
            <a:r>
              <a:rPr lang="en-IN" sz="1100" b="1" dirty="0">
                <a:solidFill>
                  <a:srgbClr val="1F9180"/>
                </a:solidFill>
                <a:latin typeface="Nunito" pitchFamily="2" charset="0"/>
              </a:rPr>
              <a:t>s</a:t>
            </a: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 variation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dirty="0">
                <a:latin typeface="Nunito" pitchFamily="2" charset="0"/>
              </a:rPr>
              <a:t>Some abnormalities are observed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dirty="0">
              <a:latin typeface="Nunito" pitchFamily="2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66931-792C-C867-E5EA-A965D9C4EF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r>
              <a:rPr lang="en" sz="11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7478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AB870-769C-2059-F411-3738ABCB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Inductor Design (Ap method)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FBB92-9B28-C45A-2BF3-A7AE9967DF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12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4E6620-E09D-71CF-2E6D-9D8AE0B1A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0" y="748972"/>
            <a:ext cx="9600000" cy="566913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142EA6D-E7FF-470B-9C5C-42087DE2CF14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5" name="Google Shape;68;p14">
              <a:extLst>
                <a:ext uri="{FF2B5EF4-FFF2-40B4-BE49-F238E27FC236}">
                  <a16:creationId xmlns:a16="http://schemas.microsoft.com/office/drawing/2014/main" id="{A3A22B5C-842B-0A9A-F89E-3B216BCC860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70;p14">
              <a:extLst>
                <a:ext uri="{FF2B5EF4-FFF2-40B4-BE49-F238E27FC236}">
                  <a16:creationId xmlns:a16="http://schemas.microsoft.com/office/drawing/2014/main" id="{EDC4C330-9995-C138-9880-92044CAC0A5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116393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3931E-37FA-4C92-510C-3BE79ED04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Inductor Design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76079C-B98A-9512-CAF5-4F912435AE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13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92A55-B9DC-9FC1-1DE0-783F856E8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84" y="1833374"/>
            <a:ext cx="4320000" cy="23616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55BB0A-999D-87E9-002D-9C50DF4E4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408" y="1862017"/>
            <a:ext cx="4320000" cy="23043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63E6AE-31F1-D971-F180-93CA02AE76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951" b="22361"/>
          <a:stretch>
            <a:fillRect/>
          </a:stretch>
        </p:blipFill>
        <p:spPr>
          <a:xfrm>
            <a:off x="9815408" y="1722023"/>
            <a:ext cx="2056517" cy="258436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812C332-EBA8-8339-1C00-0B06BEBEE26B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11" name="Google Shape;68;p14">
              <a:extLst>
                <a:ext uri="{FF2B5EF4-FFF2-40B4-BE49-F238E27FC236}">
                  <a16:creationId xmlns:a16="http://schemas.microsoft.com/office/drawing/2014/main" id="{E98686E0-F422-36D7-C34C-69387AE6B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70;p14">
              <a:extLst>
                <a:ext uri="{FF2B5EF4-FFF2-40B4-BE49-F238E27FC236}">
                  <a16:creationId xmlns:a16="http://schemas.microsoft.com/office/drawing/2014/main" id="{91824D78-DF5F-7C24-2DAE-3C7E7C533EE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BEBCA0B-315D-B72A-4761-D06430B19619}"/>
              </a:ext>
            </a:extLst>
          </p:cNvPr>
          <p:cNvSpPr txBox="1"/>
          <p:nvPr/>
        </p:nvSpPr>
        <p:spPr>
          <a:xfrm>
            <a:off x="558184" y="4535285"/>
            <a:ext cx="33345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Nunito" pitchFamily="2" charset="0"/>
              </a:rPr>
              <a:t>Impedance analyser display in LCR mode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920D1E-02E5-24FC-F2C7-7F6FA95FD676}"/>
              </a:ext>
            </a:extLst>
          </p:cNvPr>
          <p:cNvSpPr txBox="1"/>
          <p:nvPr/>
        </p:nvSpPr>
        <p:spPr>
          <a:xfrm>
            <a:off x="5354832" y="4535284"/>
            <a:ext cx="38235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Nunito" pitchFamily="2" charset="0"/>
              </a:rPr>
              <a:t>Bode Plot of Inductor Impedance from Analyzer Mode </a:t>
            </a:r>
            <a:endParaRPr lang="en-IN" sz="2400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057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B5D5F-5F26-88B3-8B4B-17049E142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5AE0B-5DF0-ADEA-D86C-5244B2040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Experimental Setup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1E1AA5-625C-11DB-90C9-D60BBDE7B304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4" name="Google Shape;68;p14">
              <a:extLst>
                <a:ext uri="{FF2B5EF4-FFF2-40B4-BE49-F238E27FC236}">
                  <a16:creationId xmlns:a16="http://schemas.microsoft.com/office/drawing/2014/main" id="{F9ACE190-D3F2-48F5-D69B-44D87F08794E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70;p14">
              <a:extLst>
                <a:ext uri="{FF2B5EF4-FFF2-40B4-BE49-F238E27FC236}">
                  <a16:creationId xmlns:a16="http://schemas.microsoft.com/office/drawing/2014/main" id="{914FE741-C6BB-123C-6A43-C1EE926AACA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96593EA-EA93-0A28-AFAA-28C9A4D03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000" y="795205"/>
            <a:ext cx="9600000" cy="54000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0C7932-175B-F53E-1EF0-76F27C6D48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1D864-6A9E-19B0-37C0-E30178D10DE9}"/>
              </a:ext>
            </a:extLst>
          </p:cNvPr>
          <p:cNvSpPr txBox="1"/>
          <p:nvPr/>
        </p:nvSpPr>
        <p:spPr>
          <a:xfrm>
            <a:off x="-5196198" y="1356639"/>
            <a:ext cx="4164171" cy="5016758"/>
          </a:xfrm>
          <a:prstGeom prst="rect">
            <a:avLst/>
          </a:prstGeom>
          <a:noFill/>
          <a:ln w="12700">
            <a:solidFill>
              <a:srgbClr val="1F9180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1F9180"/>
                </a:solidFill>
                <a:latin typeface="Nunito" pitchFamily="2" charset="0"/>
              </a:rPr>
              <a:t>Specifications</a:t>
            </a:r>
          </a:p>
          <a:p>
            <a:endParaRPr lang="en-IN" sz="2000" dirty="0">
              <a:latin typeface="Nunito" pitchFamily="2" charset="0"/>
            </a:endParaRPr>
          </a:p>
          <a:p>
            <a:r>
              <a:rPr lang="en-IN" sz="2000" dirty="0">
                <a:latin typeface="Nunito" pitchFamily="2" charset="0"/>
              </a:rPr>
              <a:t>Nova board – used as inverter</a:t>
            </a:r>
          </a:p>
          <a:p>
            <a:endParaRPr lang="en-IN" sz="2000" dirty="0">
              <a:latin typeface="Nunito" pitchFamily="2" charset="0"/>
            </a:endParaRPr>
          </a:p>
          <a:p>
            <a:r>
              <a:rPr lang="en-IN" sz="2000" dirty="0">
                <a:latin typeface="Nunito" pitchFamily="2" charset="0"/>
              </a:rPr>
              <a:t>IGBTs - IKW25N120H3</a:t>
            </a:r>
          </a:p>
          <a:p>
            <a:endParaRPr lang="en-IN" sz="2000" dirty="0">
              <a:latin typeface="Nunito" pitchFamily="2" charset="0"/>
            </a:endParaRPr>
          </a:p>
          <a:p>
            <a:r>
              <a:rPr lang="en-IN" sz="2000" dirty="0">
                <a:latin typeface="Nunito" pitchFamily="2" charset="0"/>
              </a:rPr>
              <a:t>Inductor – 84.142 µH, 5A (designed)</a:t>
            </a:r>
          </a:p>
          <a:p>
            <a:endParaRPr lang="en-IN" sz="2000" dirty="0">
              <a:latin typeface="Nunito" pitchFamily="2" charset="0"/>
            </a:endParaRPr>
          </a:p>
          <a:p>
            <a:r>
              <a:rPr lang="en-IN" sz="2000" dirty="0">
                <a:latin typeface="Nunito" pitchFamily="2" charset="0"/>
              </a:rPr>
              <a:t>Capacitor – 481.67 </a:t>
            </a:r>
            <a:r>
              <a:rPr lang="en-IN" sz="2000" dirty="0" err="1">
                <a:latin typeface="Nunito" pitchFamily="2" charset="0"/>
              </a:rPr>
              <a:t>nF</a:t>
            </a:r>
            <a:r>
              <a:rPr lang="en-IN" sz="2000" dirty="0">
                <a:latin typeface="Nunito" pitchFamily="2" charset="0"/>
              </a:rPr>
              <a:t>, Bipolar</a:t>
            </a:r>
          </a:p>
          <a:p>
            <a:endParaRPr lang="en-IN" sz="2000" dirty="0">
              <a:latin typeface="Nunito" pitchFamily="2" charset="0"/>
            </a:endParaRPr>
          </a:p>
          <a:p>
            <a:r>
              <a:rPr lang="en-IN" sz="2000" dirty="0">
                <a:latin typeface="Nunito" pitchFamily="2" charset="0"/>
              </a:rPr>
              <a:t>Load - 10</a:t>
            </a:r>
            <a:r>
              <a:rPr lang="el-GR" sz="2000" dirty="0">
                <a:latin typeface="Nunito" pitchFamily="2" charset="0"/>
              </a:rPr>
              <a:t>Ω</a:t>
            </a:r>
            <a:endParaRPr lang="en-IN" sz="2000" dirty="0">
              <a:latin typeface="Nunito" pitchFamily="2" charset="0"/>
            </a:endParaRPr>
          </a:p>
          <a:p>
            <a:endParaRPr lang="en-IN" sz="2000" dirty="0">
              <a:latin typeface="Nunito" pitchFamily="2" charset="0"/>
            </a:endParaRPr>
          </a:p>
          <a:p>
            <a:r>
              <a:rPr lang="en-IN" sz="2000" dirty="0">
                <a:latin typeface="Nunito" pitchFamily="2" charset="0"/>
              </a:rPr>
              <a:t>Microcontroller – TMS320F28379D </a:t>
            </a:r>
          </a:p>
          <a:p>
            <a:endParaRPr lang="en-IN" sz="2000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457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150FC-368E-7302-1904-E4C2F71BF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9F8B3-739D-E0AD-3EF4-9302C52C2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Experimental Setup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A055A0-AE54-8E1D-5779-945DC0A46D89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4" name="Google Shape;68;p14">
              <a:extLst>
                <a:ext uri="{FF2B5EF4-FFF2-40B4-BE49-F238E27FC236}">
                  <a16:creationId xmlns:a16="http://schemas.microsoft.com/office/drawing/2014/main" id="{615929D3-AB2D-D45F-1A0D-755D301A8A00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70;p14">
              <a:extLst>
                <a:ext uri="{FF2B5EF4-FFF2-40B4-BE49-F238E27FC236}">
                  <a16:creationId xmlns:a16="http://schemas.microsoft.com/office/drawing/2014/main" id="{BD8F9DF3-83CB-9773-F44C-341C0AADF15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38EF46B-86FF-4197-F131-051FAD272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3702" y="795205"/>
            <a:ext cx="7169713" cy="540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832959-3DCC-8ECF-18BF-FF6347934513}"/>
              </a:ext>
            </a:extLst>
          </p:cNvPr>
          <p:cNvSpPr txBox="1"/>
          <p:nvPr/>
        </p:nvSpPr>
        <p:spPr>
          <a:xfrm>
            <a:off x="412123" y="1356639"/>
            <a:ext cx="4164171" cy="5324535"/>
          </a:xfrm>
          <a:prstGeom prst="rect">
            <a:avLst/>
          </a:prstGeom>
          <a:noFill/>
          <a:ln w="12700">
            <a:solidFill>
              <a:srgbClr val="1F9180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1F9180"/>
                </a:solidFill>
                <a:latin typeface="Nunito" pitchFamily="2" charset="0"/>
              </a:rPr>
              <a:t>Specifications</a:t>
            </a:r>
          </a:p>
          <a:p>
            <a:endParaRPr lang="en-IN" sz="2000" dirty="0">
              <a:latin typeface="Nunito" pitchFamily="2" charset="0"/>
            </a:endParaRPr>
          </a:p>
          <a:p>
            <a:r>
              <a:rPr lang="en-IN" sz="2000" dirty="0">
                <a:latin typeface="Nunito" pitchFamily="2" charset="0"/>
              </a:rPr>
              <a:t>Nova board – used as inverter</a:t>
            </a:r>
          </a:p>
          <a:p>
            <a:endParaRPr lang="en-IN" sz="2000" dirty="0">
              <a:latin typeface="Nunito" pitchFamily="2" charset="0"/>
            </a:endParaRPr>
          </a:p>
          <a:p>
            <a:r>
              <a:rPr lang="en-IN" sz="2000" dirty="0">
                <a:latin typeface="Nunito" pitchFamily="2" charset="0"/>
              </a:rPr>
              <a:t>IGBTs - IKW25N120H3</a:t>
            </a:r>
          </a:p>
          <a:p>
            <a:endParaRPr lang="en-IN" sz="2000" dirty="0">
              <a:latin typeface="Nunito" pitchFamily="2" charset="0"/>
            </a:endParaRPr>
          </a:p>
          <a:p>
            <a:r>
              <a:rPr lang="en-IN" sz="2000" dirty="0">
                <a:latin typeface="Nunito" pitchFamily="2" charset="0"/>
              </a:rPr>
              <a:t>Inductor – 84.142 µH, 5A (designed)</a:t>
            </a:r>
          </a:p>
          <a:p>
            <a:endParaRPr lang="en-IN" sz="2000" dirty="0">
              <a:latin typeface="Nunito" pitchFamily="2" charset="0"/>
            </a:endParaRPr>
          </a:p>
          <a:p>
            <a:r>
              <a:rPr lang="en-IN" sz="2000" dirty="0">
                <a:latin typeface="Nunito" pitchFamily="2" charset="0"/>
              </a:rPr>
              <a:t>Capacitor – 481.67 </a:t>
            </a:r>
            <a:r>
              <a:rPr lang="en-IN" sz="2000" dirty="0" err="1">
                <a:latin typeface="Nunito" pitchFamily="2" charset="0"/>
              </a:rPr>
              <a:t>nF</a:t>
            </a:r>
            <a:r>
              <a:rPr lang="en-IN" sz="2000" dirty="0">
                <a:latin typeface="Nunito" pitchFamily="2" charset="0"/>
              </a:rPr>
              <a:t>, 1 kV, Bipolar</a:t>
            </a:r>
          </a:p>
          <a:p>
            <a:endParaRPr lang="en-IN" sz="2000" dirty="0">
              <a:latin typeface="Nunito" pitchFamily="2" charset="0"/>
            </a:endParaRPr>
          </a:p>
          <a:p>
            <a:r>
              <a:rPr lang="en-IN" sz="2000" dirty="0">
                <a:latin typeface="Nunito" pitchFamily="2" charset="0"/>
              </a:rPr>
              <a:t>Load - 10</a:t>
            </a:r>
            <a:r>
              <a:rPr lang="el-GR" sz="2000" dirty="0">
                <a:latin typeface="Nunito" pitchFamily="2" charset="0"/>
              </a:rPr>
              <a:t>Ω</a:t>
            </a:r>
            <a:endParaRPr lang="en-IN" sz="2000" dirty="0">
              <a:latin typeface="Nunito" pitchFamily="2" charset="0"/>
            </a:endParaRPr>
          </a:p>
          <a:p>
            <a:endParaRPr lang="en-IN" sz="2000" dirty="0">
              <a:latin typeface="Nunito" pitchFamily="2" charset="0"/>
            </a:endParaRPr>
          </a:p>
          <a:p>
            <a:r>
              <a:rPr lang="en-IN" sz="2000" dirty="0">
                <a:latin typeface="Nunito" pitchFamily="2" charset="0"/>
              </a:rPr>
              <a:t>Microcontroller – TMS320F28379D </a:t>
            </a:r>
          </a:p>
          <a:p>
            <a:endParaRPr lang="en-IN" sz="2000" dirty="0">
              <a:latin typeface="Nunito" pitchFamily="2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870BC5-6830-5E84-F87B-585148E420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30343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698EB-6819-5477-C699-E3B7BFFD1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6802143" cy="763600"/>
          </a:xfrm>
        </p:spPr>
        <p:txBody>
          <a:bodyPr/>
          <a:lstStyle/>
          <a:p>
            <a:r>
              <a:rPr lang="en-IN" dirty="0"/>
              <a:t>Series Resonant Inverter (SRI)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A1D726-B7D2-DBC7-7A5E-FBBADC432EF1}"/>
              </a:ext>
            </a:extLst>
          </p:cNvPr>
          <p:cNvSpPr txBox="1"/>
          <p:nvPr/>
        </p:nvSpPr>
        <p:spPr>
          <a:xfrm>
            <a:off x="8374903" y="397082"/>
            <a:ext cx="2256348" cy="461665"/>
          </a:xfrm>
          <a:prstGeom prst="rect">
            <a:avLst/>
          </a:prstGeom>
          <a:noFill/>
          <a:ln>
            <a:solidFill>
              <a:srgbClr val="1F9180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E2AC00"/>
                </a:solidFill>
              </a:rPr>
              <a:t>Gate, </a:t>
            </a:r>
            <a:r>
              <a:rPr lang="en-IN" sz="2400" dirty="0">
                <a:solidFill>
                  <a:srgbClr val="1F9180"/>
                </a:solidFill>
              </a:rPr>
              <a:t>V</a:t>
            </a:r>
            <a:r>
              <a:rPr lang="en-IN" sz="1400" dirty="0">
                <a:solidFill>
                  <a:srgbClr val="1F9180"/>
                </a:solidFill>
              </a:rPr>
              <a:t>AB</a:t>
            </a:r>
            <a:r>
              <a:rPr lang="en-IN" sz="2400" dirty="0">
                <a:solidFill>
                  <a:srgbClr val="1F9180"/>
                </a:solidFill>
              </a:rPr>
              <a:t>,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V</a:t>
            </a:r>
            <a:r>
              <a:rPr lang="en-IN" sz="1400" dirty="0">
                <a:solidFill>
                  <a:schemeClr val="accent1">
                    <a:lumMod val="75000"/>
                  </a:schemeClr>
                </a:solidFill>
              </a:rPr>
              <a:t>o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IN" sz="2400" dirty="0">
                <a:solidFill>
                  <a:srgbClr val="C00000"/>
                </a:solidFill>
              </a:rPr>
              <a:t>I</a:t>
            </a:r>
            <a:r>
              <a:rPr lang="en-IN" sz="1400" dirty="0">
                <a:solidFill>
                  <a:srgbClr val="C00000"/>
                </a:solidFill>
              </a:rPr>
              <a:t>o</a:t>
            </a:r>
            <a:endParaRPr lang="en-IN" sz="2400" dirty="0">
              <a:solidFill>
                <a:srgbClr val="FFC000"/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47BC89C-AD24-4E6A-80CA-5CE0CFAFA266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44" name="Google Shape;68;p14">
              <a:extLst>
                <a:ext uri="{FF2B5EF4-FFF2-40B4-BE49-F238E27FC236}">
                  <a16:creationId xmlns:a16="http://schemas.microsoft.com/office/drawing/2014/main" id="{E1833803-6343-5F67-EBBF-2B0DA03AE261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Google Shape;70;p14">
              <a:extLst>
                <a:ext uri="{FF2B5EF4-FFF2-40B4-BE49-F238E27FC236}">
                  <a16:creationId xmlns:a16="http://schemas.microsoft.com/office/drawing/2014/main" id="{B6714D91-DC80-19C8-7725-F719152832C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3DDA0E-EDAC-221C-5177-DDF12143DF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15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7BB765-6CAA-B345-C30F-2FD26E5E1DFF}"/>
              </a:ext>
            </a:extLst>
          </p:cNvPr>
          <p:cNvSpPr txBox="1"/>
          <p:nvPr/>
        </p:nvSpPr>
        <p:spPr>
          <a:xfrm>
            <a:off x="12574959" y="1167684"/>
            <a:ext cx="4444616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1F9180"/>
                </a:solidFill>
                <a:latin typeface="Nunito" pitchFamily="2" charset="0"/>
              </a:rPr>
              <a:t>Inferences</a:t>
            </a:r>
          </a:p>
          <a:p>
            <a:pPr algn="ctr"/>
            <a:endParaRPr lang="en-IN" sz="2000" b="1" dirty="0">
              <a:solidFill>
                <a:srgbClr val="1F9180"/>
              </a:solidFill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000" dirty="0">
                <a:latin typeface="Nunito" pitchFamily="2" charset="0"/>
              </a:rPr>
              <a:t>Simulation and experimental results are closely matching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sz="2000" dirty="0"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000" dirty="0">
                <a:latin typeface="Nunito" pitchFamily="2" charset="0"/>
              </a:rPr>
              <a:t>10 kHz – Discontinuous conduction mode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sz="2000" dirty="0"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000" dirty="0">
                <a:latin typeface="Nunito" pitchFamily="2" charset="0"/>
              </a:rPr>
              <a:t>Highest output voltage occurs at </a:t>
            </a:r>
            <a:r>
              <a:rPr lang="en-IN" sz="2000" dirty="0" err="1">
                <a:latin typeface="Nunito" pitchFamily="2" charset="0"/>
              </a:rPr>
              <a:t>fr</a:t>
            </a:r>
            <a:endParaRPr lang="en-IN" sz="2000" dirty="0"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sz="2000" dirty="0"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000" dirty="0">
                <a:latin typeface="Nunito" pitchFamily="2" charset="0"/>
              </a:rPr>
              <a:t>Smooth waveforms at resonant frequency and above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sz="2000" dirty="0"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1F9180"/>
                </a:solidFill>
                <a:latin typeface="Nunito" pitchFamily="2" charset="0"/>
              </a:rPr>
              <a:t>Irregularity – </a:t>
            </a:r>
            <a:r>
              <a:rPr lang="en-IN" sz="2000" dirty="0">
                <a:latin typeface="Nunito" pitchFamily="2" charset="0"/>
              </a:rPr>
              <a:t>Spikes appear in inductor voltage even at high frequencies in hardware experiment</a:t>
            </a:r>
            <a:endParaRPr lang="en-IN" sz="2000" dirty="0">
              <a:solidFill>
                <a:srgbClr val="1F9180"/>
              </a:solidFill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sz="2000" dirty="0">
              <a:latin typeface="Nunito" pitchFamily="2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1F021A6-C2B2-D501-0CD2-05B730B7480F}"/>
              </a:ext>
            </a:extLst>
          </p:cNvPr>
          <p:cNvGrpSpPr/>
          <p:nvPr/>
        </p:nvGrpSpPr>
        <p:grpSpPr>
          <a:xfrm>
            <a:off x="0" y="975360"/>
            <a:ext cx="12192000" cy="5855830"/>
            <a:chOff x="0" y="731520"/>
            <a:chExt cx="9144000" cy="4391872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184033F-88E4-3E1C-C380-721B74EBFD8A}"/>
                </a:ext>
              </a:extLst>
            </p:cNvPr>
            <p:cNvGrpSpPr/>
            <p:nvPr/>
          </p:nvGrpSpPr>
          <p:grpSpPr>
            <a:xfrm>
              <a:off x="0" y="832250"/>
              <a:ext cx="2862823" cy="3859550"/>
              <a:chOff x="0" y="832250"/>
              <a:chExt cx="2862823" cy="3859550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E6BB6A4D-03A8-089F-4007-5B5815AEA3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832250"/>
                <a:ext cx="2862823" cy="18000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221273A4-D7D3-9A87-26F9-0567FD1139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2891800"/>
                <a:ext cx="2862822" cy="18000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3858189-980B-B751-3425-31782A55178C}"/>
                </a:ext>
              </a:extLst>
            </p:cNvPr>
            <p:cNvGrpSpPr/>
            <p:nvPr/>
          </p:nvGrpSpPr>
          <p:grpSpPr>
            <a:xfrm>
              <a:off x="3132000" y="832250"/>
              <a:ext cx="2880000" cy="3859550"/>
              <a:chOff x="3132000" y="832250"/>
              <a:chExt cx="2880000" cy="3859550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B7E814BC-231E-7D3B-987F-A7CFBAD280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40589" y="832250"/>
                <a:ext cx="2862823" cy="18000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F6B53778-8203-D015-2551-346036F9E6CC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32000" y="2891800"/>
                <a:ext cx="2880000" cy="18000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249A8F5-1057-4530-D1CD-EB1AABC27DD6}"/>
                </a:ext>
              </a:extLst>
            </p:cNvPr>
            <p:cNvGrpSpPr/>
            <p:nvPr/>
          </p:nvGrpSpPr>
          <p:grpSpPr>
            <a:xfrm>
              <a:off x="6264000" y="832250"/>
              <a:ext cx="2880000" cy="3859550"/>
              <a:chOff x="6264000" y="832250"/>
              <a:chExt cx="2880000" cy="3859550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01CC1B0A-DF3F-A7FB-0854-318347AC1E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81177" y="832250"/>
                <a:ext cx="2862823" cy="18000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B2640661-ED9A-C6D8-A33C-E4EA1BC9926C}"/>
                  </a:ext>
                </a:extLst>
              </p:cNvPr>
              <p:cNvPicPr>
                <a:picLocks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64000" y="2891800"/>
                <a:ext cx="2880000" cy="18000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5AD9047-1BE8-D2E9-D43B-99F29BD917D0}"/>
                </a:ext>
              </a:extLst>
            </p:cNvPr>
            <p:cNvSpPr txBox="1"/>
            <p:nvPr/>
          </p:nvSpPr>
          <p:spPr>
            <a:xfrm>
              <a:off x="412750" y="4819171"/>
              <a:ext cx="203200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 err="1">
                  <a:solidFill>
                    <a:srgbClr val="1F9180"/>
                  </a:solidFill>
                  <a:latin typeface="Nunito" pitchFamily="2" charset="0"/>
                </a:rPr>
                <a:t>f</a:t>
              </a:r>
              <a:r>
                <a:rPr lang="en-IN" sz="1200" dirty="0" err="1">
                  <a:solidFill>
                    <a:srgbClr val="1F9180"/>
                  </a:solidFill>
                  <a:latin typeface="Nunito" pitchFamily="2" charset="0"/>
                </a:rPr>
                <a:t>sw</a:t>
              </a:r>
              <a:r>
                <a:rPr lang="en-IN" sz="2000" dirty="0">
                  <a:solidFill>
                    <a:srgbClr val="1F9180"/>
                  </a:solidFill>
                  <a:latin typeface="Nunito" pitchFamily="2" charset="0"/>
                </a:rPr>
                <a:t> = 10 kHz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E6A8B90-787A-7589-FEDA-0CBF1B0FB422}"/>
                </a:ext>
              </a:extLst>
            </p:cNvPr>
            <p:cNvSpPr txBox="1"/>
            <p:nvPr/>
          </p:nvSpPr>
          <p:spPr>
            <a:xfrm>
              <a:off x="3524250" y="4823309"/>
              <a:ext cx="193675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 err="1">
                  <a:solidFill>
                    <a:srgbClr val="1F9180"/>
                  </a:solidFill>
                  <a:latin typeface="Nunito" pitchFamily="2" charset="0"/>
                </a:rPr>
                <a:t>f</a:t>
              </a:r>
              <a:r>
                <a:rPr lang="en-IN" sz="1200" dirty="0" err="1">
                  <a:solidFill>
                    <a:srgbClr val="1F9180"/>
                  </a:solidFill>
                  <a:latin typeface="Nunito" pitchFamily="2" charset="0"/>
                </a:rPr>
                <a:t>sw</a:t>
              </a:r>
              <a:r>
                <a:rPr lang="en-IN" sz="2000" dirty="0">
                  <a:solidFill>
                    <a:srgbClr val="1F9180"/>
                  </a:solidFill>
                  <a:latin typeface="Nunito" pitchFamily="2" charset="0"/>
                </a:rPr>
                <a:t> = 25 kHz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DDD6898-BBB6-D459-5941-32C72C852387}"/>
                </a:ext>
              </a:extLst>
            </p:cNvPr>
            <p:cNvSpPr txBox="1"/>
            <p:nvPr/>
          </p:nvSpPr>
          <p:spPr>
            <a:xfrm>
              <a:off x="6534150" y="4819171"/>
              <a:ext cx="1936750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 err="1">
                  <a:solidFill>
                    <a:srgbClr val="1F9180"/>
                  </a:solidFill>
                  <a:latin typeface="Nunito" pitchFamily="2" charset="0"/>
                </a:rPr>
                <a:t>f</a:t>
              </a:r>
              <a:r>
                <a:rPr lang="en-IN" sz="1200" dirty="0" err="1">
                  <a:solidFill>
                    <a:srgbClr val="1F9180"/>
                  </a:solidFill>
                  <a:latin typeface="Nunito" pitchFamily="2" charset="0"/>
                </a:rPr>
                <a:t>sw</a:t>
              </a:r>
              <a:r>
                <a:rPr lang="en-IN" sz="2000" dirty="0">
                  <a:solidFill>
                    <a:srgbClr val="1F9180"/>
                  </a:solidFill>
                  <a:latin typeface="Nunito" pitchFamily="2" charset="0"/>
                </a:rPr>
                <a:t> = 40 kHz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7B8612C-6CCF-C713-2119-B46C40E5FA2E}"/>
                </a:ext>
              </a:extLst>
            </p:cNvPr>
            <p:cNvCxnSpPr/>
            <p:nvPr/>
          </p:nvCxnSpPr>
          <p:spPr>
            <a:xfrm>
              <a:off x="3017520" y="736092"/>
              <a:ext cx="0" cy="430243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8285D43-8394-B9BD-B2A7-693BCD6966EF}"/>
                </a:ext>
              </a:extLst>
            </p:cNvPr>
            <p:cNvCxnSpPr/>
            <p:nvPr/>
          </p:nvCxnSpPr>
          <p:spPr>
            <a:xfrm>
              <a:off x="6149340" y="731520"/>
              <a:ext cx="0" cy="430243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8019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9FF49-6C88-BA59-B803-EDFCEB914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DBEFE-B8DE-B243-0694-BE0F85F62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6802143" cy="763600"/>
          </a:xfrm>
        </p:spPr>
        <p:txBody>
          <a:bodyPr/>
          <a:lstStyle/>
          <a:p>
            <a:r>
              <a:rPr lang="en-IN" dirty="0"/>
              <a:t>Series Resonant Inverter (SRI)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684209-270F-0679-B6BD-BE8EF7E577E5}"/>
              </a:ext>
            </a:extLst>
          </p:cNvPr>
          <p:cNvSpPr txBox="1"/>
          <p:nvPr/>
        </p:nvSpPr>
        <p:spPr>
          <a:xfrm>
            <a:off x="8374903" y="397082"/>
            <a:ext cx="2256348" cy="461665"/>
          </a:xfrm>
          <a:prstGeom prst="rect">
            <a:avLst/>
          </a:prstGeom>
          <a:noFill/>
          <a:ln>
            <a:solidFill>
              <a:srgbClr val="1F9180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E2AC00"/>
                </a:solidFill>
              </a:rPr>
              <a:t>Gate, </a:t>
            </a:r>
            <a:r>
              <a:rPr lang="en-IN" sz="2400" dirty="0">
                <a:solidFill>
                  <a:srgbClr val="1F9180"/>
                </a:solidFill>
              </a:rPr>
              <a:t>V</a:t>
            </a:r>
            <a:r>
              <a:rPr lang="en-IN" sz="1400" dirty="0">
                <a:solidFill>
                  <a:srgbClr val="1F9180"/>
                </a:solidFill>
              </a:rPr>
              <a:t>AB</a:t>
            </a:r>
            <a:r>
              <a:rPr lang="en-IN" sz="2400" dirty="0">
                <a:solidFill>
                  <a:srgbClr val="1F9180"/>
                </a:solidFill>
              </a:rPr>
              <a:t>,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V</a:t>
            </a:r>
            <a:r>
              <a:rPr lang="en-IN" sz="1400" dirty="0">
                <a:solidFill>
                  <a:schemeClr val="accent1">
                    <a:lumMod val="75000"/>
                  </a:schemeClr>
                </a:solidFill>
              </a:rPr>
              <a:t>o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IN" sz="2400" dirty="0">
                <a:solidFill>
                  <a:srgbClr val="C00000"/>
                </a:solidFill>
              </a:rPr>
              <a:t>I</a:t>
            </a:r>
            <a:r>
              <a:rPr lang="en-IN" sz="1400" dirty="0">
                <a:solidFill>
                  <a:srgbClr val="C00000"/>
                </a:solidFill>
              </a:rPr>
              <a:t>o</a:t>
            </a:r>
            <a:endParaRPr lang="en-IN" sz="2400" dirty="0">
              <a:solidFill>
                <a:srgbClr val="FFC000"/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039A42-52CF-3753-033C-460DE75E7AC7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44" name="Google Shape;68;p14">
              <a:extLst>
                <a:ext uri="{FF2B5EF4-FFF2-40B4-BE49-F238E27FC236}">
                  <a16:creationId xmlns:a16="http://schemas.microsoft.com/office/drawing/2014/main" id="{0447DA09-467B-0318-1F79-70F482387B6F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Google Shape;70;p14">
              <a:extLst>
                <a:ext uri="{FF2B5EF4-FFF2-40B4-BE49-F238E27FC236}">
                  <a16:creationId xmlns:a16="http://schemas.microsoft.com/office/drawing/2014/main" id="{12B5705C-1F36-5370-9220-B59F59B6D52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F4C04B-C721-9557-AECD-251BCD93C5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15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54CD6F-051C-C1A5-641A-79AD9BF6F066}"/>
              </a:ext>
            </a:extLst>
          </p:cNvPr>
          <p:cNvSpPr txBox="1"/>
          <p:nvPr/>
        </p:nvSpPr>
        <p:spPr>
          <a:xfrm>
            <a:off x="7654316" y="1167684"/>
            <a:ext cx="444461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1F9180"/>
                </a:solidFill>
                <a:latin typeface="Nunito" pitchFamily="2" charset="0"/>
              </a:rPr>
              <a:t>Inferences</a:t>
            </a:r>
          </a:p>
          <a:p>
            <a:pPr algn="ctr"/>
            <a:endParaRPr lang="en-IN" sz="2000" b="1" dirty="0">
              <a:solidFill>
                <a:srgbClr val="1F9180"/>
              </a:solidFill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000" dirty="0">
                <a:latin typeface="Nunito" pitchFamily="2" charset="0"/>
              </a:rPr>
              <a:t>Simulation and experimental results are closely matching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sz="2000" dirty="0"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000" dirty="0">
                <a:latin typeface="Nunito" pitchFamily="2" charset="0"/>
              </a:rPr>
              <a:t>10 kHz – Discontinuous conduction mode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sz="2000" dirty="0"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000" dirty="0">
                <a:latin typeface="Nunito" pitchFamily="2" charset="0"/>
              </a:rPr>
              <a:t>Highest output voltage occurs at </a:t>
            </a:r>
            <a:r>
              <a:rPr lang="en-IN" sz="2000" dirty="0" err="1">
                <a:latin typeface="Nunito" pitchFamily="2" charset="0"/>
              </a:rPr>
              <a:t>fr</a:t>
            </a:r>
            <a:endParaRPr lang="en-IN" sz="2000" dirty="0"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sz="2000" dirty="0"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000" dirty="0">
                <a:latin typeface="Nunito" pitchFamily="2" charset="0"/>
              </a:rPr>
              <a:t>Smooth waveforms at resonant frequency and above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sz="2000" dirty="0"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1F9180"/>
                </a:solidFill>
                <a:latin typeface="Nunito" pitchFamily="2" charset="0"/>
              </a:rPr>
              <a:t>Irregularity – </a:t>
            </a:r>
            <a:r>
              <a:rPr lang="en-IN" sz="2000" dirty="0">
                <a:latin typeface="Nunito" pitchFamily="2" charset="0"/>
              </a:rPr>
              <a:t>Spikes appear in inductor voltage even at high frequencies in hardware experiment</a:t>
            </a:r>
            <a:endParaRPr lang="en-IN" sz="2000" dirty="0">
              <a:solidFill>
                <a:srgbClr val="1F9180"/>
              </a:solidFill>
              <a:latin typeface="Nunito" pitchFamily="2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42D519B-FEE5-2360-BE46-B8904AEE7DD2}"/>
              </a:ext>
            </a:extLst>
          </p:cNvPr>
          <p:cNvGrpSpPr/>
          <p:nvPr/>
        </p:nvGrpSpPr>
        <p:grpSpPr>
          <a:xfrm>
            <a:off x="0" y="975360"/>
            <a:ext cx="7481853" cy="5855829"/>
            <a:chOff x="0" y="731520"/>
            <a:chExt cx="9144000" cy="4391871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642C0DA-578A-6ECA-3391-F153A93665CF}"/>
                </a:ext>
              </a:extLst>
            </p:cNvPr>
            <p:cNvGrpSpPr/>
            <p:nvPr/>
          </p:nvGrpSpPr>
          <p:grpSpPr>
            <a:xfrm>
              <a:off x="0" y="832250"/>
              <a:ext cx="2862823" cy="3859550"/>
              <a:chOff x="0" y="832250"/>
              <a:chExt cx="2862823" cy="3859550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434CC599-AB0E-6DE9-78BD-8630FE4A80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832250"/>
                <a:ext cx="2862823" cy="18000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EE02F0CF-62B3-31A1-431B-BEDB40434A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2891800"/>
                <a:ext cx="2862822" cy="18000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2E06647-714A-425F-C568-CAEB1FF82999}"/>
                </a:ext>
              </a:extLst>
            </p:cNvPr>
            <p:cNvGrpSpPr/>
            <p:nvPr/>
          </p:nvGrpSpPr>
          <p:grpSpPr>
            <a:xfrm>
              <a:off x="3132000" y="832250"/>
              <a:ext cx="2880000" cy="3859550"/>
              <a:chOff x="3132000" y="832250"/>
              <a:chExt cx="2880000" cy="3859550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6A260C25-369C-ACD3-A53B-06F6A13DAD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40589" y="832250"/>
                <a:ext cx="2862823" cy="18000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CE32CAC6-65FE-E071-1DD4-A80A39CFFFF3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32000" y="2891800"/>
                <a:ext cx="2880000" cy="18000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AEFFF4B-B91D-EA1D-B912-30399A14A848}"/>
                </a:ext>
              </a:extLst>
            </p:cNvPr>
            <p:cNvGrpSpPr/>
            <p:nvPr/>
          </p:nvGrpSpPr>
          <p:grpSpPr>
            <a:xfrm>
              <a:off x="6264000" y="832250"/>
              <a:ext cx="2880000" cy="3859550"/>
              <a:chOff x="6264000" y="832250"/>
              <a:chExt cx="2880000" cy="3859550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753443AD-C017-B2C9-8D17-1CD13C989C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81177" y="832250"/>
                <a:ext cx="2862823" cy="18000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18C74645-7257-7D89-F67D-F52C1DB483FA}"/>
                  </a:ext>
                </a:extLst>
              </p:cNvPr>
              <p:cNvPicPr>
                <a:picLocks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64000" y="2891800"/>
                <a:ext cx="2880000" cy="18000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B7AA03F-505A-298F-B24E-19CD2332C0A9}"/>
                </a:ext>
              </a:extLst>
            </p:cNvPr>
            <p:cNvSpPr txBox="1"/>
            <p:nvPr/>
          </p:nvSpPr>
          <p:spPr>
            <a:xfrm>
              <a:off x="412751" y="4819171"/>
              <a:ext cx="203200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 err="1">
                  <a:solidFill>
                    <a:srgbClr val="1F9180"/>
                  </a:solidFill>
                  <a:latin typeface="Nunito" pitchFamily="2" charset="0"/>
                </a:rPr>
                <a:t>f</a:t>
              </a:r>
              <a:r>
                <a:rPr lang="en-IN" sz="1200" dirty="0" err="1">
                  <a:solidFill>
                    <a:srgbClr val="1F9180"/>
                  </a:solidFill>
                  <a:latin typeface="Nunito" pitchFamily="2" charset="0"/>
                </a:rPr>
                <a:t>sw</a:t>
              </a:r>
              <a:r>
                <a:rPr lang="en-IN" sz="2000" dirty="0">
                  <a:solidFill>
                    <a:srgbClr val="1F9180"/>
                  </a:solidFill>
                  <a:latin typeface="Nunito" pitchFamily="2" charset="0"/>
                </a:rPr>
                <a:t> = 10 kHz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177D0C0-9C71-D40D-BF49-D508C5DAAEC0}"/>
                </a:ext>
              </a:extLst>
            </p:cNvPr>
            <p:cNvSpPr txBox="1"/>
            <p:nvPr/>
          </p:nvSpPr>
          <p:spPr>
            <a:xfrm>
              <a:off x="3524250" y="4823309"/>
              <a:ext cx="193675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 err="1">
                  <a:solidFill>
                    <a:srgbClr val="1F9180"/>
                  </a:solidFill>
                  <a:latin typeface="Nunito" pitchFamily="2" charset="0"/>
                </a:rPr>
                <a:t>f</a:t>
              </a:r>
              <a:r>
                <a:rPr lang="en-IN" sz="1200" dirty="0" err="1">
                  <a:solidFill>
                    <a:srgbClr val="1F9180"/>
                  </a:solidFill>
                  <a:latin typeface="Nunito" pitchFamily="2" charset="0"/>
                </a:rPr>
                <a:t>sw</a:t>
              </a:r>
              <a:r>
                <a:rPr lang="en-IN" sz="2000" dirty="0">
                  <a:solidFill>
                    <a:srgbClr val="1F9180"/>
                  </a:solidFill>
                  <a:latin typeface="Nunito" pitchFamily="2" charset="0"/>
                </a:rPr>
                <a:t> = 25 kHz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C2A0739-CAA3-983F-74AE-51D20719BB90}"/>
                </a:ext>
              </a:extLst>
            </p:cNvPr>
            <p:cNvSpPr txBox="1"/>
            <p:nvPr/>
          </p:nvSpPr>
          <p:spPr>
            <a:xfrm>
              <a:off x="6534149" y="4819171"/>
              <a:ext cx="193675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 err="1">
                  <a:solidFill>
                    <a:srgbClr val="1F9180"/>
                  </a:solidFill>
                  <a:latin typeface="Nunito" pitchFamily="2" charset="0"/>
                </a:rPr>
                <a:t>f</a:t>
              </a:r>
              <a:r>
                <a:rPr lang="en-IN" sz="1200" dirty="0" err="1">
                  <a:solidFill>
                    <a:srgbClr val="1F9180"/>
                  </a:solidFill>
                  <a:latin typeface="Nunito" pitchFamily="2" charset="0"/>
                </a:rPr>
                <a:t>sw</a:t>
              </a:r>
              <a:r>
                <a:rPr lang="en-IN" sz="2000" dirty="0">
                  <a:solidFill>
                    <a:srgbClr val="1F9180"/>
                  </a:solidFill>
                  <a:latin typeface="Nunito" pitchFamily="2" charset="0"/>
                </a:rPr>
                <a:t> = 40 kHz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3E5D396-2F22-AA02-1C1D-1B02FF22D534}"/>
                </a:ext>
              </a:extLst>
            </p:cNvPr>
            <p:cNvCxnSpPr/>
            <p:nvPr/>
          </p:nvCxnSpPr>
          <p:spPr>
            <a:xfrm>
              <a:off x="3017520" y="736092"/>
              <a:ext cx="0" cy="430243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8D868F7-D4A9-32A9-FAE7-7184A246F5CA}"/>
                </a:ext>
              </a:extLst>
            </p:cNvPr>
            <p:cNvCxnSpPr/>
            <p:nvPr/>
          </p:nvCxnSpPr>
          <p:spPr>
            <a:xfrm>
              <a:off x="6149340" y="731520"/>
              <a:ext cx="0" cy="430243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9305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401FD-1287-44CC-29B3-C0AF88F32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B4C3B-C0F8-7F23-E342-8CA20C1B7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746976" cy="763600"/>
          </a:xfrm>
        </p:spPr>
        <p:txBody>
          <a:bodyPr/>
          <a:lstStyle/>
          <a:p>
            <a:r>
              <a:rPr lang="en-IN" dirty="0"/>
              <a:t>Series Resonant Inverter (cont.)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42712D-B513-5441-1336-C9F2F8390056}"/>
              </a:ext>
            </a:extLst>
          </p:cNvPr>
          <p:cNvSpPr txBox="1"/>
          <p:nvPr/>
        </p:nvSpPr>
        <p:spPr>
          <a:xfrm>
            <a:off x="8352001" y="410003"/>
            <a:ext cx="2256348" cy="461665"/>
          </a:xfrm>
          <a:prstGeom prst="rect">
            <a:avLst/>
          </a:prstGeom>
          <a:noFill/>
          <a:ln>
            <a:solidFill>
              <a:srgbClr val="1F9180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E2AC00"/>
                </a:solidFill>
              </a:rPr>
              <a:t>Gate, </a:t>
            </a:r>
            <a:r>
              <a:rPr lang="en-IN" sz="2400" dirty="0">
                <a:solidFill>
                  <a:srgbClr val="1F9180"/>
                </a:solidFill>
              </a:rPr>
              <a:t>V</a:t>
            </a:r>
            <a:r>
              <a:rPr lang="en-IN" sz="1400" dirty="0">
                <a:solidFill>
                  <a:srgbClr val="1F9180"/>
                </a:solidFill>
              </a:rPr>
              <a:t>L</a:t>
            </a:r>
            <a:r>
              <a:rPr lang="en-IN" sz="2400" dirty="0">
                <a:solidFill>
                  <a:srgbClr val="1F9180"/>
                </a:solidFill>
              </a:rPr>
              <a:t>,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V</a:t>
            </a:r>
            <a:r>
              <a:rPr lang="en-IN" sz="1400" dirty="0">
                <a:solidFill>
                  <a:schemeClr val="accent1">
                    <a:lumMod val="75000"/>
                  </a:schemeClr>
                </a:solidFill>
              </a:rPr>
              <a:t>C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IN" sz="2400" dirty="0" err="1">
                <a:solidFill>
                  <a:srgbClr val="C00000"/>
                </a:solidFill>
              </a:rPr>
              <a:t>I</a:t>
            </a:r>
            <a:r>
              <a:rPr lang="en-IN" sz="1400" dirty="0" err="1">
                <a:solidFill>
                  <a:srgbClr val="C00000"/>
                </a:solidFill>
              </a:rPr>
              <a:t>dc</a:t>
            </a:r>
            <a:endParaRPr lang="en-IN" sz="2400" dirty="0">
              <a:solidFill>
                <a:srgbClr val="FFC000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4330EA0-EAE1-5F11-34A8-45F2F103ACE4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27" name="Google Shape;68;p14">
              <a:extLst>
                <a:ext uri="{FF2B5EF4-FFF2-40B4-BE49-F238E27FC236}">
                  <a16:creationId xmlns:a16="http://schemas.microsoft.com/office/drawing/2014/main" id="{6AA63272-CFB6-7852-AF69-39C06FE53AD0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70;p14">
              <a:extLst>
                <a:ext uri="{FF2B5EF4-FFF2-40B4-BE49-F238E27FC236}">
                  <a16:creationId xmlns:a16="http://schemas.microsoft.com/office/drawing/2014/main" id="{1325E54F-F0AA-79EF-2408-4A8551EB054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F9B29C8-2904-6F81-8DE1-6A143550CAF3}"/>
              </a:ext>
            </a:extLst>
          </p:cNvPr>
          <p:cNvGrpSpPr/>
          <p:nvPr/>
        </p:nvGrpSpPr>
        <p:grpSpPr>
          <a:xfrm>
            <a:off x="0" y="1112612"/>
            <a:ext cx="12192000" cy="5718577"/>
            <a:chOff x="0" y="1112612"/>
            <a:chExt cx="12192000" cy="571857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EBF95A5-C055-9FC3-21D2-F789287CEE81}"/>
                </a:ext>
              </a:extLst>
            </p:cNvPr>
            <p:cNvGrpSpPr/>
            <p:nvPr/>
          </p:nvGrpSpPr>
          <p:grpSpPr>
            <a:xfrm>
              <a:off x="0" y="1112612"/>
              <a:ext cx="3840000" cy="5163409"/>
              <a:chOff x="0" y="834458"/>
              <a:chExt cx="2880000" cy="3872557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28C51C9A-E159-EBD5-C609-E34CC645D6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834458"/>
                <a:ext cx="2880000" cy="1810799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A4AFF6D-5F2A-809D-2597-F14177CBBF14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2907015"/>
                <a:ext cx="2880000" cy="18000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A5C8BD5-3F3D-C0DF-14FD-4CA6084F88CA}"/>
                </a:ext>
              </a:extLst>
            </p:cNvPr>
            <p:cNvGrpSpPr/>
            <p:nvPr/>
          </p:nvGrpSpPr>
          <p:grpSpPr>
            <a:xfrm>
              <a:off x="4176000" y="1112612"/>
              <a:ext cx="3840000" cy="5163409"/>
              <a:chOff x="3132000" y="834458"/>
              <a:chExt cx="2880000" cy="3872557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C4604E9-2171-E684-D2D8-0EB1F02A5C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32000" y="834458"/>
                <a:ext cx="2880000" cy="1810799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24F7114-CAD3-1919-09D8-17B02826672C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32000" y="2907015"/>
                <a:ext cx="2880000" cy="18000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A57FD7B-4A04-1727-50A3-FECFBD8A9EE2}"/>
                </a:ext>
              </a:extLst>
            </p:cNvPr>
            <p:cNvGrpSpPr/>
            <p:nvPr/>
          </p:nvGrpSpPr>
          <p:grpSpPr>
            <a:xfrm>
              <a:off x="8352000" y="1112612"/>
              <a:ext cx="3840000" cy="5163409"/>
              <a:chOff x="6264000" y="834458"/>
              <a:chExt cx="2880000" cy="3872557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30ABC826-6FB8-C6BF-191E-85FEB4F5E2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64000" y="834458"/>
                <a:ext cx="2880000" cy="1810799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ABB2D0D6-32B5-42B1-8105-04D4A90B4DA5}"/>
                  </a:ext>
                </a:extLst>
              </p:cNvPr>
              <p:cNvPicPr>
                <a:picLocks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64000" y="2907015"/>
                <a:ext cx="2880000" cy="18000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E65433F-3C52-C508-4EF1-D6D717D8A2D7}"/>
                </a:ext>
              </a:extLst>
            </p:cNvPr>
            <p:cNvSpPr txBox="1"/>
            <p:nvPr/>
          </p:nvSpPr>
          <p:spPr>
            <a:xfrm>
              <a:off x="921296" y="6431079"/>
              <a:ext cx="17432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 err="1">
                  <a:solidFill>
                    <a:srgbClr val="1F9180"/>
                  </a:solidFill>
                  <a:latin typeface="Nunito" pitchFamily="2" charset="0"/>
                </a:rPr>
                <a:t>f</a:t>
              </a:r>
              <a:r>
                <a:rPr lang="en-IN" sz="1200" dirty="0" err="1">
                  <a:solidFill>
                    <a:srgbClr val="1F9180"/>
                  </a:solidFill>
                  <a:latin typeface="Nunito" pitchFamily="2" charset="0"/>
                </a:rPr>
                <a:t>sw</a:t>
              </a:r>
              <a:r>
                <a:rPr lang="en-IN" sz="2000" dirty="0">
                  <a:solidFill>
                    <a:srgbClr val="1F9180"/>
                  </a:solidFill>
                  <a:latin typeface="Nunito" pitchFamily="2" charset="0"/>
                </a:rPr>
                <a:t> = 10 kHz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B500123-87FA-FEE8-EB8C-F8682BC4E5B1}"/>
                </a:ext>
              </a:extLst>
            </p:cNvPr>
            <p:cNvSpPr txBox="1"/>
            <p:nvPr/>
          </p:nvSpPr>
          <p:spPr>
            <a:xfrm>
              <a:off x="5224355" y="6431079"/>
              <a:ext cx="17432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 err="1">
                  <a:solidFill>
                    <a:srgbClr val="1F9180"/>
                  </a:solidFill>
                  <a:latin typeface="Nunito" pitchFamily="2" charset="0"/>
                </a:rPr>
                <a:t>f</a:t>
              </a:r>
              <a:r>
                <a:rPr lang="en-IN" sz="1200" dirty="0" err="1">
                  <a:solidFill>
                    <a:srgbClr val="1F9180"/>
                  </a:solidFill>
                  <a:latin typeface="Nunito" pitchFamily="2" charset="0"/>
                </a:rPr>
                <a:t>sw</a:t>
              </a:r>
              <a:r>
                <a:rPr lang="en-IN" sz="2000" dirty="0">
                  <a:solidFill>
                    <a:srgbClr val="1F9180"/>
                  </a:solidFill>
                  <a:latin typeface="Nunito" pitchFamily="2" charset="0"/>
                </a:rPr>
                <a:t> = 25 kHz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A7D40B6-9379-0679-FB6C-022D3C9CF274}"/>
                </a:ext>
              </a:extLst>
            </p:cNvPr>
            <p:cNvSpPr txBox="1"/>
            <p:nvPr/>
          </p:nvSpPr>
          <p:spPr>
            <a:xfrm>
              <a:off x="9300389" y="6425562"/>
              <a:ext cx="17432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 err="1">
                  <a:solidFill>
                    <a:srgbClr val="1F9180"/>
                  </a:solidFill>
                  <a:latin typeface="Nunito" pitchFamily="2" charset="0"/>
                </a:rPr>
                <a:t>f</a:t>
              </a:r>
              <a:r>
                <a:rPr lang="en-IN" sz="1200" dirty="0" err="1">
                  <a:solidFill>
                    <a:srgbClr val="1F9180"/>
                  </a:solidFill>
                  <a:latin typeface="Nunito" pitchFamily="2" charset="0"/>
                </a:rPr>
                <a:t>sw</a:t>
              </a:r>
              <a:r>
                <a:rPr lang="en-IN" sz="2000" dirty="0">
                  <a:solidFill>
                    <a:srgbClr val="1F9180"/>
                  </a:solidFill>
                  <a:latin typeface="Nunito" pitchFamily="2" charset="0"/>
                </a:rPr>
                <a:t> = 40 kHz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3237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4BAFA-A7CE-2385-E1C7-FA72D09AD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0"/>
            <a:ext cx="11360800" cy="763600"/>
          </a:xfrm>
        </p:spPr>
        <p:txBody>
          <a:bodyPr/>
          <a:lstStyle/>
          <a:p>
            <a:pPr algn="ctr"/>
            <a:r>
              <a:rPr lang="en-IN" dirty="0"/>
              <a:t>Parameter values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CEF956-70E5-6C65-61F3-61B52CC9F9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17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733536-39D7-EB40-C75D-ED26277EE325}"/>
              </a:ext>
            </a:extLst>
          </p:cNvPr>
          <p:cNvPicPr>
            <a:picLocks/>
          </p:cNvPicPr>
          <p:nvPr/>
        </p:nvPicPr>
        <p:blipFill>
          <a:blip r:embed="rId2"/>
          <a:srcRect r="15944"/>
          <a:stretch>
            <a:fillRect/>
          </a:stretch>
        </p:blipFill>
        <p:spPr>
          <a:xfrm>
            <a:off x="1148240" y="720023"/>
            <a:ext cx="4560000" cy="5760000"/>
          </a:xfrm>
          <a:prstGeom prst="rect">
            <a:avLst/>
          </a:prstGeom>
          <a:ln>
            <a:solidFill>
              <a:srgbClr val="1F918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516EFF-E045-2A44-1AC1-4184FFBD02C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484532" y="720023"/>
            <a:ext cx="4560000" cy="5760000"/>
          </a:xfrm>
          <a:prstGeom prst="rect">
            <a:avLst/>
          </a:prstGeom>
          <a:ln>
            <a:solidFill>
              <a:srgbClr val="1F9180"/>
            </a:solidFill>
          </a:ln>
        </p:spPr>
      </p:pic>
    </p:spTree>
    <p:extLst>
      <p:ext uri="{BB962C8B-B14F-4D97-AF65-F5344CB8AC3E}">
        <p14:creationId xmlns:p14="http://schemas.microsoft.com/office/powerpoint/2010/main" val="201286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162D7-4F0D-DB3C-26C5-BB726C1E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030" y="0"/>
            <a:ext cx="6735943" cy="763600"/>
          </a:xfrm>
        </p:spPr>
        <p:txBody>
          <a:bodyPr/>
          <a:lstStyle/>
          <a:p>
            <a:pPr algn="ctr"/>
            <a:r>
              <a:rPr lang="en-IN" dirty="0"/>
              <a:t>Key Takeaways and 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3926B-3F2E-7011-494A-74CCE7C996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18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8EFA3B-EBA1-3BED-D1D9-A9A3D2102AC6}"/>
              </a:ext>
            </a:extLst>
          </p:cNvPr>
          <p:cNvSpPr txBox="1"/>
          <p:nvPr/>
        </p:nvSpPr>
        <p:spPr>
          <a:xfrm>
            <a:off x="1715707" y="1092304"/>
            <a:ext cx="80378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1F9180"/>
                </a:solidFill>
                <a:latin typeface="Nunito" pitchFamily="2" charset="0"/>
              </a:rPr>
              <a:t>Drawback with SRC </a:t>
            </a:r>
            <a:r>
              <a:rPr lang="en-IN" sz="2400" dirty="0">
                <a:latin typeface="Nunito" pitchFamily="2" charset="0"/>
              </a:rPr>
              <a:t>– Switching frequency variations are large even for slight change in output voltage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sz="2400" dirty="0">
              <a:latin typeface="Nunito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C40B571-AD06-7699-C56B-59B90913BCE5}"/>
              </a:ext>
            </a:extLst>
          </p:cNvPr>
          <p:cNvSpPr txBox="1">
            <a:spLocks/>
          </p:cNvSpPr>
          <p:nvPr/>
        </p:nvSpPr>
        <p:spPr>
          <a:xfrm>
            <a:off x="2728030" y="2605240"/>
            <a:ext cx="6735943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180"/>
              </a:buClr>
              <a:buSzPts val="2500"/>
              <a:buFont typeface="Nunito Medium"/>
              <a:buNone/>
              <a:defRPr sz="2500" b="0" i="0" u="none" strike="noStrike" cap="none">
                <a:solidFill>
                  <a:srgbClr val="1F9180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333" dirty="0"/>
              <a:t>Future 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4C39C3-224D-2F8E-116E-EA0639EDD10A}"/>
              </a:ext>
            </a:extLst>
          </p:cNvPr>
          <p:cNvSpPr txBox="1"/>
          <p:nvPr/>
        </p:nvSpPr>
        <p:spPr>
          <a:xfrm>
            <a:off x="1714778" y="3956667"/>
            <a:ext cx="80378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dirty="0">
                <a:latin typeface="Nunito" pitchFamily="2" charset="0"/>
              </a:rPr>
              <a:t>Moving to PRC resonant converter in next stage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dirty="0">
                <a:latin typeface="Nunito" pitchFamily="2" charset="0"/>
              </a:rPr>
              <a:t>PRC – Design and Control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C98D926-2E83-84A0-EF51-6D4FF8C3223A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8" name="Google Shape;68;p14">
              <a:extLst>
                <a:ext uri="{FF2B5EF4-FFF2-40B4-BE49-F238E27FC236}">
                  <a16:creationId xmlns:a16="http://schemas.microsoft.com/office/drawing/2014/main" id="{D5D20E2C-E348-EB73-9B31-4EA003337C9B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70;p14">
              <a:extLst>
                <a:ext uri="{FF2B5EF4-FFF2-40B4-BE49-F238E27FC236}">
                  <a16:creationId xmlns:a16="http://schemas.microsoft.com/office/drawing/2014/main" id="{5DA3AD2D-FAEC-D973-2A79-E826FD0BAD8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211833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D2850-93B8-DCC2-3C40-7957F5D7D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41" y="2664854"/>
            <a:ext cx="11874321" cy="1528293"/>
          </a:xfrm>
        </p:spPr>
        <p:txBody>
          <a:bodyPr>
            <a:normAutofit/>
          </a:bodyPr>
          <a:lstStyle/>
          <a:p>
            <a:pPr algn="ctr"/>
            <a:r>
              <a:rPr lang="en-IN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50270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904</Words>
  <Application>Microsoft Office PowerPoint</Application>
  <PresentationFormat>Widescreen</PresentationFormat>
  <Paragraphs>376</Paragraphs>
  <Slides>19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Nunito</vt:lpstr>
      <vt:lpstr>Nunito Medium</vt:lpstr>
      <vt:lpstr>Office Theme</vt:lpstr>
      <vt:lpstr>Design and Development of LLC Resonant Converter for EV charging</vt:lpstr>
      <vt:lpstr>Converter Specifications</vt:lpstr>
      <vt:lpstr>DC-DC Series Resonant Converter</vt:lpstr>
      <vt:lpstr>Gain vs. switching frequency curve</vt:lpstr>
      <vt:lpstr>Analytical vs. Simulated Gain </vt:lpstr>
      <vt:lpstr>Analytical vs. Simulated Gain (R = 0.2 Ω) </vt:lpstr>
      <vt:lpstr>Analytical vs. Simulated Gain (R = 10 Ω) </vt:lpstr>
      <vt:lpstr>Irregularities (SRC)</vt:lpstr>
      <vt:lpstr>Key Observations and Inferences</vt:lpstr>
      <vt:lpstr>Inductor Design (Ap method)</vt:lpstr>
      <vt:lpstr>Inductor Design (cont.)</vt:lpstr>
      <vt:lpstr>Experimental Setup</vt:lpstr>
      <vt:lpstr>Experimental Setup</vt:lpstr>
      <vt:lpstr>Series Resonant Inverter (SRI)</vt:lpstr>
      <vt:lpstr>Series Resonant Inverter (SRI)</vt:lpstr>
      <vt:lpstr>Series Resonant Inverter (cont.)</vt:lpstr>
      <vt:lpstr>Parameter values</vt:lpstr>
      <vt:lpstr>Key Takeaways and 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Kumar</dc:creator>
  <cp:lastModifiedBy>Aditya Kumar</cp:lastModifiedBy>
  <cp:revision>7</cp:revision>
  <dcterms:created xsi:type="dcterms:W3CDTF">2026-01-13T20:09:31Z</dcterms:created>
  <dcterms:modified xsi:type="dcterms:W3CDTF">2026-01-13T20:18:25Z</dcterms:modified>
</cp:coreProperties>
</file>