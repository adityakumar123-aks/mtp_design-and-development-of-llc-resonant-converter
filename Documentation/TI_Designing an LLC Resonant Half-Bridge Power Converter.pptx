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258" r:id="rId4"/>
    <p:sldId id="266" r:id="rId5"/>
    <p:sldId id="259" r:id="rId6"/>
    <p:sldId id="267" r:id="rId7"/>
    <p:sldId id="260" r:id="rId8"/>
    <p:sldId id="261" r:id="rId9"/>
    <p:sldId id="271" r:id="rId10"/>
    <p:sldId id="262" r:id="rId11"/>
    <p:sldId id="263" r:id="rId12"/>
    <p:sldId id="264" r:id="rId13"/>
    <p:sldId id="265" r:id="rId14"/>
    <p:sldId id="269" r:id="rId15"/>
    <p:sldId id="270" r:id="rId16"/>
    <p:sldId id="268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8507DF-4027-4EAE-A275-CEC462F677D5}" v="1" dt="2025-09-04T08:59:27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159" autoAdjust="0"/>
    <p:restoredTop sz="94191" autoAdjust="0"/>
  </p:normalViewPr>
  <p:slideViewPr>
    <p:cSldViewPr snapToGrid="0">
      <p:cViewPr varScale="1">
        <p:scale>
          <a:sx n="96" d="100"/>
          <a:sy n="96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mar" userId="8d02449d-a952-42c1-90ce-9cfb614d402f" providerId="ADAL" clId="{7A5DE330-4C6D-4859-BFE2-539C2F5968E8}"/>
    <pc:docChg chg="modSld">
      <pc:chgData name="Aditya Kumar" userId="8d02449d-a952-42c1-90ce-9cfb614d402f" providerId="ADAL" clId="{7A5DE330-4C6D-4859-BFE2-539C2F5968E8}" dt="2025-09-04T08:59:27.864" v="3"/>
      <pc:docMkLst>
        <pc:docMk/>
      </pc:docMkLst>
      <pc:sldChg chg="modSp mod">
        <pc:chgData name="Aditya Kumar" userId="8d02449d-a952-42c1-90ce-9cfb614d402f" providerId="ADAL" clId="{7A5DE330-4C6D-4859-BFE2-539C2F5968E8}" dt="2025-09-04T08:59:27.864" v="3"/>
        <pc:sldMkLst>
          <pc:docMk/>
          <pc:sldMk cId="726414602" sldId="273"/>
        </pc:sldMkLst>
        <pc:spChg chg="mod">
          <ac:chgData name="Aditya Kumar" userId="8d02449d-a952-42c1-90ce-9cfb614d402f" providerId="ADAL" clId="{7A5DE330-4C6D-4859-BFE2-539C2F5968E8}" dt="2025-09-04T08:59:27.864" v="3"/>
          <ac:spMkLst>
            <pc:docMk/>
            <pc:sldMk cId="726414602" sldId="273"/>
            <ac:spMk id="3" creationId="{FC775E25-1398-44B5-1934-337BA35C4B7B}"/>
          </ac:spMkLst>
        </pc:spChg>
      </pc:sldChg>
    </pc:docChg>
  </pc:docChgLst>
  <pc:docChgLst>
    <pc:chgData name="Aditya Kumar" userId="8d02449d-a952-42c1-90ce-9cfb614d402f" providerId="ADAL" clId="{6391532F-5414-4406-B220-EE56CE773025}"/>
    <pc:docChg chg="undo custSel addSld delSld modSld sldOrd">
      <pc:chgData name="Aditya Kumar" userId="8d02449d-a952-42c1-90ce-9cfb614d402f" providerId="ADAL" clId="{6391532F-5414-4406-B220-EE56CE773025}" dt="2025-08-19T06:44:21.690" v="7405" actId="20577"/>
      <pc:docMkLst>
        <pc:docMk/>
      </pc:docMkLst>
      <pc:sldChg chg="delSp modSp new mod">
        <pc:chgData name="Aditya Kumar" userId="8d02449d-a952-42c1-90ce-9cfb614d402f" providerId="ADAL" clId="{6391532F-5414-4406-B220-EE56CE773025}" dt="2025-08-11T10:21:17.583" v="1022" actId="113"/>
        <pc:sldMkLst>
          <pc:docMk/>
          <pc:sldMk cId="3685249867" sldId="256"/>
        </pc:sldMkLst>
        <pc:spChg chg="mod">
          <ac:chgData name="Aditya Kumar" userId="8d02449d-a952-42c1-90ce-9cfb614d402f" providerId="ADAL" clId="{6391532F-5414-4406-B220-EE56CE773025}" dt="2025-08-11T10:21:17.583" v="1022" actId="113"/>
          <ac:spMkLst>
            <pc:docMk/>
            <pc:sldMk cId="3685249867" sldId="256"/>
            <ac:spMk id="2" creationId="{FBE2428B-C116-DEBA-10B8-10E5BF3CDEC0}"/>
          </ac:spMkLst>
        </pc:spChg>
      </pc:sldChg>
      <pc:sldChg chg="modSp new del mod">
        <pc:chgData name="Aditya Kumar" userId="8d02449d-a952-42c1-90ce-9cfb614d402f" providerId="ADAL" clId="{6391532F-5414-4406-B220-EE56CE773025}" dt="2025-08-08T11:40:19.322" v="105" actId="47"/>
        <pc:sldMkLst>
          <pc:docMk/>
          <pc:sldMk cId="2141053221" sldId="257"/>
        </pc:sldMkLst>
      </pc:sldChg>
      <pc:sldChg chg="addSp modSp new mod">
        <pc:chgData name="Aditya Kumar" userId="8d02449d-a952-42c1-90ce-9cfb614d402f" providerId="ADAL" clId="{6391532F-5414-4406-B220-EE56CE773025}" dt="2025-08-11T10:21:22.662" v="1023" actId="113"/>
        <pc:sldMkLst>
          <pc:docMk/>
          <pc:sldMk cId="2067897344" sldId="258"/>
        </pc:sldMkLst>
        <pc:spChg chg="mod">
          <ac:chgData name="Aditya Kumar" userId="8d02449d-a952-42c1-90ce-9cfb614d402f" providerId="ADAL" clId="{6391532F-5414-4406-B220-EE56CE773025}" dt="2025-08-08T11:49:32.105" v="728" actId="1035"/>
          <ac:spMkLst>
            <pc:docMk/>
            <pc:sldMk cId="2067897344" sldId="258"/>
            <ac:spMk id="2" creationId="{271E6299-211A-DC7F-E4BC-E9F1E20F7EB9}"/>
          </ac:spMkLst>
        </pc:spChg>
        <pc:spChg chg="mod">
          <ac:chgData name="Aditya Kumar" userId="8d02449d-a952-42c1-90ce-9cfb614d402f" providerId="ADAL" clId="{6391532F-5414-4406-B220-EE56CE773025}" dt="2025-08-11T10:21:22.662" v="1023" actId="113"/>
          <ac:spMkLst>
            <pc:docMk/>
            <pc:sldMk cId="2067897344" sldId="258"/>
            <ac:spMk id="3" creationId="{712CE2F4-E982-8A2A-ABDC-AB751413A6DC}"/>
          </ac:spMkLst>
        </pc:spChg>
        <pc:spChg chg="add mod">
          <ac:chgData name="Aditya Kumar" userId="8d02449d-a952-42c1-90ce-9cfb614d402f" providerId="ADAL" clId="{6391532F-5414-4406-B220-EE56CE773025}" dt="2025-08-08T11:53:16.741" v="950" actId="554"/>
          <ac:spMkLst>
            <pc:docMk/>
            <pc:sldMk cId="2067897344" sldId="258"/>
            <ac:spMk id="4" creationId="{73EB70E3-BB34-F97A-3A0E-9BCF93D95129}"/>
          </ac:spMkLst>
        </pc:spChg>
      </pc:sldChg>
      <pc:sldChg chg="addSp modSp new mod">
        <pc:chgData name="Aditya Kumar" userId="8d02449d-a952-42c1-90ce-9cfb614d402f" providerId="ADAL" clId="{6391532F-5414-4406-B220-EE56CE773025}" dt="2025-08-12T10:00:04.856" v="5874" actId="1037"/>
        <pc:sldMkLst>
          <pc:docMk/>
          <pc:sldMk cId="1430896208" sldId="259"/>
        </pc:sldMkLst>
        <pc:spChg chg="mod">
          <ac:chgData name="Aditya Kumar" userId="8d02449d-a952-42c1-90ce-9cfb614d402f" providerId="ADAL" clId="{6391532F-5414-4406-B220-EE56CE773025}" dt="2025-08-08T11:54:06.586" v="981" actId="1036"/>
          <ac:spMkLst>
            <pc:docMk/>
            <pc:sldMk cId="1430896208" sldId="259"/>
            <ac:spMk id="2" creationId="{021E8CA0-5EB0-2010-2A9B-C35D559B9AA5}"/>
          </ac:spMkLst>
        </pc:spChg>
        <pc:spChg chg="mod">
          <ac:chgData name="Aditya Kumar" userId="8d02449d-a952-42c1-90ce-9cfb614d402f" providerId="ADAL" clId="{6391532F-5414-4406-B220-EE56CE773025}" dt="2025-08-11T10:58:16.064" v="2960" actId="11"/>
          <ac:spMkLst>
            <pc:docMk/>
            <pc:sldMk cId="1430896208" sldId="259"/>
            <ac:spMk id="3" creationId="{6F24D69B-3526-86DC-25D5-DF4E3657AA3C}"/>
          </ac:spMkLst>
        </pc:spChg>
        <pc:picChg chg="add mod">
          <ac:chgData name="Aditya Kumar" userId="8d02449d-a952-42c1-90ce-9cfb614d402f" providerId="ADAL" clId="{6391532F-5414-4406-B220-EE56CE773025}" dt="2025-08-12T10:00:04.856" v="5874" actId="1037"/>
          <ac:picMkLst>
            <pc:docMk/>
            <pc:sldMk cId="1430896208" sldId="259"/>
            <ac:picMk id="5" creationId="{2C0EB585-BFE0-2E05-AE62-0BD2B774C28C}"/>
          </ac:picMkLst>
        </pc:picChg>
        <pc:picChg chg="add mod">
          <ac:chgData name="Aditya Kumar" userId="8d02449d-a952-42c1-90ce-9cfb614d402f" providerId="ADAL" clId="{6391532F-5414-4406-B220-EE56CE773025}" dt="2025-08-12T10:00:04.856" v="5874" actId="1037"/>
          <ac:picMkLst>
            <pc:docMk/>
            <pc:sldMk cId="1430896208" sldId="259"/>
            <ac:picMk id="7" creationId="{0ED8D376-F56F-E265-EBF2-1645F90900E8}"/>
          </ac:picMkLst>
        </pc:picChg>
      </pc:sldChg>
      <pc:sldChg chg="new del">
        <pc:chgData name="Aditya Kumar" userId="8d02449d-a952-42c1-90ce-9cfb614d402f" providerId="ADAL" clId="{6391532F-5414-4406-B220-EE56CE773025}" dt="2025-08-08T11:49:58.909" v="739" actId="47"/>
        <pc:sldMkLst>
          <pc:docMk/>
          <pc:sldMk cId="1988907651" sldId="259"/>
        </pc:sldMkLst>
      </pc:sldChg>
      <pc:sldChg chg="addSp modSp new mod">
        <pc:chgData name="Aditya Kumar" userId="8d02449d-a952-42c1-90ce-9cfb614d402f" providerId="ADAL" clId="{6391532F-5414-4406-B220-EE56CE773025}" dt="2025-08-11T11:22:55.925" v="3400" actId="20577"/>
        <pc:sldMkLst>
          <pc:docMk/>
          <pc:sldMk cId="2904299962" sldId="260"/>
        </pc:sldMkLst>
        <pc:spChg chg="mod">
          <ac:chgData name="Aditya Kumar" userId="8d02449d-a952-42c1-90ce-9cfb614d402f" providerId="ADAL" clId="{6391532F-5414-4406-B220-EE56CE773025}" dt="2025-08-11T10:42:24.952" v="2304" actId="14100"/>
          <ac:spMkLst>
            <pc:docMk/>
            <pc:sldMk cId="2904299962" sldId="260"/>
            <ac:spMk id="2" creationId="{C763588D-4BC0-399B-A54F-4D583412B81F}"/>
          </ac:spMkLst>
        </pc:spChg>
        <pc:spChg chg="mod">
          <ac:chgData name="Aditya Kumar" userId="8d02449d-a952-42c1-90ce-9cfb614d402f" providerId="ADAL" clId="{6391532F-5414-4406-B220-EE56CE773025}" dt="2025-08-11T11:22:55.925" v="3400" actId="20577"/>
          <ac:spMkLst>
            <pc:docMk/>
            <pc:sldMk cId="2904299962" sldId="260"/>
            <ac:spMk id="3" creationId="{1355AF99-01C9-828D-3191-CDF1CB4DE141}"/>
          </ac:spMkLst>
        </pc:spChg>
        <pc:picChg chg="add mod">
          <ac:chgData name="Aditya Kumar" userId="8d02449d-a952-42c1-90ce-9cfb614d402f" providerId="ADAL" clId="{6391532F-5414-4406-B220-EE56CE773025}" dt="2025-08-11T10:57:36.033" v="2951" actId="1037"/>
          <ac:picMkLst>
            <pc:docMk/>
            <pc:sldMk cId="2904299962" sldId="260"/>
            <ac:picMk id="5" creationId="{A1D9AEF5-A8D9-3D18-0508-6BACFC6014EE}"/>
          </ac:picMkLst>
        </pc:picChg>
        <pc:picChg chg="add mod">
          <ac:chgData name="Aditya Kumar" userId="8d02449d-a952-42c1-90ce-9cfb614d402f" providerId="ADAL" clId="{6391532F-5414-4406-B220-EE56CE773025}" dt="2025-08-11T10:57:30.221" v="2947" actId="1035"/>
          <ac:picMkLst>
            <pc:docMk/>
            <pc:sldMk cId="2904299962" sldId="260"/>
            <ac:picMk id="7" creationId="{A82C5DF2-D6FC-8525-787C-7BF1480EC627}"/>
          </ac:picMkLst>
        </pc:picChg>
      </pc:sldChg>
      <pc:sldChg chg="modSp add del mod">
        <pc:chgData name="Aditya Kumar" userId="8d02449d-a952-42c1-90ce-9cfb614d402f" providerId="ADAL" clId="{6391532F-5414-4406-B220-EE56CE773025}" dt="2025-08-08T11:53:44.396" v="961" actId="47"/>
        <pc:sldMkLst>
          <pc:docMk/>
          <pc:sldMk cId="4241040645" sldId="260"/>
        </pc:sldMkLst>
      </pc:sldChg>
      <pc:sldChg chg="addSp delSp modSp new mod modNotesTx">
        <pc:chgData name="Aditya Kumar" userId="8d02449d-a952-42c1-90ce-9cfb614d402f" providerId="ADAL" clId="{6391532F-5414-4406-B220-EE56CE773025}" dt="2025-08-11T11:52:42.179" v="4109" actId="207"/>
        <pc:sldMkLst>
          <pc:docMk/>
          <pc:sldMk cId="4178695002" sldId="261"/>
        </pc:sldMkLst>
        <pc:spChg chg="mod">
          <ac:chgData name="Aditya Kumar" userId="8d02449d-a952-42c1-90ce-9cfb614d402f" providerId="ADAL" clId="{6391532F-5414-4406-B220-EE56CE773025}" dt="2025-08-11T11:52:42.179" v="4109" actId="207"/>
          <ac:spMkLst>
            <pc:docMk/>
            <pc:sldMk cId="4178695002" sldId="261"/>
            <ac:spMk id="3" creationId="{05096166-642E-FA13-7C89-793147421361}"/>
          </ac:spMkLst>
        </pc:spChg>
        <pc:picChg chg="add mod">
          <ac:chgData name="Aditya Kumar" userId="8d02449d-a952-42c1-90ce-9cfb614d402f" providerId="ADAL" clId="{6391532F-5414-4406-B220-EE56CE773025}" dt="2025-08-11T11:46:37.845" v="3617" actId="1076"/>
          <ac:picMkLst>
            <pc:docMk/>
            <pc:sldMk cId="4178695002" sldId="261"/>
            <ac:picMk id="5" creationId="{C7BEF241-E50F-7D18-9CB5-A7DEA1DF18AA}"/>
          </ac:picMkLst>
        </pc:picChg>
      </pc:sldChg>
      <pc:sldChg chg="addSp delSp modSp new mod">
        <pc:chgData name="Aditya Kumar" userId="8d02449d-a952-42c1-90ce-9cfb614d402f" providerId="ADAL" clId="{6391532F-5414-4406-B220-EE56CE773025}" dt="2025-08-11T12:03:32.770" v="4518" actId="14100"/>
        <pc:sldMkLst>
          <pc:docMk/>
          <pc:sldMk cId="3633331708" sldId="262"/>
        </pc:sldMkLst>
        <pc:spChg chg="mod">
          <ac:chgData name="Aditya Kumar" userId="8d02449d-a952-42c1-90ce-9cfb614d402f" providerId="ADAL" clId="{6391532F-5414-4406-B220-EE56CE773025}" dt="2025-08-11T12:03:32.770" v="4518" actId="14100"/>
          <ac:spMkLst>
            <pc:docMk/>
            <pc:sldMk cId="3633331708" sldId="262"/>
            <ac:spMk id="3" creationId="{B1B07BF1-7D4B-0B60-6F1B-D5DF53C3D199}"/>
          </ac:spMkLst>
        </pc:spChg>
        <pc:spChg chg="add mod">
          <ac:chgData name="Aditya Kumar" userId="8d02449d-a952-42c1-90ce-9cfb614d402f" providerId="ADAL" clId="{6391532F-5414-4406-B220-EE56CE773025}" dt="2025-08-11T12:03:02.083" v="4511" actId="1036"/>
          <ac:spMkLst>
            <pc:docMk/>
            <pc:sldMk cId="3633331708" sldId="262"/>
            <ac:spMk id="10" creationId="{DAC7755C-E85D-3DD4-1541-723A607628AD}"/>
          </ac:spMkLst>
        </pc:spChg>
        <pc:spChg chg="add mod">
          <ac:chgData name="Aditya Kumar" userId="8d02449d-a952-42c1-90ce-9cfb614d402f" providerId="ADAL" clId="{6391532F-5414-4406-B220-EE56CE773025}" dt="2025-08-11T12:03:02.083" v="4511" actId="1036"/>
          <ac:spMkLst>
            <pc:docMk/>
            <pc:sldMk cId="3633331708" sldId="262"/>
            <ac:spMk id="11" creationId="{BF874BBB-F3E8-70C8-1D6A-001FB2A6BB6B}"/>
          </ac:spMkLst>
        </pc:spChg>
        <pc:picChg chg="add mod">
          <ac:chgData name="Aditya Kumar" userId="8d02449d-a952-42c1-90ce-9cfb614d402f" providerId="ADAL" clId="{6391532F-5414-4406-B220-EE56CE773025}" dt="2025-08-11T12:02:58.496" v="4500" actId="1035"/>
          <ac:picMkLst>
            <pc:docMk/>
            <pc:sldMk cId="3633331708" sldId="262"/>
            <ac:picMk id="7" creationId="{408685B8-BEBC-703B-9439-8EE8EA7E13D6}"/>
          </ac:picMkLst>
        </pc:picChg>
        <pc:picChg chg="add mod">
          <ac:chgData name="Aditya Kumar" userId="8d02449d-a952-42c1-90ce-9cfb614d402f" providerId="ADAL" clId="{6391532F-5414-4406-B220-EE56CE773025}" dt="2025-08-11T12:02:58.496" v="4500" actId="1035"/>
          <ac:picMkLst>
            <pc:docMk/>
            <pc:sldMk cId="3633331708" sldId="262"/>
            <ac:picMk id="9" creationId="{8080526B-26BF-4970-B74A-325D6C1DAE70}"/>
          </ac:picMkLst>
        </pc:picChg>
      </pc:sldChg>
      <pc:sldChg chg="addSp delSp modSp new mod">
        <pc:chgData name="Aditya Kumar" userId="8d02449d-a952-42c1-90ce-9cfb614d402f" providerId="ADAL" clId="{6391532F-5414-4406-B220-EE56CE773025}" dt="2025-08-11T12:09:58.506" v="4830" actId="1582"/>
        <pc:sldMkLst>
          <pc:docMk/>
          <pc:sldMk cId="4046919396" sldId="263"/>
        </pc:sldMkLst>
        <pc:spChg chg="mod">
          <ac:chgData name="Aditya Kumar" userId="8d02449d-a952-42c1-90ce-9cfb614d402f" providerId="ADAL" clId="{6391532F-5414-4406-B220-EE56CE773025}" dt="2025-08-11T12:09:07.171" v="4700" actId="14100"/>
          <ac:spMkLst>
            <pc:docMk/>
            <pc:sldMk cId="4046919396" sldId="263"/>
            <ac:spMk id="3" creationId="{457568FD-2108-D83F-0693-736D91A00AC5}"/>
          </ac:spMkLst>
        </pc:spChg>
        <pc:picChg chg="add mod">
          <ac:chgData name="Aditya Kumar" userId="8d02449d-a952-42c1-90ce-9cfb614d402f" providerId="ADAL" clId="{6391532F-5414-4406-B220-EE56CE773025}" dt="2025-08-11T12:08:48.030" v="4697" actId="1037"/>
          <ac:picMkLst>
            <pc:docMk/>
            <pc:sldMk cId="4046919396" sldId="263"/>
            <ac:picMk id="7" creationId="{2386C709-326E-1B6D-284C-998E9EBFB829}"/>
          </ac:picMkLst>
        </pc:picChg>
        <pc:picChg chg="add mod">
          <ac:chgData name="Aditya Kumar" userId="8d02449d-a952-42c1-90ce-9cfb614d402f" providerId="ADAL" clId="{6391532F-5414-4406-B220-EE56CE773025}" dt="2025-08-11T12:08:43.862" v="4681" actId="1037"/>
          <ac:picMkLst>
            <pc:docMk/>
            <pc:sldMk cId="4046919396" sldId="263"/>
            <ac:picMk id="9" creationId="{E8C519D4-FE1B-A467-3A25-00A289B8DF90}"/>
          </ac:picMkLst>
        </pc:picChg>
        <pc:picChg chg="add mod">
          <ac:chgData name="Aditya Kumar" userId="8d02449d-a952-42c1-90ce-9cfb614d402f" providerId="ADAL" clId="{6391532F-5414-4406-B220-EE56CE773025}" dt="2025-08-11T12:08:51.042" v="4698" actId="12788"/>
          <ac:picMkLst>
            <pc:docMk/>
            <pc:sldMk cId="4046919396" sldId="263"/>
            <ac:picMk id="11" creationId="{E98A85F5-35AC-35C0-30B1-8387BE5D7C9C}"/>
          </ac:picMkLst>
        </pc:picChg>
        <pc:cxnChg chg="add mod">
          <ac:chgData name="Aditya Kumar" userId="8d02449d-a952-42c1-90ce-9cfb614d402f" providerId="ADAL" clId="{6391532F-5414-4406-B220-EE56CE773025}" dt="2025-08-11T12:09:58.506" v="4830" actId="1582"/>
          <ac:cxnSpMkLst>
            <pc:docMk/>
            <pc:sldMk cId="4046919396" sldId="263"/>
            <ac:cxnSpMk id="13" creationId="{83B0C906-2E48-0498-BAD5-2B026E8D9424}"/>
          </ac:cxnSpMkLst>
        </pc:cxnChg>
        <pc:cxnChg chg="add mod">
          <ac:chgData name="Aditya Kumar" userId="8d02449d-a952-42c1-90ce-9cfb614d402f" providerId="ADAL" clId="{6391532F-5414-4406-B220-EE56CE773025}" dt="2025-08-11T12:09:53.128" v="4828" actId="1582"/>
          <ac:cxnSpMkLst>
            <pc:docMk/>
            <pc:sldMk cId="4046919396" sldId="263"/>
            <ac:cxnSpMk id="15" creationId="{31030EFC-AFF0-B02F-593B-3301B1C781A8}"/>
          </ac:cxnSpMkLst>
        </pc:cxnChg>
      </pc:sldChg>
      <pc:sldChg chg="addSp delSp modSp new mod">
        <pc:chgData name="Aditya Kumar" userId="8d02449d-a952-42c1-90ce-9cfb614d402f" providerId="ADAL" clId="{6391532F-5414-4406-B220-EE56CE773025}" dt="2025-08-11T12:28:47.963" v="5855" actId="1582"/>
        <pc:sldMkLst>
          <pc:docMk/>
          <pc:sldMk cId="3538918709" sldId="264"/>
        </pc:sldMkLst>
        <pc:spChg chg="mod">
          <ac:chgData name="Aditya Kumar" userId="8d02449d-a952-42c1-90ce-9cfb614d402f" providerId="ADAL" clId="{6391532F-5414-4406-B220-EE56CE773025}" dt="2025-08-11T12:10:59.716" v="4862" actId="404"/>
          <ac:spMkLst>
            <pc:docMk/>
            <pc:sldMk cId="3538918709" sldId="264"/>
            <ac:spMk id="3" creationId="{4C13E51D-239C-9E3E-D519-24A8BFC118D7}"/>
          </ac:spMkLst>
        </pc:spChg>
        <pc:picChg chg="add mod">
          <ac:chgData name="Aditya Kumar" userId="8d02449d-a952-42c1-90ce-9cfb614d402f" providerId="ADAL" clId="{6391532F-5414-4406-B220-EE56CE773025}" dt="2025-08-11T12:12:50.342" v="4930" actId="1038"/>
          <ac:picMkLst>
            <pc:docMk/>
            <pc:sldMk cId="3538918709" sldId="264"/>
            <ac:picMk id="5" creationId="{801D5EB7-6AF5-8166-AE01-05F8A1832935}"/>
          </ac:picMkLst>
        </pc:picChg>
        <pc:picChg chg="add mod">
          <ac:chgData name="Aditya Kumar" userId="8d02449d-a952-42c1-90ce-9cfb614d402f" providerId="ADAL" clId="{6391532F-5414-4406-B220-EE56CE773025}" dt="2025-08-11T12:12:46.320" v="4903" actId="1038"/>
          <ac:picMkLst>
            <pc:docMk/>
            <pc:sldMk cId="3538918709" sldId="264"/>
            <ac:picMk id="7" creationId="{CF6C89BD-3019-238C-9FFA-2AEA3BBB054B}"/>
          </ac:picMkLst>
        </pc:picChg>
        <pc:cxnChg chg="add mod">
          <ac:chgData name="Aditya Kumar" userId="8d02449d-a952-42c1-90ce-9cfb614d402f" providerId="ADAL" clId="{6391532F-5414-4406-B220-EE56CE773025}" dt="2025-08-11T12:28:47.963" v="5855" actId="1582"/>
          <ac:cxnSpMkLst>
            <pc:docMk/>
            <pc:sldMk cId="3538918709" sldId="264"/>
            <ac:cxnSpMk id="4" creationId="{3F502116-F0A6-C4DB-3A85-A85AC450FCAA}"/>
          </ac:cxnSpMkLst>
        </pc:cxnChg>
      </pc:sldChg>
      <pc:sldChg chg="addSp delSp modSp new mod">
        <pc:chgData name="Aditya Kumar" userId="8d02449d-a952-42c1-90ce-9cfb614d402f" providerId="ADAL" clId="{6391532F-5414-4406-B220-EE56CE773025}" dt="2025-08-12T10:45:55.278" v="5879" actId="732"/>
        <pc:sldMkLst>
          <pc:docMk/>
          <pc:sldMk cId="622971549" sldId="265"/>
        </pc:sldMkLst>
        <pc:spChg chg="mod ord">
          <ac:chgData name="Aditya Kumar" userId="8d02449d-a952-42c1-90ce-9cfb614d402f" providerId="ADAL" clId="{6391532F-5414-4406-B220-EE56CE773025}" dt="2025-08-11T12:23:52.451" v="5626" actId="167"/>
          <ac:spMkLst>
            <pc:docMk/>
            <pc:sldMk cId="622971549" sldId="265"/>
            <ac:spMk id="3" creationId="{0F7DDA82-FDF7-1E99-EF3E-220637B802FA}"/>
          </ac:spMkLst>
        </pc:spChg>
        <pc:picChg chg="add mod ord modCrop">
          <ac:chgData name="Aditya Kumar" userId="8d02449d-a952-42c1-90ce-9cfb614d402f" providerId="ADAL" clId="{6391532F-5414-4406-B220-EE56CE773025}" dt="2025-08-12T10:45:55.278" v="5879" actId="732"/>
          <ac:picMkLst>
            <pc:docMk/>
            <pc:sldMk cId="622971549" sldId="265"/>
            <ac:picMk id="4" creationId="{767696D8-E9E0-6621-AC4F-54DBE0EE1603}"/>
          </ac:picMkLst>
        </pc:picChg>
        <pc:picChg chg="add mod ord modCrop">
          <ac:chgData name="Aditya Kumar" userId="8d02449d-a952-42c1-90ce-9cfb614d402f" providerId="ADAL" clId="{6391532F-5414-4406-B220-EE56CE773025}" dt="2025-08-12T10:45:40.227" v="5878" actId="732"/>
          <ac:picMkLst>
            <pc:docMk/>
            <pc:sldMk cId="622971549" sldId="265"/>
            <ac:picMk id="6" creationId="{DBA88D82-D58C-F007-D555-F39A88AEA0F3}"/>
          </ac:picMkLst>
        </pc:picChg>
      </pc:sldChg>
      <pc:sldChg chg="delSp modSp new mod">
        <pc:chgData name="Aditya Kumar" userId="8d02449d-a952-42c1-90ce-9cfb614d402f" providerId="ADAL" clId="{6391532F-5414-4406-B220-EE56CE773025}" dt="2025-08-11T12:13:40.991" v="4954" actId="12788"/>
        <pc:sldMkLst>
          <pc:docMk/>
          <pc:sldMk cId="3384938977" sldId="266"/>
        </pc:sldMkLst>
        <pc:spChg chg="mod">
          <ac:chgData name="Aditya Kumar" userId="8d02449d-a952-42c1-90ce-9cfb614d402f" providerId="ADAL" clId="{6391532F-5414-4406-B220-EE56CE773025}" dt="2025-08-11T12:13:40.991" v="4954" actId="12788"/>
          <ac:spMkLst>
            <pc:docMk/>
            <pc:sldMk cId="3384938977" sldId="266"/>
            <ac:spMk id="2" creationId="{7A99D4BF-B39B-0EAB-9E59-51401E368409}"/>
          </ac:spMkLst>
        </pc:spChg>
      </pc:sldChg>
      <pc:sldChg chg="modSp add mod ord">
        <pc:chgData name="Aditya Kumar" userId="8d02449d-a952-42c1-90ce-9cfb614d402f" providerId="ADAL" clId="{6391532F-5414-4406-B220-EE56CE773025}" dt="2025-08-11T12:14:22.912" v="4962" actId="12789"/>
        <pc:sldMkLst>
          <pc:docMk/>
          <pc:sldMk cId="3569173428" sldId="267"/>
        </pc:sldMkLst>
        <pc:spChg chg="mod">
          <ac:chgData name="Aditya Kumar" userId="8d02449d-a952-42c1-90ce-9cfb614d402f" providerId="ADAL" clId="{6391532F-5414-4406-B220-EE56CE773025}" dt="2025-08-11T12:14:22.912" v="4962" actId="12789"/>
          <ac:spMkLst>
            <pc:docMk/>
            <pc:sldMk cId="3569173428" sldId="267"/>
            <ac:spMk id="2" creationId="{61029697-FC10-979D-208E-B9649E234248}"/>
          </ac:spMkLst>
        </pc:spChg>
      </pc:sldChg>
      <pc:sldChg chg="modSp add mod ord">
        <pc:chgData name="Aditya Kumar" userId="8d02449d-a952-42c1-90ce-9cfb614d402f" providerId="ADAL" clId="{6391532F-5414-4406-B220-EE56CE773025}" dt="2025-08-11T12:14:48.615" v="4986" actId="20577"/>
        <pc:sldMkLst>
          <pc:docMk/>
          <pc:sldMk cId="868947173" sldId="268"/>
        </pc:sldMkLst>
        <pc:spChg chg="mod">
          <ac:chgData name="Aditya Kumar" userId="8d02449d-a952-42c1-90ce-9cfb614d402f" providerId="ADAL" clId="{6391532F-5414-4406-B220-EE56CE773025}" dt="2025-08-11T12:14:48.615" v="4986" actId="20577"/>
          <ac:spMkLst>
            <pc:docMk/>
            <pc:sldMk cId="868947173" sldId="268"/>
            <ac:spMk id="2" creationId="{E49418C1-ADAB-8C70-7C57-76667BCBA014}"/>
          </ac:spMkLst>
        </pc:spChg>
      </pc:sldChg>
      <pc:sldChg chg="addSp delSp modSp new mod">
        <pc:chgData name="Aditya Kumar" userId="8d02449d-a952-42c1-90ce-9cfb614d402f" providerId="ADAL" clId="{6391532F-5414-4406-B220-EE56CE773025}" dt="2025-08-19T06:34:55.598" v="6981" actId="207"/>
        <pc:sldMkLst>
          <pc:docMk/>
          <pc:sldMk cId="3125018311" sldId="269"/>
        </pc:sldMkLst>
        <pc:spChg chg="mod">
          <ac:chgData name="Aditya Kumar" userId="8d02449d-a952-42c1-90ce-9cfb614d402f" providerId="ADAL" clId="{6391532F-5414-4406-B220-EE56CE773025}" dt="2025-08-19T06:34:55.598" v="6981" actId="207"/>
          <ac:spMkLst>
            <pc:docMk/>
            <pc:sldMk cId="3125018311" sldId="269"/>
            <ac:spMk id="3" creationId="{C7E7A2BF-A71B-B5B7-687B-5DD6542BFBF5}"/>
          </ac:spMkLst>
        </pc:spChg>
        <pc:picChg chg="add mod">
          <ac:chgData name="Aditya Kumar" userId="8d02449d-a952-42c1-90ce-9cfb614d402f" providerId="ADAL" clId="{6391532F-5414-4406-B220-EE56CE773025}" dt="2025-08-19T06:13:21.127" v="6017" actId="1037"/>
          <ac:picMkLst>
            <pc:docMk/>
            <pc:sldMk cId="3125018311" sldId="269"/>
            <ac:picMk id="4" creationId="{3A2E7EB1-0D40-931B-7958-F0561161D42C}"/>
          </ac:picMkLst>
        </pc:picChg>
        <pc:picChg chg="add mod">
          <ac:chgData name="Aditya Kumar" userId="8d02449d-a952-42c1-90ce-9cfb614d402f" providerId="ADAL" clId="{6391532F-5414-4406-B220-EE56CE773025}" dt="2025-08-19T06:13:31.484" v="6031" actId="1035"/>
          <ac:picMkLst>
            <pc:docMk/>
            <pc:sldMk cId="3125018311" sldId="269"/>
            <ac:picMk id="6" creationId="{D32FA972-FA4C-690F-D27B-9502247E8A91}"/>
          </ac:picMkLst>
        </pc:picChg>
      </pc:sldChg>
      <pc:sldChg chg="new del">
        <pc:chgData name="Aditya Kumar" userId="8d02449d-a952-42c1-90ce-9cfb614d402f" providerId="ADAL" clId="{6391532F-5414-4406-B220-EE56CE773025}" dt="2025-08-11T12:24:51.431" v="5737" actId="47"/>
        <pc:sldMkLst>
          <pc:docMk/>
          <pc:sldMk cId="3605070811" sldId="270"/>
        </pc:sldMkLst>
      </pc:sldChg>
      <pc:sldChg chg="delSp modSp new mod">
        <pc:chgData name="Aditya Kumar" userId="8d02449d-a952-42c1-90ce-9cfb614d402f" providerId="ADAL" clId="{6391532F-5414-4406-B220-EE56CE773025}" dt="2025-08-19T06:44:21.690" v="7405" actId="20577"/>
        <pc:sldMkLst>
          <pc:docMk/>
          <pc:sldMk cId="4015543160" sldId="270"/>
        </pc:sldMkLst>
        <pc:spChg chg="mod">
          <ac:chgData name="Aditya Kumar" userId="8d02449d-a952-42c1-90ce-9cfb614d402f" providerId="ADAL" clId="{6391532F-5414-4406-B220-EE56CE773025}" dt="2025-08-19T06:44:21.690" v="7405" actId="20577"/>
          <ac:spMkLst>
            <pc:docMk/>
            <pc:sldMk cId="4015543160" sldId="270"/>
            <ac:spMk id="3" creationId="{53FCFFEE-80CC-CE31-0623-A8B1B39EE4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3B248-E9B4-451E-89A1-AFE0963658B7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BAF79-12ED-4556-BB6E-2D062C41B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5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ZVS possible in all three cases. When </a:t>
            </a:r>
            <a:r>
              <a:rPr lang="en-IN" dirty="0" err="1"/>
              <a:t>Ir</a:t>
            </a:r>
            <a:r>
              <a:rPr lang="en-IN" dirty="0"/>
              <a:t> falls to </a:t>
            </a:r>
            <a:r>
              <a:rPr lang="en-IN" dirty="0" err="1"/>
              <a:t>Im</a:t>
            </a:r>
            <a:r>
              <a:rPr lang="en-IN" dirty="0"/>
              <a:t>, no power transfer from primary to sec. ZVS may be lost if switching </a:t>
            </a:r>
            <a:r>
              <a:rPr lang="en-IN" dirty="0" err="1"/>
              <a:t>freq</a:t>
            </a:r>
            <a:r>
              <a:rPr lang="en-IN" dirty="0"/>
              <a:t> becomes too low than 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AF79-12ED-4556-BB6E-2D062C41B2A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58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AF79-12ED-4556-BB6E-2D062C41B2A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23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When </a:t>
                </a:r>
                <a14:m>
                  <m:oMath xmlns:m="http://schemas.openxmlformats.org/officeDocument/2006/math">
                    <m:r>
                      <a:rPr lang="en-IN" sz="1200" i="1" smtClean="0">
                        <a:latin typeface="Cambria Math" panose="02040503050406030204" pitchFamily="18" charset="0"/>
                      </a:rPr>
                      <m:t>ɸ</m:t>
                    </m:r>
                  </m:oMath>
                </a14:m>
                <a:r>
                  <a:rPr lang="en-IN" sz="1000" dirty="0"/>
                  <a:t>z</a:t>
                </a:r>
                <a:r>
                  <a:rPr lang="en-IN" sz="1200" dirty="0"/>
                  <a:t> &gt;</a:t>
                </a:r>
                <a:r>
                  <a:rPr lang="en-IN" sz="1200" baseline="0" dirty="0"/>
                  <a:t> 0, the </a:t>
                </a:r>
                <a:r>
                  <a:rPr lang="en-IN" sz="1200" baseline="0" dirty="0" err="1"/>
                  <a:t>impd</a:t>
                </a:r>
                <a:r>
                  <a:rPr lang="en-IN" sz="1200" baseline="0" dirty="0"/>
                  <a:t>. Is Inductive,   &lt; 0, capacitive,    = 0, resistive</a:t>
                </a:r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When </a:t>
                </a:r>
                <a:r>
                  <a:rPr lang="en-IN" sz="1200" i="0">
                    <a:latin typeface="Cambria Math" panose="02040503050406030204" pitchFamily="18" charset="0"/>
                  </a:rPr>
                  <a:t>ɸ</a:t>
                </a:r>
                <a:r>
                  <a:rPr lang="en-IN" sz="1000" dirty="0"/>
                  <a:t>z</a:t>
                </a:r>
                <a:r>
                  <a:rPr lang="en-IN" sz="1200" dirty="0"/>
                  <a:t> &gt;</a:t>
                </a:r>
                <a:r>
                  <a:rPr lang="en-IN" sz="1200" baseline="0" dirty="0"/>
                  <a:t> 0, the </a:t>
                </a:r>
                <a:r>
                  <a:rPr lang="en-IN" sz="1200" baseline="0" dirty="0" err="1"/>
                  <a:t>impd</a:t>
                </a:r>
                <a:r>
                  <a:rPr lang="en-IN" sz="1200" baseline="0" dirty="0"/>
                  <a:t>. Is Inductive,   &lt; 0, capacitive,    = 0, resistive</a:t>
                </a:r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AF79-12ED-4556-BB6E-2D062C41B2A5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480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Rough Flow </a:t>
            </a:r>
            <a:r>
              <a:rPr lang="en-IN" dirty="0">
                <a:sym typeface="Wingdings" panose="05000000000000000000" pitchFamily="2" charset="2"/>
              </a:rPr>
              <a:t> First choose a point Mg-max inside rec. area -&gt; Then choose Mg-ap &gt; Mg-max -&gt; Then select </a:t>
            </a:r>
            <a:r>
              <a:rPr lang="en-IN" dirty="0" err="1">
                <a:sym typeface="Wingdings" panose="05000000000000000000" pitchFamily="2" charset="2"/>
              </a:rPr>
              <a:t>Qe</a:t>
            </a:r>
            <a:r>
              <a:rPr lang="en-IN" dirty="0">
                <a:sym typeface="Wingdings" panose="05000000000000000000" pitchFamily="2" charset="2"/>
              </a:rPr>
              <a:t>, Ln with selected Mg-ap -&gt; Then from this fig, select </a:t>
            </a:r>
            <a:r>
              <a:rPr lang="en-IN" dirty="0" err="1">
                <a:sym typeface="Wingdings" panose="05000000000000000000" pitchFamily="2" charset="2"/>
              </a:rPr>
              <a:t>Qe</a:t>
            </a:r>
            <a:r>
              <a:rPr lang="en-IN" dirty="0">
                <a:sym typeface="Wingdings" panose="05000000000000000000" pitchFamily="2" charset="2"/>
              </a:rPr>
              <a:t> -&gt; Then select Ln as suitable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AF79-12ED-4556-BB6E-2D062C41B2A5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292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47F6-6338-BED4-1376-B4B7599C8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13981-17D1-C5A7-E20E-4F36D9253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2808D-5248-3FF9-CD5B-007AAC9D9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FFA2C-4519-ADBF-C559-C28D0915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Aditya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7BE3B-7D32-BC2F-5AE2-9C788E65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8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8A59-E53D-330D-6409-0D151CD3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3B343-C06D-7C88-5D4C-6B6209901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9D75F-BB0E-5CA8-F8E2-304E1525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14AE7-E078-8C89-C9AE-53DF7087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Aditya Kumar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BF36-C67C-022C-1D0A-EEE108FC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40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2456-A2F1-8CAB-9FD8-CF8C067D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CD22C-CB63-3D82-76FB-1957C8A10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291C3-B59B-A1C4-3783-6923ED8D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5D8F7-304C-BE48-A5F5-248EAAF28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4C446-8014-55E9-8C49-3CB112EC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32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9863-BC2A-2FBA-AD88-D88C3190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0779-A741-9950-8B9D-7A900249C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3DBED-6B48-FB3D-BC9F-78650FEE9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78D43-6905-DF50-F886-FDD448D2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427A1-F73E-409F-E7A1-13EE50AE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ACD8C-A35F-84A4-DDF3-0257232F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0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E73B-EB39-D957-E598-B6007C05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CA1C7-2AC6-E834-D036-E53E11052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DF30B-6AC1-5AD7-292B-B20958BF3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3851D-F168-F8A4-CA25-F0ADD65A1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E09FE-1EF1-84D7-30EF-6EB6C5FE0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09273-7290-85A3-34C9-2A1AA223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AF860-C24D-078B-5B90-638764CF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6E5F-958A-96C0-B2C0-EF7648F0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20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097A-CD3C-DC72-75FF-159B4A07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6E90B-BDD6-C971-BE50-DB02EB1D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BABBC-611E-9337-9779-5AAD774F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E509F-010B-0F9B-B207-085717C4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05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B60CB-AEE6-3653-AAC2-5EDFB1AC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1695B-1CCA-6AD7-2277-3108826B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0BEC1-2398-28B7-B30F-B00A85C1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21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1458-029D-5B68-633A-70434922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FDC79-0F86-0A6F-B90F-977F52E8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0E10B-2F0D-146D-E533-8EBBF19BD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527DA-DE04-594D-CF11-72FF1FF8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C453F-0F98-6C6B-FA25-6FD87F00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5797B-873D-C9D5-D185-516E53A3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56FD-90D5-1DBB-F9EF-A56D86B0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43D3C-9E55-5EC8-5A37-F2CC7B488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9A25D-39FC-EC5D-5CFA-D56E9404D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8C8B3-53A5-B476-0C6E-6731A412A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2CA6E-9FAB-AC83-A7BB-A1F1CD5E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9817D-5306-7C11-BEC5-76EFA40D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70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F068-AD1A-9CC6-F5DA-6152AA22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A82B2-62AC-0E62-4947-44AB8198D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44E3D-8CAE-C2BC-F1D1-760FA809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387E4-28DC-AF36-4F56-D1CF7C17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2219-D479-081B-53E5-33C786478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7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6039E-18C7-633A-4FFD-86F9F6EAE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FC954-2F3E-7094-EBAA-4487784EC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B631-7529-FF5D-7F4A-537FDD90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F19A8-B308-F644-2A0D-D941FC19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9C09D-3096-F7BA-36EE-DFF0C6A4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58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E9460-69E6-34D6-34CF-DEFED92B6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92523-D25E-693B-B09B-409ED8427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3F7F-083B-F71C-17D1-62BA234E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48D57-1377-4539-70DE-C398BACA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D574A-B34F-24F0-BB6F-A1B8C031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31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E7CFD-4AF0-CCD7-8360-33A3BDF3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19EA-91F6-7B25-0896-4CAE1659C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30BD-CDD0-205F-3385-C39582F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FFA63-5E0A-B15E-C64A-53C7330D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D5083-AFB4-F6A7-7495-BC20BCF6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899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8048-D964-B2E1-76E6-6122F134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DF2ED-FEFD-E10F-55BE-5E60E570D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38516-2C5E-8ACA-C757-18DF53F19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5DC1E-D1C5-BAFD-7DA0-9C7649D9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0F1D-0078-A464-9141-B794D1C3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51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5449-9315-5413-712A-ECD97B3E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E875E-FBC2-E4D9-F9E0-C41EB85AD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CD840-F22B-3067-0C47-53362D21E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78DD5-EBCB-EACB-D841-E8820F87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4E17B-CC11-9528-AC23-6243DA6E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6DA55-3DD5-6A28-E461-A123F921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481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A645-B5E5-9D9B-26B3-88D5DCDD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E032D-7BA7-AF92-910F-7978E8C7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3FFA8-1E1C-B395-C139-9CA49C102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7DB6F-CAA3-086C-C4FF-8DA0F8783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05F61-278F-AAD0-D375-B1238B214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71AF4-2998-8B00-4581-4D94AF25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988A3-A765-3B66-0AF4-E23F70B9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C211A-A1FF-F1FF-36F6-97BCAE56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625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10D0-1F5A-FDC7-1270-B2EB0FAB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22AE4-5404-20B2-ED21-FFABAEFA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5122E-CD95-4C2A-8D97-394F1C62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CB1CC-4266-2996-C2C1-A8889C17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149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F310A-85D2-DB9D-D495-9730E6A6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1ED4F-679B-850A-40F0-C3AAF5E5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1B92-1EFE-A56A-B748-ED3A0EB9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72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6B1A-F5AB-A3B6-2867-2B6CCA30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D68F3-C7AB-A4FD-F7E1-D454C9CF4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88BB0-F4FC-0EF3-0140-3ACEADECE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BD82A-92C9-80D1-E2D7-B8D6B4FD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A35C0-F089-5BB0-911A-9434A28B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B048D-C7B3-EC05-38CF-0E5351A2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342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FB90-E541-8DF3-928D-D22C1B8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2ADE-D2F5-5E42-B301-431DE19CA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5C1BA-849D-DBCE-A18D-61D899D42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31380-070C-95C3-1FFC-5ADC3F558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1F432-53E3-0F74-9A2F-44A0C55F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3467E-3DF9-3702-8566-DD0AC5A2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455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B4B4-8D38-C164-6B8B-82E56BE8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65079-6AF1-7A57-458E-FA2ED570B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B6B9-D313-867C-F7B5-39C3AB25E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BBC2D-7531-1C09-45A4-3572CF32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78143-59DD-0524-6B5D-C20644B0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254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44CB1-418E-AC56-9297-9B38249BD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5E04D-732C-86C8-E9A8-597C67D0D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11C35-CAB1-4102-22E7-6E9E2C19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1C146-413F-B928-AF72-AB8B6E6D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47535-F73B-82EC-5314-AD460259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27E909-D033-4DD8-C4AD-0E547B30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A89D-4A4F-F74A-7EC9-6E6EC5109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36B74-1DB4-023D-BCEC-4442EDF73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6EB01-973A-4CE2-8646-B367292A5433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73784-9E9A-A267-04F3-D8F45C4F2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6A5C-D081-4348-3387-09EB4B62D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65792-9489-4D42-9306-81EB92F2203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792B17-97DB-DF2D-816C-E64A7F1BEEB6}"/>
              </a:ext>
            </a:extLst>
          </p:cNvPr>
          <p:cNvSpPr/>
          <p:nvPr userDrawn="1"/>
        </p:nvSpPr>
        <p:spPr>
          <a:xfrm rot="19952817">
            <a:off x="3121742" y="2169370"/>
            <a:ext cx="6155989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8000" b="0" cap="none" spc="0" dirty="0">
                <a:ln w="0"/>
                <a:solidFill>
                  <a:schemeClr val="accent1">
                    <a:alpha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Aditya</a:t>
            </a:r>
            <a:r>
              <a:rPr lang="en-IN" sz="5400" b="0" cap="none" spc="0" dirty="0">
                <a:ln w="0"/>
                <a:solidFill>
                  <a:schemeClr val="accent1">
                    <a:alpha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IN" sz="8000" b="0" cap="none" spc="0" dirty="0">
                <a:ln w="0"/>
                <a:solidFill>
                  <a:schemeClr val="accent1">
                    <a:alpha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Kumar</a:t>
            </a:r>
            <a:endParaRPr lang="en-US" sz="5400" b="0" cap="none" spc="0" dirty="0">
              <a:ln w="0"/>
              <a:solidFill>
                <a:schemeClr val="accent1">
                  <a:alpha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170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B053BC-1D21-3CCB-CA04-B31D034A7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6F066-477B-3D3B-EAE1-69D5616BB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C07BC-BBE7-5B92-4ADC-2C0284E0E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66F8E-1A4C-4685-9940-7EF81885331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A197B-B787-E18D-CA44-C49E76C83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71B2-89A5-68CC-85DE-C049B7C50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7CC1B-3090-4801-BFF1-C4C93DA80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29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428B-C116-DEBA-10B8-10E5BF3CD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4125"/>
            <a:ext cx="9144000" cy="1809750"/>
          </a:xfrm>
        </p:spPr>
        <p:txBody>
          <a:bodyPr/>
          <a:lstStyle/>
          <a:p>
            <a:r>
              <a:rPr lang="en-IN" dirty="0"/>
              <a:t>Designing an LLC Resonant Half-Bridge Power Converter</a:t>
            </a:r>
          </a:p>
        </p:txBody>
      </p:sp>
    </p:spTree>
    <p:extLst>
      <p:ext uri="{BB962C8B-B14F-4D97-AF65-F5344CB8AC3E}">
        <p14:creationId xmlns:p14="http://schemas.microsoft.com/office/powerpoint/2010/main" val="368524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6299-211A-DC7F-E4BC-E9F1E20F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"/>
            <a:ext cx="4826000" cy="769408"/>
          </a:xfrm>
        </p:spPr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E2F4-E982-8A2A-ABDC-AB751413A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85827"/>
            <a:ext cx="6273800" cy="5650440"/>
          </a:xfrm>
        </p:spPr>
        <p:txBody>
          <a:bodyPr>
            <a:noAutofit/>
          </a:bodyPr>
          <a:lstStyle/>
          <a:p>
            <a:r>
              <a:rPr lang="en-IN" sz="2000" dirty="0"/>
              <a:t>Introduction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1. Brief Review of Resonant Converters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2. LCC and LLC Resonant Converters</a:t>
            </a:r>
          </a:p>
          <a:p>
            <a:r>
              <a:rPr lang="en-IN" sz="2000" dirty="0"/>
              <a:t>LLC Resonant </a:t>
            </a:r>
            <a:r>
              <a:rPr lang="en-IN" sz="2000" b="1" dirty="0"/>
              <a:t>Half-Bridge</a:t>
            </a:r>
            <a:r>
              <a:rPr lang="en-IN" sz="2000" dirty="0"/>
              <a:t> Converter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>
                <a:solidFill>
                  <a:srgbClr val="0070C0"/>
                </a:solidFill>
              </a:rPr>
              <a:t>1. Configuration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2. Operation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3. Modelling of LLC Half-Bridge Converter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4. Voltage-Gain Function</a:t>
            </a:r>
          </a:p>
          <a:p>
            <a:r>
              <a:rPr lang="en-IN" sz="2000" dirty="0"/>
              <a:t>Design Considerations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>
                <a:solidFill>
                  <a:srgbClr val="0070C0"/>
                </a:solidFill>
              </a:rPr>
              <a:t>1. What Does “In the Vicinity” Mean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2. Basic Design Requirements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3. Selecting Design Parameters </a:t>
            </a:r>
            <a:r>
              <a:rPr lang="en-IN" sz="2000" dirty="0" err="1">
                <a:solidFill>
                  <a:srgbClr val="0070C0"/>
                </a:solidFill>
              </a:rPr>
              <a:t>f</a:t>
            </a:r>
            <a:r>
              <a:rPr lang="en-IN" sz="1400" dirty="0" err="1">
                <a:solidFill>
                  <a:srgbClr val="0070C0"/>
                </a:solidFill>
              </a:rPr>
              <a:t>sw</a:t>
            </a:r>
            <a:r>
              <a:rPr lang="en-IN" sz="2000" dirty="0">
                <a:solidFill>
                  <a:srgbClr val="0070C0"/>
                </a:solidFill>
              </a:rPr>
              <a:t>, n, L</a:t>
            </a:r>
            <a:r>
              <a:rPr lang="en-IN" sz="1400" dirty="0">
                <a:solidFill>
                  <a:srgbClr val="0070C0"/>
                </a:solidFill>
              </a:rPr>
              <a:t>n</a:t>
            </a:r>
            <a:r>
              <a:rPr lang="en-IN" sz="2000" dirty="0">
                <a:solidFill>
                  <a:srgbClr val="0070C0"/>
                </a:solidFill>
              </a:rPr>
              <a:t>, and </a:t>
            </a:r>
            <a:r>
              <a:rPr lang="en-IN" sz="2000" dirty="0" err="1">
                <a:solidFill>
                  <a:srgbClr val="0070C0"/>
                </a:solidFill>
              </a:rPr>
              <a:t>Q</a:t>
            </a:r>
            <a:r>
              <a:rPr lang="en-IN" sz="1400" dirty="0" err="1">
                <a:solidFill>
                  <a:srgbClr val="0070C0"/>
                </a:solidFill>
              </a:rPr>
              <a:t>e</a:t>
            </a:r>
            <a:endParaRPr lang="en-IN" sz="1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4. Peak-Gain Curves from a Bench Test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	5. Resonant-Network Design Flow</a:t>
            </a:r>
            <a:endParaRPr lang="en-IN" sz="2000" dirty="0"/>
          </a:p>
          <a:p>
            <a:pPr marL="0" indent="0">
              <a:buNone/>
            </a:pP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EB70E3-BB34-F97A-3A0E-9BCF93D95129}"/>
              </a:ext>
            </a:extLst>
          </p:cNvPr>
          <p:cNvSpPr txBox="1">
            <a:spLocks/>
          </p:cNvSpPr>
          <p:nvPr/>
        </p:nvSpPr>
        <p:spPr>
          <a:xfrm>
            <a:off x="6189133" y="885827"/>
            <a:ext cx="5935133" cy="5650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Design Example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solidFill>
                  <a:srgbClr val="0070C0"/>
                </a:solidFill>
              </a:rPr>
              <a:t>	1. Block Diagram of Proposed Converter Circuit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solidFill>
                  <a:srgbClr val="0070C0"/>
                </a:solidFill>
              </a:rPr>
              <a:t>	2. Design Steps</a:t>
            </a:r>
          </a:p>
          <a:p>
            <a:r>
              <a:rPr lang="en-IN" sz="2000" dirty="0"/>
              <a:t>Conclusion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89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D4BF-B39B-0EAB-9E59-51401E36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650" y="2766219"/>
            <a:ext cx="4702701" cy="1325563"/>
          </a:xfrm>
        </p:spPr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8493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8CA0-5EB0-2010-2A9B-C35D559B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8"/>
            <a:ext cx="3496733" cy="922867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D69B-3526-86DC-25D5-DF4E3657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4"/>
            <a:ext cx="8583386" cy="5489576"/>
          </a:xfrm>
        </p:spPr>
        <p:txBody>
          <a:bodyPr>
            <a:normAutofit/>
          </a:bodyPr>
          <a:lstStyle/>
          <a:p>
            <a:r>
              <a:rPr lang="en-IN" sz="2000" dirty="0"/>
              <a:t>A method for determining parameter values is explained</a:t>
            </a:r>
          </a:p>
          <a:p>
            <a:pPr marL="514350" indent="-514350">
              <a:buAutoNum type="arabicPeriod"/>
            </a:pPr>
            <a:r>
              <a:rPr lang="en-IN" dirty="0"/>
              <a:t>Brief Review of Resonant Converters</a:t>
            </a:r>
          </a:p>
          <a:p>
            <a:r>
              <a:rPr lang="en-IN" sz="2000" dirty="0"/>
              <a:t>Among various converters, two basic types are – SRC and PRC</a:t>
            </a:r>
          </a:p>
          <a:p>
            <a:r>
              <a:rPr lang="en-IN" sz="2000" dirty="0"/>
              <a:t>SRC – Under light-loading, impedance of load &gt;&gt; impedance of resonant circuit : So difficult to regulate the output voltage</a:t>
            </a:r>
          </a:p>
          <a:p>
            <a:r>
              <a:rPr lang="en-IN" sz="2000" dirty="0"/>
              <a:t>PRC – Large circulating current : So difficult to apply in applications with high power density or large load variations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IN" dirty="0"/>
              <a:t>LCC and LLC Resonant Converters</a:t>
            </a:r>
          </a:p>
          <a:p>
            <a:r>
              <a:rPr lang="en-IN" sz="2000" dirty="0"/>
              <a:t>Series-parallel resonant converter (LCC and LLC) has been proposed</a:t>
            </a:r>
          </a:p>
          <a:p>
            <a:r>
              <a:rPr lang="en-IN" sz="2000" dirty="0"/>
              <a:t>LCC – Two independent capacitors (both large and expensive because of high AC currents)</a:t>
            </a:r>
          </a:p>
          <a:p>
            <a:r>
              <a:rPr lang="en-IN" sz="2000" dirty="0"/>
              <a:t>LLC – Two inductors can be combined into one physical component by using T/f leakage and magnetizing inductance</a:t>
            </a:r>
          </a:p>
          <a:p>
            <a:pPr marL="0" indent="0">
              <a:buNone/>
            </a:pPr>
            <a:r>
              <a:rPr lang="en-IN" sz="2000" dirty="0"/>
              <a:t>           – Excellent efficiency, ZVS over entire operating range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EB585-BFE0-2E05-AE62-0BD2B774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00" y="1289960"/>
            <a:ext cx="2520000" cy="2265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8D376-F56F-E265-EBF2-1645F909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700" y="3789357"/>
            <a:ext cx="2520000" cy="226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9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23E2-0D5A-E5D7-3B8C-E06B6693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9697-FC10-979D-208E-B9649E23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372" y="2766219"/>
            <a:ext cx="8643257" cy="1325563"/>
          </a:xfrm>
        </p:spPr>
        <p:txBody>
          <a:bodyPr/>
          <a:lstStyle/>
          <a:p>
            <a:pPr algn="ctr"/>
            <a:r>
              <a:rPr lang="en-IN" dirty="0"/>
              <a:t>LLC Resonant Half-Bridge Converter</a:t>
            </a:r>
          </a:p>
        </p:txBody>
      </p:sp>
    </p:spTree>
    <p:extLst>
      <p:ext uri="{BB962C8B-B14F-4D97-AF65-F5344CB8AC3E}">
        <p14:creationId xmlns:p14="http://schemas.microsoft.com/office/powerpoint/2010/main" val="3569173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3588D-4BC0-399B-A54F-4D583412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987"/>
            <a:ext cx="8958943" cy="819831"/>
          </a:xfrm>
        </p:spPr>
        <p:txBody>
          <a:bodyPr/>
          <a:lstStyle/>
          <a:p>
            <a:r>
              <a:rPr lang="en-IN" dirty="0"/>
              <a:t>LLC Resonant Half-Bridge Converter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5AF99-01C9-828D-3191-CDF1CB4DE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20081"/>
                <a:ext cx="6602186" cy="5266420"/>
              </a:xfrm>
            </p:spPr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IN" dirty="0"/>
                  <a:t>Configuration</a:t>
                </a:r>
              </a:p>
              <a:p>
                <a:r>
                  <a:rPr lang="en-IN" sz="2000" dirty="0"/>
                  <a:t>Square wave generator – Unipolar square-wave voltage V</a:t>
                </a:r>
                <a:r>
                  <a:rPr lang="en-IN" sz="1400" dirty="0"/>
                  <a:t>in </a:t>
                </a:r>
                <a:endParaRPr lang="en-IN" sz="2000" dirty="0"/>
              </a:p>
              <a:p>
                <a:r>
                  <a:rPr lang="en-IN" sz="2000" dirty="0"/>
                  <a:t>Resonant circuit – C</a:t>
                </a:r>
                <a:r>
                  <a:rPr lang="en-IN" sz="1400" dirty="0"/>
                  <a:t>r</a:t>
                </a:r>
                <a:r>
                  <a:rPr lang="en-IN" sz="2000" dirty="0"/>
                  <a:t>, L</a:t>
                </a:r>
                <a:r>
                  <a:rPr lang="en-IN" sz="1400" dirty="0"/>
                  <a:t>r</a:t>
                </a:r>
                <a:r>
                  <a:rPr lang="en-IN" sz="2000" dirty="0"/>
                  <a:t>, </a:t>
                </a:r>
                <a:r>
                  <a:rPr lang="en-IN" sz="2000" dirty="0" err="1"/>
                  <a:t>L</a:t>
                </a:r>
                <a:r>
                  <a:rPr lang="en-IN" sz="1400" dirty="0" err="1"/>
                  <a:t>m</a:t>
                </a:r>
                <a:r>
                  <a:rPr lang="en-IN" sz="2000" dirty="0"/>
                  <a:t>. T/f primary winding receives a bipolar square-wave voltage </a:t>
                </a:r>
                <a:r>
                  <a:rPr lang="en-IN" sz="2000" dirty="0" err="1"/>
                  <a:t>V</a:t>
                </a:r>
                <a:r>
                  <a:rPr lang="en-IN" sz="1400" dirty="0" err="1"/>
                  <a:t>so</a:t>
                </a:r>
                <a:r>
                  <a:rPr lang="en-IN" sz="2000" dirty="0"/>
                  <a:t>. </a:t>
                </a:r>
              </a:p>
              <a:p>
                <a:r>
                  <a:rPr lang="en-IN" sz="2000" dirty="0"/>
                  <a:t>Converter side – 2 diode full-wave rectifier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IN" dirty="0"/>
                  <a:t>Operation</a:t>
                </a:r>
                <a:endParaRPr lang="en-IN" sz="2000" dirty="0"/>
              </a:p>
              <a:p>
                <a:pPr marL="0" indent="0">
                  <a:buNone/>
                </a:pPr>
                <a:r>
                  <a:rPr lang="en-IN" sz="2000" b="1" dirty="0"/>
                  <a:t>Resonant Frequencies in an SRC</a:t>
                </a:r>
              </a:p>
              <a:p>
                <a:r>
                  <a:rPr lang="en-IN" sz="2000" dirty="0"/>
                  <a:t>Presents min. impedance at resonant freq. (called as Resonant circuit’s selective property)</a:t>
                </a:r>
              </a:p>
              <a:p>
                <a:r>
                  <a:rPr lang="en-IN" sz="2000" dirty="0"/>
                  <a:t>Series resonant frequency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IN" sz="2000" dirty="0"/>
                  <a:t>         (true regardless of load)</a:t>
                </a:r>
              </a:p>
              <a:p>
                <a:r>
                  <a:rPr lang="en-IN" sz="2000" dirty="0"/>
                  <a:t>Circuit’s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at peak resonance,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co</a:t>
                </a:r>
                <a:r>
                  <a:rPr lang="en-IN" sz="2000" dirty="0"/>
                  <a:t> =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o</a:t>
                </a:r>
                <a:r>
                  <a:rPr lang="en-IN" sz="1400" dirty="0"/>
                  <a:t> </a:t>
                </a:r>
                <a:r>
                  <a:rPr lang="en-IN" sz="2000" dirty="0"/>
                  <a:t>(always)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5AF99-01C9-828D-3191-CDF1CB4DE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20081"/>
                <a:ext cx="6602186" cy="5266420"/>
              </a:xfrm>
              <a:blipFill>
                <a:blip r:embed="rId2"/>
                <a:stretch>
                  <a:fillRect l="-1939" t="-19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D9AEF5-A8D9-3D18-0508-6BACFC60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228" y="1232749"/>
            <a:ext cx="4680000" cy="2286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C5DF2-D6FC-8525-787C-7BF1480EC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696" y="3639121"/>
            <a:ext cx="2160000" cy="204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9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6166-642E-FA13-7C89-793147421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08836"/>
                <a:ext cx="10515600" cy="6225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f</a:t>
                </a:r>
                <a:r>
                  <a:rPr lang="en-IN" sz="1400" b="1" dirty="0" err="1"/>
                  <a:t>co</a:t>
                </a:r>
                <a:r>
                  <a:rPr lang="en-IN" sz="2000" b="1" dirty="0"/>
                  <a:t>, </a:t>
                </a:r>
                <a:r>
                  <a:rPr lang="en-IN" sz="2000" b="1" dirty="0" err="1"/>
                  <a:t>f</a:t>
                </a:r>
                <a:r>
                  <a:rPr lang="en-IN" sz="1400" b="1" dirty="0" err="1"/>
                  <a:t>o</a:t>
                </a:r>
                <a:r>
                  <a:rPr lang="en-IN" sz="2000" b="1" dirty="0"/>
                  <a:t>, and </a:t>
                </a:r>
                <a:r>
                  <a:rPr lang="en-IN" sz="2000" b="1" dirty="0" err="1"/>
                  <a:t>f</a:t>
                </a:r>
                <a:r>
                  <a:rPr lang="en-IN" sz="1400" b="1" dirty="0" err="1"/>
                  <a:t>p</a:t>
                </a:r>
                <a:r>
                  <a:rPr lang="en-IN" sz="2000" b="1" dirty="0"/>
                  <a:t> in an LCC Circuit</a:t>
                </a:r>
              </a:p>
              <a:p>
                <a:r>
                  <a:rPr lang="en-IN" sz="2000" dirty="0"/>
                  <a:t>LLC circuit’s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at peak resonance (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co</a:t>
                </a:r>
                <a:r>
                  <a:rPr lang="en-IN" sz="2000" dirty="0"/>
                  <a:t>) = </a:t>
                </a:r>
                <a:r>
                  <a:rPr lang="en-IN" sz="2000" dirty="0" err="1"/>
                  <a:t>f</a:t>
                </a:r>
                <a:r>
                  <a:rPr lang="en-IN" sz="2000" baseline="30000" dirty="0" err="1"/>
                  <a:t>n</a:t>
                </a:r>
                <a:r>
                  <a:rPr lang="en-IN" sz="2000" dirty="0"/>
                  <a:t> (load) within range of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p</a:t>
                </a:r>
                <a:r>
                  <a:rPr lang="en-IN" sz="2000" dirty="0"/>
                  <a:t> ≤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co</a:t>
                </a:r>
                <a:r>
                  <a:rPr lang="en-IN" sz="2000" dirty="0"/>
                  <a:t> ≤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o</a:t>
                </a:r>
                <a:endParaRPr lang="en-IN" sz="2000" dirty="0"/>
              </a:p>
              <a:p>
                <a:r>
                  <a:rPr lang="en-IN" sz="2000" dirty="0"/>
                  <a:t>Pole frequency,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IN" sz="2000" dirty="0"/>
                  <a:t>                                (true only at </a:t>
                </a:r>
                <a:r>
                  <a:rPr lang="en-IN" sz="2000" i="1" dirty="0"/>
                  <a:t>No load</a:t>
                </a:r>
                <a:r>
                  <a:rPr lang="en-IN" sz="2000" dirty="0"/>
                  <a:t>)</a:t>
                </a:r>
              </a:p>
              <a:p>
                <a:r>
                  <a:rPr lang="en-IN" sz="2000" dirty="0"/>
                  <a:t>At no load, </a:t>
                </a:r>
                <a:r>
                  <a:rPr kumimoji="0" lang="en-IN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</a:t>
                </a:r>
                <a:r>
                  <a:rPr kumimoji="0" lang="en-IN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</a:t>
                </a:r>
                <a:r>
                  <a:rPr lang="en-IN" sz="2000" dirty="0"/>
                  <a:t>f</a:t>
                </a:r>
                <a:r>
                  <a:rPr lang="en-IN" sz="1400" dirty="0"/>
                  <a:t>p</a:t>
                </a:r>
                <a:r>
                  <a:rPr lang="en-IN" sz="2000" dirty="0"/>
                  <a:t>. As load increases,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co</a:t>
                </a:r>
                <a:r>
                  <a:rPr lang="en-IN" sz="2000" dirty="0"/>
                  <a:t> moves towards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o</a:t>
                </a:r>
                <a:r>
                  <a:rPr lang="en-IN" sz="2000" dirty="0"/>
                  <a:t>. At a load SC,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co</a:t>
                </a:r>
                <a:r>
                  <a:rPr lang="en-IN" sz="2000" dirty="0"/>
                  <a:t> =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o</a:t>
                </a:r>
                <a:r>
                  <a:rPr lang="en-IN" sz="2000" dirty="0"/>
                  <a:t>.</a:t>
                </a:r>
              </a:p>
              <a:p>
                <a:r>
                  <a:rPr lang="en-IN" sz="2000" dirty="0"/>
                  <a:t>LLC converter is designed to </a:t>
                </a:r>
                <a:r>
                  <a:rPr lang="en-IN" sz="2000" dirty="0">
                    <a:solidFill>
                      <a:srgbClr val="C00000"/>
                    </a:solidFill>
                  </a:rPr>
                  <a:t>operate in the vicinity of </a:t>
                </a:r>
                <a:r>
                  <a:rPr lang="en-IN" sz="2000" dirty="0" err="1">
                    <a:solidFill>
                      <a:srgbClr val="C00000"/>
                    </a:solidFill>
                  </a:rPr>
                  <a:t>f</a:t>
                </a:r>
                <a:r>
                  <a:rPr lang="en-IN" sz="1400" dirty="0" err="1">
                    <a:solidFill>
                      <a:srgbClr val="C00000"/>
                    </a:solidFill>
                  </a:rPr>
                  <a:t>o</a:t>
                </a:r>
                <a:r>
                  <a:rPr lang="en-IN" sz="2000" dirty="0"/>
                  <a:t>.</a:t>
                </a:r>
              </a:p>
              <a:p>
                <a:pPr marL="0" indent="0">
                  <a:buNone/>
                </a:pPr>
                <a:r>
                  <a:rPr lang="en-IN" sz="2000" b="1" dirty="0"/>
                  <a:t>Operation At, Below, and Above </a:t>
                </a:r>
                <a:r>
                  <a:rPr lang="en-IN" sz="2000" b="1" dirty="0" err="1"/>
                  <a:t>f</a:t>
                </a:r>
                <a:r>
                  <a:rPr lang="en-IN" sz="1400" b="1" dirty="0" err="1"/>
                  <a:t>o</a:t>
                </a:r>
                <a:r>
                  <a:rPr lang="en-IN" sz="1400" b="1" dirty="0"/>
                  <a:t> </a:t>
                </a:r>
                <a:endParaRPr lang="en-IN" sz="2000" dirty="0"/>
              </a:p>
              <a:p>
                <a:endParaRPr lang="en-IN" sz="14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96166-642E-FA13-7C89-793147421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08836"/>
                <a:ext cx="10515600" cy="6225187"/>
              </a:xfrm>
              <a:blipFill>
                <a:blip r:embed="rId3"/>
                <a:stretch>
                  <a:fillRect l="-638" t="-1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BEF241-E50F-7D18-9CB5-A7DEA1DF1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038" y="2983113"/>
            <a:ext cx="9000000" cy="361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9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DFF52-FA3D-316E-C493-46A5D002C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5" y="405117"/>
            <a:ext cx="3861411" cy="604776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u="sng" dirty="0"/>
              <a:t>Operation at Resonance</a:t>
            </a:r>
          </a:p>
          <a:p>
            <a:r>
              <a:rPr lang="en-IN" sz="1800" dirty="0"/>
              <a:t>When Q</a:t>
            </a:r>
            <a:r>
              <a:rPr lang="en-IN" sz="1400" dirty="0"/>
              <a:t>1</a:t>
            </a:r>
            <a:r>
              <a:rPr lang="en-IN" sz="1800" dirty="0"/>
              <a:t> turns off, </a:t>
            </a:r>
            <a:r>
              <a:rPr lang="en-IN" sz="1800" dirty="0" err="1"/>
              <a:t>I</a:t>
            </a:r>
            <a:r>
              <a:rPr lang="en-IN" sz="1400" dirty="0" err="1"/>
              <a:t>r</a:t>
            </a:r>
            <a:r>
              <a:rPr lang="en-IN" sz="1800" dirty="0"/>
              <a:t> falls to </a:t>
            </a:r>
            <a:r>
              <a:rPr lang="en-IN" sz="1800" dirty="0" err="1"/>
              <a:t>I</a:t>
            </a:r>
            <a:r>
              <a:rPr lang="en-IN" sz="1400" dirty="0" err="1"/>
              <a:t>m</a:t>
            </a:r>
            <a:r>
              <a:rPr lang="en-IN" sz="2000" dirty="0"/>
              <a:t>, so no power transfer to sec side.</a:t>
            </a:r>
          </a:p>
          <a:p>
            <a:r>
              <a:rPr lang="en-IN" sz="2000" dirty="0"/>
              <a:t>By delaying Q</a:t>
            </a:r>
            <a:r>
              <a:rPr lang="en-IN" sz="1400" dirty="0"/>
              <a:t>2</a:t>
            </a:r>
            <a:r>
              <a:rPr lang="en-IN" sz="2000" dirty="0"/>
              <a:t> turn on, we achieve primary ZVS and soft commutation of rectifier diodes on sec side.</a:t>
            </a:r>
          </a:p>
          <a:p>
            <a:endParaRPr lang="en-IN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6F2B0E-4E18-0181-2CF3-2DB1209DD4DD}"/>
              </a:ext>
            </a:extLst>
          </p:cNvPr>
          <p:cNvSpPr txBox="1">
            <a:spLocks/>
          </p:cNvSpPr>
          <p:nvPr/>
        </p:nvSpPr>
        <p:spPr>
          <a:xfrm>
            <a:off x="4165295" y="405117"/>
            <a:ext cx="3861411" cy="60477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u="sng" dirty="0"/>
              <a:t>Operation Below Resonance</a:t>
            </a:r>
          </a:p>
          <a:p>
            <a:r>
              <a:rPr lang="en-IN" sz="1800" dirty="0" err="1"/>
              <a:t>I</a:t>
            </a:r>
            <a:r>
              <a:rPr lang="en-IN" sz="1400" dirty="0" err="1"/>
              <a:t>r</a:t>
            </a:r>
            <a:r>
              <a:rPr lang="en-IN" sz="1800" dirty="0"/>
              <a:t> falls to </a:t>
            </a:r>
            <a:r>
              <a:rPr lang="en-IN" sz="1800" dirty="0" err="1"/>
              <a:t>I</a:t>
            </a:r>
            <a:r>
              <a:rPr lang="en-IN" sz="1400" dirty="0" err="1"/>
              <a:t>m</a:t>
            </a:r>
            <a:r>
              <a:rPr lang="en-IN" sz="2000" dirty="0"/>
              <a:t> before the end of driving pulse, so power transfer is stopped even before even though </a:t>
            </a:r>
            <a:r>
              <a:rPr lang="en-IN" sz="2000" dirty="0" err="1"/>
              <a:t>I</a:t>
            </a:r>
            <a:r>
              <a:rPr lang="en-IN" sz="1400" dirty="0" err="1"/>
              <a:t>m</a:t>
            </a:r>
            <a:r>
              <a:rPr lang="en-IN" sz="2000" dirty="0"/>
              <a:t> continues.</a:t>
            </a:r>
          </a:p>
          <a:p>
            <a:r>
              <a:rPr lang="en-IN" sz="2000" dirty="0"/>
              <a:t>Still achieve primary ZVS and soft commutation of rectifier diodes.</a:t>
            </a:r>
          </a:p>
          <a:p>
            <a:r>
              <a:rPr lang="en-IN" sz="2000" dirty="0"/>
              <a:t>Diodes – DCM. So, require more circulating current to deliver the same energy to load</a:t>
            </a:r>
          </a:p>
          <a:p>
            <a:pPr marL="0" indent="0">
              <a:buNone/>
            </a:pPr>
            <a:r>
              <a:rPr lang="en-IN" sz="2000" dirty="0"/>
              <a:t>	which results in more 	conduction loss </a:t>
            </a:r>
          </a:p>
          <a:p>
            <a:r>
              <a:rPr lang="en-IN" sz="2000" dirty="0"/>
              <a:t>If </a:t>
            </a:r>
            <a:r>
              <a:rPr lang="en-IN" sz="2000" dirty="0" err="1"/>
              <a:t>f</a:t>
            </a:r>
            <a:r>
              <a:rPr lang="en-IN" sz="1400" dirty="0" err="1"/>
              <a:t>sw</a:t>
            </a:r>
            <a:r>
              <a:rPr lang="en-IN" sz="2000" dirty="0"/>
              <a:t> &lt;&lt; f</a:t>
            </a:r>
            <a:r>
              <a:rPr lang="en-IN" sz="1400" dirty="0"/>
              <a:t>0</a:t>
            </a:r>
            <a:r>
              <a:rPr lang="en-IN" sz="2000" dirty="0"/>
              <a:t> : ZVS may be lost</a:t>
            </a:r>
            <a:endParaRPr lang="en-IN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B562B4-E663-FC82-C252-282B9A230749}"/>
              </a:ext>
            </a:extLst>
          </p:cNvPr>
          <p:cNvSpPr txBox="1">
            <a:spLocks/>
          </p:cNvSpPr>
          <p:nvPr/>
        </p:nvSpPr>
        <p:spPr>
          <a:xfrm>
            <a:off x="8194514" y="405117"/>
            <a:ext cx="3861411" cy="604776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u="sng" dirty="0"/>
              <a:t>Operation Above Resonance</a:t>
            </a:r>
          </a:p>
          <a:p>
            <a:r>
              <a:rPr lang="en-IN" sz="1800" dirty="0"/>
              <a:t>Smaller circulating current in tank, conduction loss reduced because </a:t>
            </a:r>
            <a:r>
              <a:rPr lang="en-IN" sz="1800" dirty="0" err="1"/>
              <a:t>I</a:t>
            </a:r>
            <a:r>
              <a:rPr lang="en-IN" sz="1200" dirty="0" err="1"/>
              <a:t>r</a:t>
            </a:r>
            <a:r>
              <a:rPr lang="en-IN" sz="1800" dirty="0"/>
              <a:t> </a:t>
            </a:r>
            <a:r>
              <a:rPr lang="en-IN" sz="2000" dirty="0"/>
              <a:t>is in CCM </a:t>
            </a:r>
            <a:r>
              <a:rPr lang="en-IN" sz="2000" dirty="0">
                <a:sym typeface="Wingdings" panose="05000000000000000000" pitchFamily="2" charset="2"/>
              </a:rPr>
              <a:t> Less RMS current is required for same energy to load.</a:t>
            </a:r>
          </a:p>
          <a:p>
            <a:r>
              <a:rPr lang="en-IN" sz="2000" dirty="0">
                <a:sym typeface="Wingdings" panose="05000000000000000000" pitchFamily="2" charset="2"/>
              </a:rPr>
              <a:t>Rectifier diode – Not soft </a:t>
            </a:r>
            <a:r>
              <a:rPr lang="en-IN" sz="2000" dirty="0" err="1">
                <a:sym typeface="Wingdings" panose="05000000000000000000" pitchFamily="2" charset="2"/>
              </a:rPr>
              <a:t>comm</a:t>
            </a:r>
            <a:r>
              <a:rPr lang="en-IN" sz="2000" baseline="30000" dirty="0" err="1">
                <a:sym typeface="Wingdings" panose="05000000000000000000" pitchFamily="2" charset="2"/>
              </a:rPr>
              <a:t>n</a:t>
            </a:r>
            <a:endParaRPr lang="en-IN" sz="2000" dirty="0">
              <a:sym typeface="Wingdings" panose="05000000000000000000" pitchFamily="2" charset="2"/>
            </a:endParaRPr>
          </a:p>
          <a:p>
            <a:r>
              <a:rPr lang="en-IN" sz="2000" dirty="0">
                <a:sym typeface="Wingdings" panose="05000000000000000000" pitchFamily="2" charset="2"/>
              </a:rPr>
              <a:t>Still primary ZVS is achieved.</a:t>
            </a:r>
          </a:p>
          <a:p>
            <a:endParaRPr lang="en-IN" sz="1800" dirty="0"/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0AC64927-FD03-1883-B473-CBFD1067B96C}"/>
              </a:ext>
            </a:extLst>
          </p:cNvPr>
          <p:cNvSpPr/>
          <p:nvPr/>
        </p:nvSpPr>
        <p:spPr>
          <a:xfrm rot="5400000">
            <a:off x="4730287" y="3683453"/>
            <a:ext cx="342900" cy="351065"/>
          </a:xfrm>
          <a:prstGeom prst="bent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9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07BF1-7D4B-0B60-6F1B-D5DF53C3D1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93616"/>
                <a:ext cx="10515600" cy="623729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IN" dirty="0"/>
                  <a:t>Modeling an LLC Half-Bridge Converter</a:t>
                </a:r>
              </a:p>
              <a:p>
                <a:pPr marL="0" indent="0">
                  <a:buNone/>
                </a:pPr>
                <a:r>
                  <a:rPr lang="en-IN" sz="2000" b="1" dirty="0"/>
                  <a:t>Traditional </a:t>
                </a:r>
                <a:r>
                  <a:rPr lang="en-IN" sz="2000" b="1" dirty="0" err="1"/>
                  <a:t>modeling</a:t>
                </a:r>
                <a:r>
                  <a:rPr lang="en-IN" sz="2000" b="1" dirty="0"/>
                  <a:t> methods </a:t>
                </a:r>
                <a:r>
                  <a:rPr lang="en-IN" sz="2000" b="1" i="1" dirty="0"/>
                  <a:t>Do not work well</a:t>
                </a:r>
                <a:endParaRPr lang="en-IN" sz="2000" b="1" dirty="0"/>
              </a:p>
              <a:p>
                <a:r>
                  <a:rPr lang="en-IN" sz="2000" dirty="0"/>
                  <a:t>State-space averaging – successful in PWM converters, but from a practical viewpoint they have proved unsuccessful with resonant converters.</a:t>
                </a:r>
              </a:p>
              <a:p>
                <a:pPr marL="0" indent="0">
                  <a:buNone/>
                </a:pPr>
                <a:r>
                  <a:rPr lang="en-IN" sz="2000" b="1" dirty="0" err="1"/>
                  <a:t>Modeling</a:t>
                </a:r>
                <a:r>
                  <a:rPr lang="en-IN" sz="2000" b="1" dirty="0"/>
                  <a:t> with Approximations</a:t>
                </a:r>
                <a:endParaRPr lang="en-IN" sz="2000" dirty="0"/>
              </a:p>
              <a:p>
                <a:r>
                  <a:rPr lang="en-IN" sz="2000" dirty="0"/>
                  <a:t>First harmonic approximation (FHA) method – Produces acceptable design results as long as operating near series resonance</a:t>
                </a:r>
              </a:p>
              <a:p>
                <a:r>
                  <a:rPr lang="en-IN" sz="2000" dirty="0"/>
                  <a:t>With FHA :</a:t>
                </a:r>
              </a:p>
              <a:p>
                <a:endParaRPr lang="en-IN" sz="2000" dirty="0"/>
              </a:p>
              <a:p>
                <a:endParaRPr lang="en-IN" sz="2000" dirty="0"/>
              </a:p>
              <a:p>
                <a:endParaRPr lang="en-IN" sz="2000" dirty="0"/>
              </a:p>
              <a:p>
                <a:endParaRPr lang="en-IN" sz="2000" dirty="0"/>
              </a:p>
              <a:p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Where;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𝑔𝑒</m:t>
                        </m:r>
                      </m:sub>
                    </m:sSub>
                  </m:oMath>
                </a14:m>
                <a:r>
                  <a:rPr lang="en-IN" sz="2000" dirty="0"/>
                  <a:t> = fundamental comp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𝑠𝑞</m:t>
                        </m:r>
                      </m:sub>
                    </m:sSub>
                  </m:oMath>
                </a14:m>
                <a:r>
                  <a:rPr lang="en-IN" sz="2000" dirty="0"/>
                  <a:t> </a:t>
                </a:r>
                <a:br>
                  <a:rPr lang="en-IN" sz="2000" dirty="0"/>
                </a:br>
                <a:r>
                  <a:rPr lang="en-IN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𝑜𝑒</m:t>
                        </m:r>
                      </m:sub>
                    </m:sSub>
                  </m:oMath>
                </a14:m>
                <a:r>
                  <a:rPr lang="en-IN" sz="2000" dirty="0"/>
                  <a:t> = fundamental comp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𝑠𝑜</m:t>
                        </m:r>
                      </m:sub>
                    </m:sSub>
                  </m:oMath>
                </a14:m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B07BF1-7D4B-0B60-6F1B-D5DF53C3D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93616"/>
                <a:ext cx="10515600" cy="6237298"/>
              </a:xfrm>
              <a:blipFill>
                <a:blip r:embed="rId2"/>
                <a:stretch>
                  <a:fillRect l="-1217" t="-17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08685B8-BEBC-703B-9439-8EE8EA7E1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514" y="3106893"/>
            <a:ext cx="2880000" cy="2204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80526B-26BF-4970-B74A-325D6C1DA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758" y="3106893"/>
            <a:ext cx="2880000" cy="232507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AC7755C-E85D-3DD4-1541-723A607628AD}"/>
              </a:ext>
            </a:extLst>
          </p:cNvPr>
          <p:cNvSpPr/>
          <p:nvPr/>
        </p:nvSpPr>
        <p:spPr>
          <a:xfrm>
            <a:off x="5668068" y="3869549"/>
            <a:ext cx="1718241" cy="1271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74BBB-F3E8-70C8-1D6A-001FB2A6BB6B}"/>
              </a:ext>
            </a:extLst>
          </p:cNvPr>
          <p:cNvSpPr txBox="1"/>
          <p:nvPr/>
        </p:nvSpPr>
        <p:spPr>
          <a:xfrm>
            <a:off x="5816740" y="3439601"/>
            <a:ext cx="142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Converted to </a:t>
            </a:r>
          </a:p>
        </p:txBody>
      </p:sp>
    </p:spTree>
    <p:extLst>
      <p:ext uri="{BB962C8B-B14F-4D97-AF65-F5344CB8AC3E}">
        <p14:creationId xmlns:p14="http://schemas.microsoft.com/office/powerpoint/2010/main" val="363333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68FD-2108-D83F-0693-736D91A00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1226"/>
            <a:ext cx="4109249" cy="5026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Relationship of Electrical Variables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86C709-326E-1B6D-284C-998E9EBFB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099" y="1361786"/>
            <a:ext cx="3858610" cy="4197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C519D4-FE1B-A467-3A25-00A289B8D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6" y="1314072"/>
            <a:ext cx="3839269" cy="4037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A85F5-35AC-35C0-30B1-8387BE5D7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518" y="1214128"/>
            <a:ext cx="3906964" cy="449687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B0C906-2E48-0498-BAD5-2B026E8D9424}"/>
              </a:ext>
            </a:extLst>
          </p:cNvPr>
          <p:cNvCxnSpPr>
            <a:cxnSpLocks/>
          </p:cNvCxnSpPr>
          <p:nvPr/>
        </p:nvCxnSpPr>
        <p:spPr>
          <a:xfrm>
            <a:off x="4045160" y="993121"/>
            <a:ext cx="0" cy="53107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030EFC-AFF0-B02F-593B-3301B1C781A8}"/>
              </a:ext>
            </a:extLst>
          </p:cNvPr>
          <p:cNvCxnSpPr>
            <a:cxnSpLocks/>
          </p:cNvCxnSpPr>
          <p:nvPr/>
        </p:nvCxnSpPr>
        <p:spPr>
          <a:xfrm>
            <a:off x="8170042" y="1006241"/>
            <a:ext cx="0" cy="53107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919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E51D-239C-9E3E-D519-24A8BFC11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894"/>
            <a:ext cx="10515600" cy="5982962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IN" dirty="0"/>
              <a:t>Voltage-Gain Function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D5EB7-6AF5-8166-AE01-05F8A1832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55" y="1267527"/>
            <a:ext cx="3762900" cy="4867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6C89BD-3019-238C-9FFA-2AEA3BBB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292" y="673495"/>
            <a:ext cx="3724795" cy="593490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502116-F0A6-C4DB-3A85-A85AC450FCAA}"/>
              </a:ext>
            </a:extLst>
          </p:cNvPr>
          <p:cNvCxnSpPr/>
          <p:nvPr/>
        </p:nvCxnSpPr>
        <p:spPr>
          <a:xfrm>
            <a:off x="5878286" y="673495"/>
            <a:ext cx="0" cy="584704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91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7DDA82-FDF7-1E99-EF3E-220637B802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8394"/>
                <a:ext cx="10515600" cy="58860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Normalized format of Voltage-Gain function</a:t>
                </a:r>
              </a:p>
              <a:p>
                <a:r>
                  <a:rPr lang="en-IN" sz="2000" dirty="0"/>
                  <a:t>Normalized frequency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𝑠𝑤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/>
                  <a:t> </a:t>
                </a:r>
              </a:p>
              <a:p>
                <a:r>
                  <a:rPr lang="en-IN" sz="2000" dirty="0"/>
                  <a:t>Inductance ration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/>
                  <a:t> </a:t>
                </a:r>
              </a:p>
              <a:p>
                <a:r>
                  <a:rPr lang="en-IN" sz="2000" dirty="0"/>
                  <a:t>Quality factor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lin"/>
                                <m:ctrlPr>
                                  <a:rPr lang="en-I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I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/>
              </a:p>
              <a:p>
                <a:r>
                  <a:rPr lang="en-IN" sz="2000" dirty="0"/>
                  <a:t>Voltage gain can be written as </a:t>
                </a:r>
              </a:p>
              <a:p>
                <a:endParaRPr lang="en-IN" sz="2000" dirty="0"/>
              </a:p>
              <a:p>
                <a:endParaRPr lang="en-IN" sz="2000" dirty="0"/>
              </a:p>
              <a:p>
                <a:endParaRPr lang="en-IN" sz="2000" dirty="0"/>
              </a:p>
              <a:p>
                <a:r>
                  <a:rPr lang="en-IN" sz="2000" dirty="0"/>
                  <a:t>The relation b/w input and output voltage can be expressed as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7DDA82-FDF7-1E99-EF3E-220637B80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8394"/>
                <a:ext cx="10515600" cy="5886071"/>
              </a:xfrm>
              <a:blipFill>
                <a:blip r:embed="rId2"/>
                <a:stretch>
                  <a:fillRect l="-638" t="-10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7696D8-E9E0-6621-AC4F-54DBE0EE16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03"/>
          <a:stretch>
            <a:fillRect/>
          </a:stretch>
        </p:blipFill>
        <p:spPr>
          <a:xfrm>
            <a:off x="3747843" y="3115184"/>
            <a:ext cx="4169700" cy="799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A88D82-D58C-F007-D555-F39A88AEA0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668"/>
          <a:stretch>
            <a:fillRect/>
          </a:stretch>
        </p:blipFill>
        <p:spPr>
          <a:xfrm>
            <a:off x="3756000" y="4684101"/>
            <a:ext cx="4087157" cy="110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1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E7A2BF-A71B-B5B7-687B-5DD6542BF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776" y="429986"/>
                <a:ext cx="4247002" cy="62019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Behaviour of the Voltage-Gain function</a:t>
                </a:r>
              </a:p>
              <a:p>
                <a:r>
                  <a:rPr lang="en-IN" sz="2000" dirty="0"/>
                  <a:t>Frequency,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 is the control variable. L</a:t>
                </a:r>
                <a:r>
                  <a:rPr lang="en-IN" sz="1400" dirty="0"/>
                  <a:t>n</a:t>
                </a:r>
                <a:r>
                  <a:rPr lang="en-IN" sz="2000" dirty="0"/>
                  <a:t> and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are dummy variables as they are fixed</a:t>
                </a:r>
              </a:p>
              <a:p>
                <a:r>
                  <a:rPr lang="en-IN" sz="2000" dirty="0"/>
                  <a:t>Plot M</a:t>
                </a:r>
                <a:r>
                  <a:rPr lang="en-IN" sz="1400" dirty="0"/>
                  <a:t>g</a:t>
                </a:r>
                <a:r>
                  <a:rPr lang="en-IN" sz="2000" dirty="0"/>
                  <a:t> vs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1400" dirty="0"/>
                  <a:t> </a:t>
                </a:r>
                <a:r>
                  <a:rPr lang="en-IN" sz="2000" dirty="0"/>
                  <a:t>at 4 different L</a:t>
                </a:r>
                <a:r>
                  <a:rPr lang="en-IN" sz="1400" dirty="0"/>
                  <a:t>n</a:t>
                </a:r>
                <a:r>
                  <a:rPr lang="en-IN" sz="2000" dirty="0"/>
                  <a:t> and 9 different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</a:t>
                </a:r>
              </a:p>
              <a:p>
                <a:r>
                  <a:rPr lang="en-IN" sz="2000" dirty="0">
                    <a:solidFill>
                      <a:srgbClr val="C00000"/>
                    </a:solidFill>
                  </a:rPr>
                  <a:t>Normalized frequency corresponding to resonant peak </a:t>
                </a:r>
                <a:r>
                  <a:rPr lang="en-IN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/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/>
                  <a:t>) is moving </a:t>
                </a:r>
                <a:r>
                  <a:rPr lang="en-IN" sz="2000" dirty="0" err="1"/>
                  <a:t>w.r.t.</a:t>
                </a:r>
                <a:r>
                  <a:rPr lang="en-IN" sz="2000" dirty="0"/>
                  <a:t> change in load (and thus </a:t>
                </a:r>
                <a:r>
                  <a:rPr lang="en-IN" sz="2000" dirty="0" err="1"/>
                  <a:t>w.r.t.</a:t>
                </a:r>
                <a:r>
                  <a:rPr lang="en-IN" sz="2000" dirty="0"/>
                  <a:t> change in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and L</a:t>
                </a:r>
                <a:r>
                  <a:rPr lang="en-IN" sz="1400" dirty="0"/>
                  <a:t>n</a:t>
                </a:r>
                <a:r>
                  <a:rPr lang="en-IN" sz="2000" dirty="0"/>
                  <a:t>)</a:t>
                </a:r>
              </a:p>
              <a:p>
                <a:r>
                  <a:rPr lang="en-IN" sz="2000" dirty="0"/>
                  <a:t>Irrespective of </a:t>
                </a:r>
                <a:r>
                  <a:rPr lang="en-IN" sz="2000" dirty="0" err="1"/>
                  <a:t>comb</a:t>
                </a:r>
                <a:r>
                  <a:rPr lang="en-IN" sz="2000" baseline="30000" dirty="0" err="1"/>
                  <a:t>n</a:t>
                </a:r>
                <a:r>
                  <a:rPr lang="en-IN" sz="2000" dirty="0"/>
                  <a:t> of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and L</a:t>
                </a:r>
                <a:r>
                  <a:rPr lang="en-IN" sz="1400" dirty="0"/>
                  <a:t>n</a:t>
                </a:r>
                <a:r>
                  <a:rPr lang="en-IN" sz="2000" dirty="0"/>
                  <a:t>, </a:t>
                </a:r>
                <a:br>
                  <a:rPr lang="en-IN" sz="2000" dirty="0"/>
                </a:br>
                <a:r>
                  <a:rPr lang="en-IN" sz="2000" dirty="0"/>
                  <a:t>(M</a:t>
                </a:r>
                <a:r>
                  <a:rPr lang="en-IN" sz="1400" dirty="0"/>
                  <a:t>g</a:t>
                </a:r>
                <a:r>
                  <a:rPr lang="en-IN" sz="2000" dirty="0"/>
                  <a:t>,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) = (1, 1) for all curves (</a:t>
                </a:r>
                <a:r>
                  <a:rPr lang="en-IN" sz="2000" dirty="0" err="1"/>
                  <a:t>irrespe</a:t>
                </a:r>
                <a:r>
                  <a:rPr lang="en-IN" sz="2000" dirty="0"/>
                  <a:t>. of the load)</a:t>
                </a:r>
              </a:p>
              <a:p>
                <a:r>
                  <a:rPr lang="en-IN" sz="2000" dirty="0"/>
                  <a:t>For a </a:t>
                </a:r>
                <a:r>
                  <a:rPr lang="en-IN" sz="2000" dirty="0">
                    <a:solidFill>
                      <a:srgbClr val="C00000"/>
                    </a:solidFill>
                  </a:rPr>
                  <a:t>fixed L</a:t>
                </a:r>
                <a:r>
                  <a:rPr lang="en-IN" sz="1400" dirty="0">
                    <a:solidFill>
                      <a:srgbClr val="C00000"/>
                    </a:solidFill>
                  </a:rPr>
                  <a:t>n</a:t>
                </a:r>
                <a:r>
                  <a:rPr lang="en-IN" sz="2000" dirty="0"/>
                  <a:t>, increasing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shrinks the curve (narrow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 band)</a:t>
                </a:r>
              </a:p>
              <a:p>
                <a:r>
                  <a:rPr lang="en-IN" sz="2000" dirty="0"/>
                  <a:t>For a </a:t>
                </a:r>
                <a:r>
                  <a:rPr lang="en-IN" sz="2000" dirty="0">
                    <a:solidFill>
                      <a:srgbClr val="C00000"/>
                    </a:solidFill>
                  </a:rPr>
                  <a:t>fixed L</a:t>
                </a:r>
                <a:r>
                  <a:rPr lang="en-IN" sz="1400" dirty="0">
                    <a:solidFill>
                      <a:srgbClr val="C00000"/>
                    </a:solidFill>
                  </a:rPr>
                  <a:t>n</a:t>
                </a:r>
                <a:r>
                  <a:rPr lang="en-IN" sz="2000" dirty="0"/>
                  <a:t>, increasing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shifts the curve lower and resonant peak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shifts to right i.e. close to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 =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E7A2BF-A71B-B5B7-687B-5DD6542BF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776" y="429986"/>
                <a:ext cx="4247002" cy="6201999"/>
              </a:xfrm>
              <a:blipFill>
                <a:blip r:embed="rId2"/>
                <a:stretch>
                  <a:fillRect l="-1435" t="-1082" r="-2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A2E7EB1-0D40-931B-7958-F0561161D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968" y="22032"/>
            <a:ext cx="7200000" cy="3260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2FA972-FA4C-690F-D27B-9502247E8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968" y="3346376"/>
            <a:ext cx="7200000" cy="328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18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CFFEE-80CC-CE31-0623-A8B1B39EE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52" y="385590"/>
            <a:ext cx="11022376" cy="6026227"/>
          </a:xfrm>
        </p:spPr>
        <p:txBody>
          <a:bodyPr>
            <a:normAutofit/>
          </a:bodyPr>
          <a:lstStyle/>
          <a:p>
            <a:r>
              <a:rPr lang="en-IN" sz="2000" dirty="0"/>
              <a:t>Let’s take an simple illustration,</a:t>
            </a:r>
          </a:p>
          <a:p>
            <a:pPr marL="0" indent="0">
              <a:buNone/>
            </a:pPr>
            <a:r>
              <a:rPr lang="en-IN" sz="2000" dirty="0"/>
              <a:t>	As R</a:t>
            </a:r>
            <a:r>
              <a:rPr lang="en-IN" sz="1400" dirty="0"/>
              <a:t>L</a:t>
            </a:r>
            <a:r>
              <a:rPr lang="en-IN" sz="2000" dirty="0"/>
              <a:t> :                 Infinite	</a:t>
            </a:r>
            <a:r>
              <a:rPr lang="en-IN" sz="2000" dirty="0">
                <a:sym typeface="Wingdings" panose="05000000000000000000" pitchFamily="2" charset="2"/>
              </a:rPr>
              <a:t>	0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</a:t>
            </a:r>
            <a:r>
              <a:rPr lang="en-IN" sz="2000" dirty="0" err="1">
                <a:sym typeface="Wingdings" panose="05000000000000000000" pitchFamily="2" charset="2"/>
              </a:rPr>
              <a:t>Q</a:t>
            </a:r>
            <a:r>
              <a:rPr lang="en-IN" sz="1400" dirty="0" err="1"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 :                        0		Infinite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M</a:t>
            </a:r>
            <a:r>
              <a:rPr lang="en-IN" sz="1400" dirty="0">
                <a:sym typeface="Wingdings" panose="05000000000000000000" pitchFamily="2" charset="2"/>
              </a:rPr>
              <a:t>g-peak</a:t>
            </a:r>
            <a:r>
              <a:rPr lang="en-IN" sz="2000" dirty="0">
                <a:sym typeface="Wingdings" panose="05000000000000000000" pitchFamily="2" charset="2"/>
              </a:rPr>
              <a:t> :              Infinite 	 	1           </a:t>
            </a:r>
          </a:p>
          <a:p>
            <a:pPr marL="0" indent="0">
              <a:buNone/>
            </a:pPr>
            <a:r>
              <a:rPr lang="en-IN" sz="2000" dirty="0">
                <a:sym typeface="Wingdings" panose="05000000000000000000" pitchFamily="2" charset="2"/>
              </a:rPr>
              <a:t>	f</a:t>
            </a:r>
            <a:r>
              <a:rPr lang="en-IN" sz="1400" dirty="0">
                <a:sym typeface="Wingdings" panose="05000000000000000000" pitchFamily="2" charset="2"/>
              </a:rPr>
              <a:t>c0</a:t>
            </a:r>
            <a:r>
              <a:rPr lang="en-IN" sz="2000" dirty="0">
                <a:sym typeface="Wingdings" panose="05000000000000000000" pitchFamily="2" charset="2"/>
              </a:rPr>
              <a:t> : 		</a:t>
            </a:r>
            <a:r>
              <a:rPr lang="en-IN" sz="2000" dirty="0" err="1">
                <a:sym typeface="Wingdings" panose="05000000000000000000" pitchFamily="2" charset="2"/>
              </a:rPr>
              <a:t>f</a:t>
            </a:r>
            <a:r>
              <a:rPr lang="en-IN" sz="1400" dirty="0" err="1">
                <a:sym typeface="Wingdings" panose="05000000000000000000" pitchFamily="2" charset="2"/>
              </a:rPr>
              <a:t>p</a:t>
            </a:r>
            <a:r>
              <a:rPr lang="en-IN" sz="2000" dirty="0">
                <a:sym typeface="Wingdings" panose="05000000000000000000" pitchFamily="2" charset="2"/>
              </a:rPr>
              <a:t> 	 	f</a:t>
            </a:r>
            <a:r>
              <a:rPr lang="en-IN" sz="1400" dirty="0">
                <a:sym typeface="Wingdings" panose="05000000000000000000" pitchFamily="2" charset="2"/>
              </a:rPr>
              <a:t>0</a:t>
            </a:r>
            <a:r>
              <a:rPr lang="en-IN" sz="2000" dirty="0">
                <a:sym typeface="Wingdings" panose="05000000000000000000" pitchFamily="2" charset="2"/>
              </a:rPr>
              <a:t> </a:t>
            </a:r>
          </a:p>
          <a:p>
            <a:r>
              <a:rPr lang="en-IN" sz="2000" dirty="0">
                <a:sym typeface="Wingdings" panose="05000000000000000000" pitchFamily="2" charset="2"/>
              </a:rPr>
              <a:t>For a </a:t>
            </a:r>
            <a:r>
              <a:rPr lang="en-IN" sz="2000" dirty="0">
                <a:solidFill>
                  <a:srgbClr val="C00000"/>
                </a:solidFill>
                <a:sym typeface="Wingdings" panose="05000000000000000000" pitchFamily="2" charset="2"/>
              </a:rPr>
              <a:t>fixed </a:t>
            </a:r>
            <a:r>
              <a:rPr lang="en-IN" sz="2000" dirty="0" err="1">
                <a:solidFill>
                  <a:srgbClr val="C00000"/>
                </a:solidFill>
                <a:sym typeface="Wingdings" panose="05000000000000000000" pitchFamily="2" charset="2"/>
              </a:rPr>
              <a:t>Q</a:t>
            </a:r>
            <a:r>
              <a:rPr lang="en-IN" sz="1400" dirty="0" err="1">
                <a:solidFill>
                  <a:srgbClr val="C00000"/>
                </a:solidFill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, decrease in L</a:t>
            </a:r>
            <a:r>
              <a:rPr lang="en-IN" sz="1400" dirty="0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shrinks curve, the whole curve is squeezed (horizontally) and f</a:t>
            </a:r>
            <a:r>
              <a:rPr lang="en-IN" sz="1400" dirty="0">
                <a:sym typeface="Wingdings" panose="05000000000000000000" pitchFamily="2" charset="2"/>
              </a:rPr>
              <a:t>c0</a:t>
            </a:r>
            <a:r>
              <a:rPr lang="en-IN" sz="2000" dirty="0">
                <a:sym typeface="Wingdings" panose="05000000000000000000" pitchFamily="2" charset="2"/>
              </a:rPr>
              <a:t> moves towards f</a:t>
            </a:r>
            <a:r>
              <a:rPr lang="en-IN" sz="1400" dirty="0">
                <a:sym typeface="Wingdings" panose="05000000000000000000" pitchFamily="2" charset="2"/>
              </a:rPr>
              <a:t>0</a:t>
            </a:r>
            <a:r>
              <a:rPr lang="en-IN" sz="2000" dirty="0">
                <a:sym typeface="Wingdings" panose="05000000000000000000" pitchFamily="2" charset="2"/>
              </a:rPr>
              <a:t>. Also, peak gain increases and better freq. control band.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15543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1EF6-40A8-23A1-7A93-4B762A93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18C1-ADAB-8C70-7C57-76667BCB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372" y="2766219"/>
            <a:ext cx="8643257" cy="1325563"/>
          </a:xfrm>
        </p:spPr>
        <p:txBody>
          <a:bodyPr/>
          <a:lstStyle/>
          <a:p>
            <a:pPr algn="ctr"/>
            <a:r>
              <a:rPr lang="en-IN" dirty="0"/>
              <a:t>Design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868947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75061-9015-DC60-622F-9B14D304E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4736"/>
                <a:ext cx="10515600" cy="6349042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/>
                  <a:t>As discussed, 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000" dirty="0"/>
              </a:p>
              <a:p>
                <a:r>
                  <a:rPr lang="en-IN" sz="2000" dirty="0"/>
                  <a:t>Optimum design area : a1 through a4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514350" indent="-514350">
                  <a:buAutoNum type="arabicPeriod"/>
                </a:pPr>
                <a:r>
                  <a:rPr lang="en-IN" dirty="0"/>
                  <a:t>What does “In the Vicinity” mean ?</a:t>
                </a:r>
              </a:p>
              <a:p>
                <a:r>
                  <a:rPr lang="en-IN" sz="2000" dirty="0"/>
                  <a:t>By FHA, if a pure sine current flowing through tank and if circuit is operating at f</a:t>
                </a:r>
                <a:r>
                  <a:rPr lang="en-IN" sz="1400" dirty="0"/>
                  <a:t>0</a:t>
                </a:r>
                <a:r>
                  <a:rPr lang="en-IN" sz="2000" dirty="0"/>
                  <a:t>, then design result is accurate. (can be verified by </a:t>
                </a:r>
                <a:r>
                  <a:rPr lang="en-IN" sz="2000" b="1" dirty="0"/>
                  <a:t>bench test</a:t>
                </a:r>
                <a:r>
                  <a:rPr lang="en-IN" sz="2000" dirty="0"/>
                  <a:t> or computer simulation)</a:t>
                </a:r>
              </a:p>
              <a:p>
                <a:r>
                  <a:rPr lang="en-IN" sz="2000" dirty="0"/>
                  <a:t>A design that operates only at f</a:t>
                </a:r>
                <a:r>
                  <a:rPr lang="en-IN" sz="1400" dirty="0"/>
                  <a:t>0</a:t>
                </a:r>
                <a:r>
                  <a:rPr lang="en-IN" sz="2000" dirty="0"/>
                  <a:t> certainly cannot be made, but when it include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away from f</a:t>
                </a:r>
                <a:r>
                  <a:rPr lang="en-IN" sz="1400" dirty="0"/>
                  <a:t>0</a:t>
                </a:r>
                <a:r>
                  <a:rPr lang="en-IN" sz="2000" dirty="0"/>
                  <a:t>, it stars to show errors, so FHA is helpful to create an </a:t>
                </a:r>
                <a:r>
                  <a:rPr lang="en-IN" sz="2000" b="1" dirty="0"/>
                  <a:t>initial design.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IN" dirty="0"/>
                  <a:t>Basic Design Requirements</a:t>
                </a:r>
              </a:p>
              <a:p>
                <a:r>
                  <a:rPr lang="en-IN" sz="2000" b="1" dirty="0"/>
                  <a:t>Line regulation</a:t>
                </a:r>
                <a:r>
                  <a:rPr lang="en-IN" sz="2000" dirty="0"/>
                  <a:t> – defined as maximum, output-voltage variation caused by an input-voltage variation over a specified range, at a given output load current.</a:t>
                </a:r>
              </a:p>
              <a:p>
                <a:r>
                  <a:rPr lang="en-IN" sz="2000" b="1" dirty="0"/>
                  <a:t>Load regulation</a:t>
                </a:r>
                <a:r>
                  <a:rPr lang="en-IN" sz="2000" dirty="0"/>
                  <a:t> – defined as maximum output-voltage variation caused by a change in load over a stated range, usually from a no load to maximum. </a:t>
                </a:r>
              </a:p>
              <a:p>
                <a:r>
                  <a:rPr lang="en-IN" sz="2000" b="1" dirty="0"/>
                  <a:t>Efficiency – </a:t>
                </a:r>
                <a:r>
                  <a:rPr lang="en-IN" sz="2000" dirty="0"/>
                  <a:t>benefit in LLC. Switching losses are reduced due to ZVS (keeping the design within the recommended region)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75061-9015-DC60-622F-9B14D304E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4736"/>
                <a:ext cx="10515600" cy="6349042"/>
              </a:xfrm>
              <a:blipFill>
                <a:blip r:embed="rId2"/>
                <a:stretch>
                  <a:fillRect l="-1217" r="-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99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775E25-1398-44B5-1934-337BA35C4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883" y="189000"/>
                <a:ext cx="7897483" cy="653960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Line Regulation</a:t>
                </a:r>
                <a:endParaRPr lang="en-IN" sz="2000" dirty="0"/>
              </a:p>
              <a:p>
                <a:r>
                  <a:rPr lang="en-IN" sz="2000" dirty="0"/>
                  <a:t>A min and max output voltage, V</a:t>
                </a:r>
                <a:r>
                  <a:rPr lang="en-IN" sz="1400" dirty="0"/>
                  <a:t>0_min</a:t>
                </a:r>
                <a:r>
                  <a:rPr lang="en-IN" sz="2000" dirty="0"/>
                  <a:t> and V</a:t>
                </a:r>
                <a:r>
                  <a:rPr lang="en-IN" sz="1400" dirty="0"/>
                  <a:t>0_max</a:t>
                </a:r>
                <a:r>
                  <a:rPr lang="en-IN" sz="2000" dirty="0"/>
                  <a:t> assumed. Also, assume that max switching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is limited within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n_min</a:t>
                </a:r>
                <a:r>
                  <a:rPr lang="en-IN" sz="2000" dirty="0"/>
                  <a:t> ≤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 ≤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n_max</a:t>
                </a:r>
                <a:r>
                  <a:rPr lang="en-IN" sz="2000" dirty="0"/>
                  <a:t>.</a:t>
                </a:r>
              </a:p>
              <a:p>
                <a:r>
                  <a:rPr lang="en-IN" sz="2000" dirty="0"/>
                  <a:t>With these conditions, M</a:t>
                </a:r>
                <a:r>
                  <a:rPr lang="en-IN" sz="1400" dirty="0"/>
                  <a:t>g</a:t>
                </a:r>
                <a:r>
                  <a:rPr lang="en-IN" sz="2000" dirty="0"/>
                  <a:t> should be designed to meet following </a:t>
                </a:r>
                <a:r>
                  <a:rPr lang="en-IN" sz="2000" dirty="0" err="1"/>
                  <a:t>eq</a:t>
                </a:r>
                <a:r>
                  <a:rPr lang="en-IN" sz="2000" baseline="30000" dirty="0" err="1"/>
                  <a:t>n</a:t>
                </a:r>
                <a:r>
                  <a:rPr lang="en-IN" sz="2000" dirty="0"/>
                  <a:t> (which says all M</a:t>
                </a:r>
                <a:r>
                  <a:rPr lang="en-IN" sz="1400" dirty="0"/>
                  <a:t>g</a:t>
                </a:r>
                <a:r>
                  <a:rPr lang="en-IN" sz="2000" dirty="0"/>
                  <a:t> values must contain both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g_min</a:t>
                </a:r>
                <a:r>
                  <a:rPr lang="en-IN" sz="2000" dirty="0"/>
                  <a:t> and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g_max</a:t>
                </a:r>
                <a:r>
                  <a:rPr lang="en-IN" sz="2000" dirty="0"/>
                  <a:t> within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 limits.</a:t>
                </a:r>
              </a:p>
              <a:p>
                <a:r>
                  <a:rPr lang="en-IN" sz="2000" dirty="0"/>
                  <a:t>For I</a:t>
                </a:r>
                <a:r>
                  <a:rPr lang="en-IN" sz="1400" dirty="0"/>
                  <a:t>0</a:t>
                </a:r>
                <a:r>
                  <a:rPr lang="en-IN" sz="2000" dirty="0"/>
                  <a:t> = 0,</a:t>
                </a:r>
              </a:p>
              <a:p>
                <a:pPr marL="0" indent="0">
                  <a:buNone/>
                </a:pPr>
                <a:r>
                  <a:rPr lang="en-IN" sz="2000" dirty="0"/>
                  <a:t>	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begChr m:val="|"/>
                        <m:endChr m:val="}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&gt;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_∞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/>
                      <m:t>⊇</m:t>
                    </m:r>
                    <m:r>
                      <m:rPr>
                        <m:nor/>
                      </m:rPr>
                      <a:rPr lang="en-IN" sz="2000" b="0" i="0" smtClean="0"/>
                      <m:t> { 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m:rPr>
                        <m:nor/>
                      </m:rPr>
                      <a:rPr lang="en-IN" sz="2000" b="0" i="0" smtClean="0"/>
                      <m:t> }</m:t>
                    </m:r>
                  </m:oMath>
                </a14:m>
                <a:endParaRPr lang="en-IN" sz="2000" dirty="0"/>
              </a:p>
              <a:p>
                <a:r>
                  <a:rPr lang="en-IN" sz="2000" dirty="0"/>
                  <a:t>And for I</a:t>
                </a:r>
                <a:r>
                  <a:rPr lang="en-IN" sz="1400" dirty="0"/>
                  <a:t>0</a:t>
                </a:r>
                <a:r>
                  <a:rPr lang="en-IN" sz="2000" dirty="0"/>
                  <a:t> &gt; 0,</a:t>
                </a:r>
              </a:p>
              <a:p>
                <a:pPr marL="0" indent="0">
                  <a:buNone/>
                </a:pPr>
                <a:r>
                  <a:rPr lang="en-IN" sz="2000" dirty="0"/>
                  <a:t>		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begChr m:val="|"/>
                        <m:endChr m:val="}"/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000"/>
                      <m:t>⊇ {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m:rPr>
                        <m:nor/>
                      </m:rPr>
                      <a:rPr lang="en-IN" sz="2000"/>
                      <m:t> }</m:t>
                    </m:r>
                  </m:oMath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where, 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0_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/ 2</m:t>
                        </m:r>
                      </m:den>
                    </m:f>
                  </m:oMath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	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∗ 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0_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/ 2</m:t>
                        </m:r>
                      </m:den>
                    </m:f>
                  </m:oMath>
                </a14:m>
                <a:endParaRPr lang="en-IN" sz="2000" dirty="0"/>
              </a:p>
              <a:p>
                <a:pPr marL="0" indent="0" algn="r">
                  <a:buNone/>
                </a:pPr>
                <a:r>
                  <a:rPr lang="en-IN" sz="2000" dirty="0"/>
                  <a:t>And 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_∞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|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2000" dirty="0"/>
                  <a:t>     ---{represents gain at no load when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n</a:t>
                </a:r>
                <a:r>
                  <a:rPr lang="en-IN" sz="2000" dirty="0"/>
                  <a:t> is approaching infinity}</a:t>
                </a:r>
              </a:p>
              <a:p>
                <a:r>
                  <a:rPr lang="en-IN" sz="2000" dirty="0"/>
                  <a:t>For no load,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= 0, so L</a:t>
                </a:r>
                <a:r>
                  <a:rPr lang="en-IN" sz="1400" dirty="0"/>
                  <a:t>n</a:t>
                </a:r>
                <a:r>
                  <a:rPr lang="en-IN" sz="2000" dirty="0"/>
                  <a:t> is the sole design factor. Choose L</a:t>
                </a:r>
                <a:r>
                  <a:rPr lang="en-IN" sz="1400" dirty="0"/>
                  <a:t>n</a:t>
                </a:r>
                <a:r>
                  <a:rPr lang="en-IN" sz="2000" dirty="0"/>
                  <a:t> </a:t>
                </a:r>
                <a:r>
                  <a:rPr lang="en-IN" sz="2000" dirty="0" err="1"/>
                  <a:t>s.t.</a:t>
                </a:r>
                <a:r>
                  <a:rPr lang="en-IN" sz="2000" dirty="0"/>
                  <a:t> curve 1 cross over the two horizontal line (shown by points </a:t>
                </a:r>
                <a:r>
                  <a:rPr lang="en-IN" sz="2000" dirty="0">
                    <a:solidFill>
                      <a:srgbClr val="C00000"/>
                    </a:solidFill>
                  </a:rPr>
                  <a:t>a1</a:t>
                </a:r>
                <a:r>
                  <a:rPr lang="en-IN" sz="2000" dirty="0"/>
                  <a:t> and </a:t>
                </a:r>
                <a:r>
                  <a:rPr lang="en-IN" sz="2000" dirty="0">
                    <a:solidFill>
                      <a:srgbClr val="C00000"/>
                    </a:solidFill>
                  </a:rPr>
                  <a:t>a2</a:t>
                </a:r>
                <a:r>
                  <a:rPr lang="en-IN" sz="2000" dirty="0"/>
                  <a:t>)</a:t>
                </a:r>
              </a:p>
              <a:p>
                <a:r>
                  <a:rPr lang="en-IN" sz="2000" dirty="0"/>
                  <a:t>Similarly for non-zero load, appropriate curve can be selected with same process.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775E25-1398-44B5-1934-337BA35C4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883" y="189000"/>
                <a:ext cx="7897483" cy="6539604"/>
              </a:xfrm>
              <a:blipFill>
                <a:blip r:embed="rId2"/>
                <a:stretch>
                  <a:fillRect l="-772" t="-1305" r="-1466" b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D3A7726-B9C2-6FB6-FB90-903718A97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889" y="189000"/>
            <a:ext cx="3537058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14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9FB43F-5E0C-D699-D1ED-D98E85CD5A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356" y="276045"/>
                <a:ext cx="8045570" cy="63929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dirty="0"/>
                  <a:t>Load Regulation</a:t>
                </a:r>
                <a:endParaRPr lang="en-IN" sz="2000" dirty="0"/>
              </a:p>
              <a:p>
                <a:pPr marL="514350" indent="-514350">
                  <a:buFont typeface="+mj-lt"/>
                  <a:buAutoNum type="romanUcPeriod"/>
                </a:pPr>
                <a:r>
                  <a:rPr lang="en-IN" sz="2000" u="sng" dirty="0"/>
                  <a:t>Normal Load Operation</a:t>
                </a:r>
                <a:endParaRPr lang="en-IN" sz="2000" dirty="0"/>
              </a:p>
              <a:p>
                <a:r>
                  <a:rPr lang="en-IN" sz="2000" dirty="0"/>
                  <a:t>A bigger </a:t>
                </a:r>
                <a:r>
                  <a:rPr lang="en-IN" sz="2000" dirty="0" err="1"/>
                  <a:t>Q</a:t>
                </a:r>
                <a:r>
                  <a:rPr lang="en-IN" sz="1400" dirty="0" err="1"/>
                  <a:t>e</a:t>
                </a:r>
                <a:r>
                  <a:rPr lang="en-IN" sz="2000" dirty="0"/>
                  <a:t> shifts the curve peak down. </a:t>
                </a:r>
              </a:p>
              <a:p>
                <a:r>
                  <a:rPr lang="en-IN" sz="2000" dirty="0"/>
                  <a:t>Curve </a:t>
                </a:r>
                <a:r>
                  <a:rPr lang="en-IN" sz="2000" b="1" dirty="0"/>
                  <a:t>2</a:t>
                </a:r>
                <a:r>
                  <a:rPr lang="en-IN" sz="2000" dirty="0"/>
                  <a:t> – Maximum load current while still meeting the conditions with same L</a:t>
                </a:r>
                <a:r>
                  <a:rPr lang="en-IN" sz="1400" dirty="0"/>
                  <a:t>n</a:t>
                </a:r>
                <a:r>
                  <a:rPr lang="en-IN" sz="2000" dirty="0"/>
                  <a:t>.</a:t>
                </a:r>
              </a:p>
              <a:p>
                <a:pPr marL="0" indent="0">
                  <a:buNone/>
                </a:pPr>
                <a:r>
                  <a:rPr lang="en-IN" sz="2000" dirty="0"/>
                  <a:t>	</a:t>
                </a:r>
                <a:r>
                  <a:rPr lang="en-IN" sz="2000" dirty="0">
                    <a:sym typeface="Wingdings" panose="05000000000000000000" pitchFamily="2" charset="2"/>
                  </a:rPr>
                  <a:t> It yields design points </a:t>
                </a:r>
                <a:r>
                  <a:rPr lang="en-IN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a3</a:t>
                </a:r>
                <a:r>
                  <a:rPr lang="en-IN" sz="2000" dirty="0">
                    <a:sym typeface="Wingdings" panose="05000000000000000000" pitchFamily="2" charset="2"/>
                  </a:rPr>
                  <a:t> and </a:t>
                </a:r>
                <a:r>
                  <a:rPr lang="en-IN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a4</a:t>
                </a:r>
                <a:r>
                  <a:rPr lang="en-IN" sz="2000" dirty="0">
                    <a:sym typeface="Wingdings" panose="05000000000000000000" pitchFamily="2" charset="2"/>
                  </a:rPr>
                  <a:t> in recommended area.</a:t>
                </a:r>
              </a:p>
              <a:p>
                <a:pPr marL="514350" indent="-514350">
                  <a:buFont typeface="+mj-lt"/>
                  <a:buAutoNum type="romanUcPeriod" startAt="2"/>
                </a:pPr>
                <a:r>
                  <a:rPr lang="en-IN" sz="2000" u="sng" dirty="0">
                    <a:sym typeface="Wingdings" panose="05000000000000000000" pitchFamily="2" charset="2"/>
                  </a:rPr>
                  <a:t>Overload current</a:t>
                </a:r>
                <a:r>
                  <a:rPr lang="en-IN" sz="20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IN" sz="2000" dirty="0">
                    <a:sym typeface="Wingdings" panose="05000000000000000000" pitchFamily="2" charset="2"/>
                  </a:rPr>
                  <a:t>Let’s increase load further : new gain is curve </a:t>
                </a:r>
                <a:r>
                  <a:rPr lang="en-IN" sz="2000" b="1" dirty="0">
                    <a:sym typeface="Wingdings" panose="05000000000000000000" pitchFamily="2" charset="2"/>
                  </a:rPr>
                  <a:t>3</a:t>
                </a:r>
                <a:r>
                  <a:rPr lang="en-IN" sz="2000" dirty="0">
                    <a:sym typeface="Wingdings" panose="05000000000000000000" pitchFamily="2" charset="2"/>
                  </a:rPr>
                  <a:t> (but here </a:t>
                </a:r>
                <a:r>
                  <a:rPr lang="en-IN" sz="2000" dirty="0" err="1">
                    <a:sym typeface="Wingdings" panose="05000000000000000000" pitchFamily="2" charset="2"/>
                  </a:rPr>
                  <a:t>M</a:t>
                </a:r>
                <a:r>
                  <a:rPr lang="en-IN" sz="1400" dirty="0" err="1">
                    <a:sym typeface="Wingdings" panose="05000000000000000000" pitchFamily="2" charset="2"/>
                  </a:rPr>
                  <a:t>g_max</a:t>
                </a:r>
                <a:r>
                  <a:rPr lang="en-IN" sz="2000" dirty="0">
                    <a:sym typeface="Wingdings" panose="05000000000000000000" pitchFamily="2" charset="2"/>
                  </a:rPr>
                  <a:t> is </a:t>
                </a:r>
                <a:r>
                  <a:rPr lang="en-IN" sz="20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not</a:t>
                </a:r>
                <a:r>
                  <a:rPr lang="en-IN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 crossing the curve</a:t>
                </a:r>
                <a:r>
                  <a:rPr lang="en-IN" sz="2000" dirty="0">
                    <a:sym typeface="Wingdings" panose="05000000000000000000" pitchFamily="2" charset="2"/>
                  </a:rPr>
                  <a:t> – conditions not met – output voltage </a:t>
                </a:r>
                <a:r>
                  <a:rPr lang="en-IN" sz="2000" dirty="0" err="1">
                    <a:sym typeface="Wingdings" panose="05000000000000000000" pitchFamily="2" charset="2"/>
                  </a:rPr>
                  <a:t>reg</a:t>
                </a:r>
                <a:r>
                  <a:rPr lang="en-IN" sz="2000" baseline="30000" dirty="0" err="1">
                    <a:sym typeface="Wingdings" panose="05000000000000000000" pitchFamily="2" charset="2"/>
                  </a:rPr>
                  <a:t>n</a:t>
                </a:r>
                <a:r>
                  <a:rPr lang="en-IN" sz="2000" dirty="0">
                    <a:sym typeface="Wingdings" panose="05000000000000000000" pitchFamily="2" charset="2"/>
                  </a:rPr>
                  <a:t> is lost)</a:t>
                </a:r>
              </a:p>
              <a:p>
                <a:pPr marL="0" indent="0">
                  <a:buNone/>
                </a:pPr>
                <a:r>
                  <a:rPr lang="en-IN" sz="2000" dirty="0">
                    <a:sym typeface="Wingdings" panose="05000000000000000000" pitchFamily="2" charset="2"/>
                  </a:rPr>
                  <a:t>	 So the design needs to be modified (adjust L</a:t>
                </a:r>
                <a:r>
                  <a:rPr lang="en-IN" sz="1400" dirty="0">
                    <a:sym typeface="Wingdings" panose="05000000000000000000" pitchFamily="2" charset="2"/>
                  </a:rPr>
                  <a:t>n</a:t>
                </a:r>
                <a:r>
                  <a:rPr lang="en-IN" sz="2000" dirty="0">
                    <a:sym typeface="Wingdings" panose="05000000000000000000" pitchFamily="2" charset="2"/>
                  </a:rPr>
                  <a:t> or </a:t>
                </a:r>
                <a:r>
                  <a:rPr lang="en-IN" sz="2000" dirty="0" err="1">
                    <a:sym typeface="Wingdings" panose="05000000000000000000" pitchFamily="2" charset="2"/>
                  </a:rPr>
                  <a:t>f</a:t>
                </a:r>
                <a:r>
                  <a:rPr lang="en-IN" sz="1400" dirty="0" err="1">
                    <a:sym typeface="Wingdings" panose="05000000000000000000" pitchFamily="2" charset="2"/>
                  </a:rPr>
                  <a:t>n</a:t>
                </a:r>
                <a:r>
                  <a:rPr lang="en-IN" sz="2000" dirty="0">
                    <a:sym typeface="Wingdings" panose="05000000000000000000" pitchFamily="2" charset="2"/>
                  </a:rPr>
                  <a:t>)</a:t>
                </a:r>
              </a:p>
              <a:p>
                <a:pPr marL="514350" indent="-514350">
                  <a:buFont typeface="+mj-lt"/>
                  <a:buAutoNum type="romanUcPeriod" startAt="3"/>
                </a:pPr>
                <a:r>
                  <a:rPr lang="en-IN" sz="2000" u="sng" dirty="0">
                    <a:sym typeface="Wingdings" panose="05000000000000000000" pitchFamily="2" charset="2"/>
                  </a:rPr>
                  <a:t>Load short circuit</a:t>
                </a:r>
                <a:endParaRPr lang="en-IN" sz="2000" dirty="0">
                  <a:sym typeface="Wingdings" panose="05000000000000000000" pitchFamily="2" charset="2"/>
                </a:endParaRPr>
              </a:p>
              <a:p>
                <a:r>
                  <a:rPr lang="en-IN" sz="2000" dirty="0">
                    <a:sym typeface="Wingdings" panose="05000000000000000000" pitchFamily="2" charset="2"/>
                  </a:rPr>
                  <a:t>Since </a:t>
                </a:r>
                <a:r>
                  <a:rPr lang="en-IN" sz="2000" dirty="0" err="1">
                    <a:sym typeface="Wingdings" panose="05000000000000000000" pitchFamily="2" charset="2"/>
                  </a:rPr>
                  <a:t>s.c.</a:t>
                </a:r>
                <a:r>
                  <a:rPr lang="en-IN" sz="2000" dirty="0">
                    <a:sym typeface="Wingdings" panose="05000000000000000000" pitchFamily="2" charset="2"/>
                  </a:rPr>
                  <a:t> draws excessive amount of current, necessary to examine the gain plot for </a:t>
                </a:r>
                <a:r>
                  <a:rPr lang="en-IN" sz="2000" dirty="0" err="1">
                    <a:sym typeface="Wingdings" panose="05000000000000000000" pitchFamily="2" charset="2"/>
                  </a:rPr>
                  <a:t>s.c.</a:t>
                </a:r>
                <a:r>
                  <a:rPr lang="en-IN" sz="2000" dirty="0">
                    <a:sym typeface="Wingdings" panose="05000000000000000000" pitchFamily="2" charset="2"/>
                  </a:rPr>
                  <a:t> to know what happens and how to deal with it</a:t>
                </a:r>
              </a:p>
              <a:p>
                <a:r>
                  <a:rPr lang="en-IN" sz="2000" dirty="0">
                    <a:sym typeface="Wingdings" panose="05000000000000000000" pitchFamily="2" charset="2"/>
                  </a:rPr>
                  <a:t>Shown by curve </a:t>
                </a:r>
                <a:r>
                  <a:rPr lang="en-IN" sz="2000" b="1" dirty="0">
                    <a:sym typeface="Wingdings" panose="05000000000000000000" pitchFamily="2" charset="2"/>
                  </a:rPr>
                  <a:t>4</a:t>
                </a:r>
                <a:r>
                  <a:rPr lang="en-IN" sz="2000" dirty="0">
                    <a:sym typeface="Wingdings" panose="05000000000000000000" pitchFamily="2" charset="2"/>
                  </a:rPr>
                  <a:t>, when </a:t>
                </a:r>
                <a:r>
                  <a:rPr lang="en-IN" sz="2000" dirty="0" err="1">
                    <a:sym typeface="Wingdings" panose="05000000000000000000" pitchFamily="2" charset="2"/>
                  </a:rPr>
                  <a:t>L</a:t>
                </a:r>
                <a:r>
                  <a:rPr lang="en-IN" sz="1400" dirty="0" err="1">
                    <a:sym typeface="Wingdings" panose="05000000000000000000" pitchFamily="2" charset="2"/>
                  </a:rPr>
                  <a:t>m</a:t>
                </a:r>
                <a:r>
                  <a:rPr lang="en-IN" sz="2000" dirty="0">
                    <a:sym typeface="Wingdings" panose="05000000000000000000" pitchFamily="2" charset="2"/>
                  </a:rPr>
                  <a:t> is bypassed by load </a:t>
                </a:r>
                <a:r>
                  <a:rPr lang="en-IN" sz="2000" dirty="0" err="1">
                    <a:sym typeface="Wingdings" panose="05000000000000000000" pitchFamily="2" charset="2"/>
                  </a:rPr>
                  <a:t>s.c</a:t>
                </a:r>
                <a:r>
                  <a:rPr lang="en-IN" sz="2000" dirty="0">
                    <a:sym typeface="Wingdings" panose="05000000000000000000" pitchFamily="2" charset="2"/>
                  </a:rPr>
                  <a:t>  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IN" sz="2000" dirty="0">
                    <a:sym typeface="Wingdings" panose="05000000000000000000" pitchFamily="2" charset="2"/>
                  </a:rPr>
                  <a:t>Insight into possible solutions for protection. One possibility is to increase the f</a:t>
                </a:r>
                <a:r>
                  <a:rPr lang="en-IN" sz="1400" dirty="0">
                    <a:sym typeface="Wingdings" panose="05000000000000000000" pitchFamily="2" charset="2"/>
                  </a:rPr>
                  <a:t>s</a:t>
                </a:r>
                <a:r>
                  <a:rPr lang="en-IN" sz="2000" dirty="0">
                    <a:sym typeface="Wingdings" panose="05000000000000000000" pitchFamily="2" charset="2"/>
                  </a:rPr>
                  <a:t> to reduce gain.</a:t>
                </a:r>
              </a:p>
              <a:p>
                <a:pPr marL="0" indent="0">
                  <a:buNone/>
                </a:pPr>
                <a:r>
                  <a:rPr lang="en-IN" sz="2000" dirty="0">
                    <a:sym typeface="Wingdings" panose="05000000000000000000" pitchFamily="2" charset="2"/>
                  </a:rPr>
                  <a:t>	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&gt;2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 : gain </a:t>
                </a:r>
                <a:r>
                  <a:rPr lang="en-IN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&lt;</a:t>
                </a:r>
                <a:r>
                  <a:rPr lang="en-IN" sz="2000" dirty="0">
                    <a:sym typeface="Wingdings" panose="05000000000000000000" pitchFamily="2" charset="2"/>
                  </a:rPr>
                  <a:t> 10%     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&gt;10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 : gain = 0 (out </a:t>
                </a:r>
                <a:r>
                  <a:rPr lang="en-IN" sz="2000" dirty="0" err="1">
                    <a:sym typeface="Wingdings" panose="05000000000000000000" pitchFamily="2" charset="2"/>
                  </a:rPr>
                  <a:t>vtg</a:t>
                </a:r>
                <a:r>
                  <a:rPr lang="en-IN" sz="2000" dirty="0">
                    <a:sym typeface="Wingdings" panose="05000000000000000000" pitchFamily="2" charset="2"/>
                  </a:rPr>
                  <a:t> = 0)</a:t>
                </a:r>
              </a:p>
              <a:p>
                <a:pPr marL="0" indent="0">
                  <a:buNone/>
                </a:pPr>
                <a:endParaRPr lang="en-IN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IN" sz="20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9FB43F-5E0C-D699-D1ED-D98E85CD5A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356" y="276045"/>
                <a:ext cx="8045570" cy="6392955"/>
              </a:xfrm>
              <a:blipFill>
                <a:blip r:embed="rId2"/>
                <a:stretch>
                  <a:fillRect l="-833" t="-953" r="-3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43734BC-9878-D3DD-CBE4-354E6FE0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889" y="189000"/>
            <a:ext cx="3537058" cy="6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76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B0E22E-B945-EC5F-10F2-F2E50FB459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7" b="5869"/>
          <a:stretch>
            <a:fillRect/>
          </a:stretch>
        </p:blipFill>
        <p:spPr>
          <a:xfrm>
            <a:off x="8560108" y="723523"/>
            <a:ext cx="3372033" cy="50933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37BA3-B41F-9160-DEF8-E7181F4F9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710" y="348210"/>
                <a:ext cx="8070011" cy="600398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2000" b="1" dirty="0"/>
                  <a:t>Zero-Voltage Switching (ZVS)</a:t>
                </a:r>
              </a:p>
              <a:p>
                <a:pPr marL="0" indent="0">
                  <a:buNone/>
                </a:pPr>
                <a:r>
                  <a:rPr lang="en-IN" sz="2000" u="sng" dirty="0"/>
                  <a:t>Achieving ZVS</a:t>
                </a:r>
              </a:p>
              <a:p>
                <a:r>
                  <a:rPr lang="en-IN" sz="2000" dirty="0"/>
                  <a:t>A MOSFET is turned on only when </a:t>
                </a:r>
                <a:r>
                  <a:rPr lang="en-IN" sz="2000" dirty="0" err="1"/>
                  <a:t>V</a:t>
                </a:r>
                <a:r>
                  <a:rPr lang="en-IN" sz="1400" dirty="0" err="1"/>
                  <a:t>ds</a:t>
                </a:r>
                <a:r>
                  <a:rPr lang="en-IN" sz="2000" dirty="0"/>
                  <a:t> has reached to 0. One way to do is to </a:t>
                </a:r>
                <a:r>
                  <a:rPr lang="en-IN" sz="2000" dirty="0">
                    <a:solidFill>
                      <a:srgbClr val="C00000"/>
                    </a:solidFill>
                  </a:rPr>
                  <a:t>force a reversal of current </a:t>
                </a:r>
                <a:r>
                  <a:rPr lang="en-IN" sz="2000" dirty="0"/>
                  <a:t>flowing through the MOSFET’s body diode while gate-drive turn-on signal is applied</a:t>
                </a:r>
              </a:p>
              <a:p>
                <a:r>
                  <a:rPr lang="en-IN" sz="2000" dirty="0"/>
                  <a:t>Q</a:t>
                </a:r>
                <a:r>
                  <a:rPr lang="en-IN" sz="1400" dirty="0"/>
                  <a:t>1</a:t>
                </a:r>
                <a:r>
                  <a:rPr lang="en-IN" sz="2000" dirty="0"/>
                  <a:t> turns off at t</a:t>
                </a:r>
                <a:r>
                  <a:rPr lang="en-IN" sz="1400" dirty="0"/>
                  <a:t>1</a:t>
                </a:r>
                <a:r>
                  <a:rPr lang="en-IN" sz="2000" dirty="0"/>
                  <a:t>. During </a:t>
                </a:r>
                <a:r>
                  <a:rPr lang="en-IN" sz="2000" dirty="0" err="1"/>
                  <a:t>t</a:t>
                </a:r>
                <a:r>
                  <a:rPr lang="en-IN" sz="1400" dirty="0" err="1"/>
                  <a:t>dead</a:t>
                </a:r>
                <a:r>
                  <a:rPr lang="en-IN" sz="2000" dirty="0"/>
                  <a:t>, </a:t>
                </a:r>
                <a:r>
                  <a:rPr lang="en-IN" sz="2000" dirty="0" err="1"/>
                  <a:t>I</a:t>
                </a:r>
                <a:r>
                  <a:rPr lang="en-IN" sz="1400" dirty="0" err="1"/>
                  <a:t>r</a:t>
                </a:r>
                <a:r>
                  <a:rPr lang="en-IN" sz="2000" dirty="0"/>
                  <a:t> is diverted from Q</a:t>
                </a:r>
                <a:r>
                  <a:rPr lang="en-IN" sz="1400" dirty="0"/>
                  <a:t>1</a:t>
                </a:r>
                <a:r>
                  <a:rPr lang="en-IN" sz="2000" dirty="0"/>
                  <a:t> to Q</a:t>
                </a:r>
                <a:r>
                  <a:rPr lang="en-IN" sz="1400" dirty="0"/>
                  <a:t>2</a:t>
                </a:r>
                <a:r>
                  <a:rPr lang="en-IN" sz="2000" dirty="0"/>
                  <a:t>, first C</a:t>
                </a:r>
                <a:r>
                  <a:rPr lang="en-IN" sz="1400" dirty="0"/>
                  <a:t>2_ds</a:t>
                </a:r>
                <a:r>
                  <a:rPr lang="en-IN" sz="2000" dirty="0"/>
                  <a:t> is discharged and then D</a:t>
                </a:r>
                <a:r>
                  <a:rPr lang="en-IN" sz="1400" dirty="0"/>
                  <a:t>Q2</a:t>
                </a:r>
                <a:r>
                  <a:rPr lang="en-IN" sz="2000" dirty="0"/>
                  <a:t> is forward biased</a:t>
                </a:r>
              </a:p>
              <a:p>
                <a:r>
                  <a:rPr lang="en-IN" sz="2000" dirty="0"/>
                  <a:t>At t</a:t>
                </a:r>
                <a:r>
                  <a:rPr lang="en-IN" sz="1400" dirty="0"/>
                  <a:t>2</a:t>
                </a:r>
                <a:r>
                  <a:rPr lang="en-IN" sz="2000" dirty="0"/>
                  <a:t>, conduction through 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Q2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maintains zero V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ds_Q2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until Q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gate turn-on pulse is applied.</a:t>
                </a:r>
              </a:p>
              <a:p>
                <a:r>
                  <a:rPr lang="en-IN" sz="2000" dirty="0">
                    <a:solidFill>
                      <a:prstClr val="black"/>
                    </a:solidFill>
                    <a:latin typeface="Calibri" panose="020F0502020204030204"/>
                  </a:rPr>
                  <a:t>A nonzero current (</a:t>
                </a:r>
                <a:r>
                  <a:rPr lang="en-IN" sz="2000" dirty="0" err="1">
                    <a:solidFill>
                      <a:prstClr val="black"/>
                    </a:solidFill>
                    <a:latin typeface="Calibri" panose="020F0502020204030204"/>
                  </a:rPr>
                  <a:t>I</a:t>
                </a:r>
                <a:r>
                  <a:rPr lang="en-IN" sz="1400" dirty="0" err="1">
                    <a:solidFill>
                      <a:prstClr val="black"/>
                    </a:solidFill>
                    <a:latin typeface="Calibri" panose="020F0502020204030204"/>
                  </a:rPr>
                  <a:t>r</a:t>
                </a:r>
                <a:r>
                  <a:rPr lang="en-IN" sz="2000" dirty="0">
                    <a:solidFill>
                      <a:prstClr val="black"/>
                    </a:solidFill>
                    <a:latin typeface="Calibri" panose="020F0502020204030204"/>
                  </a:rPr>
                  <a:t>) should still continue in its same direction as when Q</a:t>
                </a:r>
                <a:r>
                  <a:rPr lang="en-IN" sz="1400" dirty="0">
                    <a:solidFill>
                      <a:prstClr val="black"/>
                    </a:solidFill>
                    <a:latin typeface="Calibri" panose="020F0502020204030204"/>
                  </a:rPr>
                  <a:t>1</a:t>
                </a:r>
                <a:r>
                  <a:rPr lang="en-IN" sz="2000" dirty="0">
                    <a:solidFill>
                      <a:prstClr val="black"/>
                    </a:solidFill>
                    <a:latin typeface="Calibri" panose="020F0502020204030204"/>
                  </a:rPr>
                  <a:t> was on. This way ZVS is achieved</a:t>
                </a:r>
              </a:p>
              <a:p>
                <a:r>
                  <a:rPr lang="en-IN" sz="2000" dirty="0">
                    <a:solidFill>
                      <a:prstClr val="black"/>
                    </a:solidFill>
                    <a:latin typeface="Calibri" panose="020F0502020204030204"/>
                  </a:rPr>
                  <a:t>To achieve ZVS, we must ensure </a:t>
                </a:r>
                <a:r>
                  <a:rPr lang="en-IN" sz="2000" dirty="0">
                    <a:solidFill>
                      <a:srgbClr val="C00000"/>
                    </a:solidFill>
                    <a:latin typeface="Calibri" panose="020F0502020204030204"/>
                  </a:rPr>
                  <a:t>inductive </a:t>
                </a:r>
                <a:r>
                  <a:rPr lang="en-IN" sz="2000" dirty="0">
                    <a:latin typeface="Calibri" panose="020F0502020204030204"/>
                  </a:rPr>
                  <a:t>input impedance (Z</a:t>
                </a:r>
                <a:r>
                  <a:rPr lang="en-IN" sz="1400" dirty="0">
                    <a:latin typeface="Calibri" panose="020F0502020204030204"/>
                  </a:rPr>
                  <a:t>in</a:t>
                </a:r>
                <a:r>
                  <a:rPr lang="en-IN" sz="2000" dirty="0">
                    <a:latin typeface="Calibri" panose="020F0502020204030204"/>
                  </a:rPr>
                  <a:t>), making </a:t>
                </a:r>
                <a:br>
                  <a:rPr lang="en-IN" sz="2000" dirty="0">
                    <a:latin typeface="Calibri" panose="020F0502020204030204"/>
                  </a:rPr>
                </a:br>
                <a:r>
                  <a:rPr lang="en-IN" sz="2000" dirty="0" err="1">
                    <a:latin typeface="Calibri" panose="020F0502020204030204"/>
                  </a:rPr>
                  <a:t>I</a:t>
                </a:r>
                <a:r>
                  <a:rPr lang="en-IN" sz="1400" dirty="0" err="1">
                    <a:latin typeface="Calibri" panose="020F0502020204030204"/>
                  </a:rPr>
                  <a:t>r</a:t>
                </a:r>
                <a:r>
                  <a:rPr lang="en-IN" sz="2000" dirty="0">
                    <a:latin typeface="Calibri" panose="020F0502020204030204"/>
                  </a:rPr>
                  <a:t> lagging behind </a:t>
                </a:r>
                <a:r>
                  <a:rPr lang="en-IN" sz="2000" dirty="0" err="1">
                    <a:latin typeface="Calibri" panose="020F0502020204030204"/>
                  </a:rPr>
                  <a:t>V</a:t>
                </a:r>
                <a:r>
                  <a:rPr lang="en-IN" sz="1400" dirty="0" err="1">
                    <a:latin typeface="Calibri" panose="020F0502020204030204"/>
                  </a:rPr>
                  <a:t>ge</a:t>
                </a:r>
                <a:r>
                  <a:rPr lang="en-IN" sz="2000" dirty="0">
                    <a:latin typeface="Calibri" panose="020F0502020204030204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ɸ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where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ɸ</m:t>
                    </m:r>
                  </m:oMath>
                </a14:m>
                <a:r>
                  <a:rPr lang="en-IN" sz="1400" dirty="0"/>
                  <a:t>z</a:t>
                </a:r>
                <a:r>
                  <a:rPr lang="en-IN" sz="2000" dirty="0"/>
                  <a:t> = phase angle b/w </a:t>
                </a:r>
                <a:r>
                  <a:rPr lang="en-IN" sz="2000" dirty="0" err="1"/>
                  <a:t>I</a:t>
                </a:r>
                <a:r>
                  <a:rPr lang="en-IN" sz="1400" dirty="0" err="1"/>
                  <a:t>r</a:t>
                </a:r>
                <a:r>
                  <a:rPr lang="en-IN" sz="2000" dirty="0"/>
                  <a:t> and </a:t>
                </a:r>
                <a:r>
                  <a:rPr lang="en-IN" sz="2000" dirty="0" err="1">
                    <a:solidFill>
                      <a:prstClr val="black"/>
                    </a:solidFill>
                  </a:rPr>
                  <a:t>V</a:t>
                </a:r>
                <a:r>
                  <a:rPr lang="en-IN" sz="1400" dirty="0" err="1">
                    <a:solidFill>
                      <a:prstClr val="black"/>
                    </a:solidFill>
                  </a:rPr>
                  <a:t>ge</a:t>
                </a:r>
                <a:r>
                  <a:rPr lang="en-IN" sz="2000" dirty="0">
                    <a:solidFill>
                      <a:prstClr val="black"/>
                    </a:solidFill>
                  </a:rPr>
                  <a:t> (</a:t>
                </a:r>
                <a:r>
                  <a:rPr lang="en-IN" sz="2000" dirty="0" err="1">
                    <a:solidFill>
                      <a:srgbClr val="C00000"/>
                    </a:solidFill>
                  </a:rPr>
                  <a:t>f</a:t>
                </a:r>
                <a:r>
                  <a:rPr lang="en-IN" sz="2000" baseline="30000" dirty="0" err="1">
                    <a:solidFill>
                      <a:srgbClr val="C00000"/>
                    </a:solidFill>
                  </a:rPr>
                  <a:t>n</a:t>
                </a:r>
                <a:r>
                  <a:rPr lang="en-IN" sz="2000" dirty="0">
                    <a:solidFill>
                      <a:srgbClr val="C00000"/>
                    </a:solidFill>
                  </a:rPr>
                  <a:t> of </a:t>
                </a:r>
                <a:r>
                  <a:rPr lang="en-IN" sz="2000" dirty="0" err="1">
                    <a:solidFill>
                      <a:srgbClr val="C00000"/>
                    </a:solidFill>
                  </a:rPr>
                  <a:t>f</a:t>
                </a:r>
                <a:r>
                  <a:rPr lang="en-IN" sz="1400" dirty="0" err="1">
                    <a:solidFill>
                      <a:srgbClr val="C00000"/>
                    </a:solidFill>
                  </a:rPr>
                  <a:t>sw</a:t>
                </a:r>
                <a:r>
                  <a:rPr lang="en-IN" sz="2000" dirty="0">
                    <a:solidFill>
                      <a:prstClr val="black"/>
                    </a:solidFill>
                  </a:rPr>
                  <a:t>)</a:t>
                </a:r>
              </a:p>
              <a:p>
                <a:r>
                  <a:rPr lang="en-IN" sz="2000" dirty="0">
                    <a:solidFill>
                      <a:prstClr val="black"/>
                    </a:solidFill>
                  </a:rPr>
                  <a:t>A </a:t>
                </a:r>
                <a:r>
                  <a:rPr lang="en-IN" sz="2000" dirty="0" err="1">
                    <a:solidFill>
                      <a:prstClr val="black"/>
                    </a:solidFill>
                  </a:rPr>
                  <a:t>freq</a:t>
                </a:r>
                <a:r>
                  <a:rPr lang="en-IN" sz="2000" dirty="0">
                    <a:solidFill>
                      <a:prstClr val="black"/>
                    </a:solidFill>
                  </a:rPr>
                  <a:t> boundary is formed by the locus of resonant peaks corresponds to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ɸ</m:t>
                    </m:r>
                  </m:oMath>
                </a14:m>
                <a:r>
                  <a:rPr lang="en-IN" sz="1400" dirty="0"/>
                  <a:t>z</a:t>
                </a:r>
                <a:r>
                  <a:rPr lang="en-IN" sz="2000" dirty="0"/>
                  <a:t> = 0 which separates inductive and capacitive region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37BA3-B41F-9160-DEF8-E7181F4F9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710" y="348210"/>
                <a:ext cx="8070011" cy="6003985"/>
              </a:xfrm>
              <a:blipFill>
                <a:blip r:embed="rId4"/>
                <a:stretch>
                  <a:fillRect l="-755" t="-10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24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38B02-8D99-2248-DAB7-710048A12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968" y="369000"/>
            <a:ext cx="3960000" cy="61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699E9-AC35-2D8F-E782-131E7DA1F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733" y="363556"/>
                <a:ext cx="7680235" cy="6296139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/>
                  <a:t>Observe : All resonant peaks (at f</a:t>
                </a:r>
                <a:r>
                  <a:rPr lang="en-IN" sz="1400" dirty="0"/>
                  <a:t>c0</a:t>
                </a:r>
                <a:r>
                  <a:rPr lang="en-IN" sz="2000" dirty="0"/>
                  <a:t>) – in Capacitive region</a:t>
                </a:r>
              </a:p>
              <a:p>
                <a:r>
                  <a:rPr lang="en-IN" sz="2000" dirty="0"/>
                  <a:t>To distinguish ‘resonant peak gain’ from ‘gain on resonant boundary’</a:t>
                </a:r>
              </a:p>
              <a:p>
                <a:pPr marL="0" indent="0" algn="r">
                  <a:buNone/>
                </a:pPr>
                <a:endParaRPr lang="en-IN" sz="2000" dirty="0"/>
              </a:p>
              <a:p>
                <a:pPr marL="0" indent="0" algn="r">
                  <a:buNone/>
                </a:pPr>
                <a:r>
                  <a:rPr lang="en-IN" sz="2000" dirty="0">
                    <a:solidFill>
                      <a:srgbClr val="C00000"/>
                    </a:solidFill>
                  </a:rPr>
                  <a:t>Attainable peak-gain values (</a:t>
                </a:r>
                <a:r>
                  <a:rPr lang="en-IN" sz="2000" dirty="0" err="1">
                    <a:solidFill>
                      <a:srgbClr val="C00000"/>
                    </a:solidFill>
                  </a:rPr>
                  <a:t>M</a:t>
                </a:r>
                <a:r>
                  <a:rPr lang="en-IN" sz="1400" dirty="0" err="1">
                    <a:solidFill>
                      <a:srgbClr val="C00000"/>
                    </a:solidFill>
                  </a:rPr>
                  <a:t>g_ap</a:t>
                </a:r>
                <a:r>
                  <a:rPr lang="en-IN" sz="2000" dirty="0">
                    <a:solidFill>
                      <a:srgbClr val="C00000"/>
                    </a:solidFill>
                  </a:rPr>
                  <a:t>)</a:t>
                </a:r>
              </a:p>
              <a:p>
                <a:r>
                  <a:rPr lang="en-IN" sz="2000" dirty="0"/>
                  <a:t>Practically,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g_ap</a:t>
                </a:r>
                <a:r>
                  <a:rPr lang="en-IN" sz="2000" dirty="0"/>
                  <a:t> very close to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g_peak</a:t>
                </a:r>
                <a:r>
                  <a:rPr lang="en-IN" sz="2000" dirty="0"/>
                  <a:t>   --- {where,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g_peak</a:t>
                </a:r>
                <a:r>
                  <a:rPr lang="en-IN" sz="2000" dirty="0"/>
                  <a:t> =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</a:t>
                </a:r>
                <a:r>
                  <a:rPr lang="en-IN" sz="2000" dirty="0" err="1"/>
                  <a:t>|</a:t>
                </a:r>
                <a:r>
                  <a:rPr lang="en-IN" sz="1400" dirty="0" err="1"/>
                  <a:t>f</a:t>
                </a:r>
                <a:r>
                  <a:rPr lang="en-IN" sz="1400" dirty="0"/>
                  <a:t> = f</a:t>
                </a:r>
                <a:r>
                  <a:rPr lang="en-IN" sz="1100" dirty="0"/>
                  <a:t>c0</a:t>
                </a:r>
                <a:r>
                  <a:rPr lang="en-IN" sz="2000" dirty="0"/>
                  <a:t>}</a:t>
                </a:r>
              </a:p>
              <a:p>
                <a:r>
                  <a:rPr lang="en-IN" sz="2000" dirty="0"/>
                  <a:t>Observe : Recommended area a</a:t>
                </a:r>
                <a:r>
                  <a:rPr lang="en-IN" sz="1400" dirty="0"/>
                  <a:t>1</a:t>
                </a:r>
                <a:r>
                  <a:rPr lang="en-IN" sz="2000" dirty="0"/>
                  <a:t> through a</a:t>
                </a:r>
                <a:r>
                  <a:rPr lang="en-IN" sz="1400" dirty="0"/>
                  <a:t>4</a:t>
                </a:r>
                <a:r>
                  <a:rPr lang="en-IN" sz="2000" dirty="0"/>
                  <a:t> – under Inductive region</a:t>
                </a:r>
                <a:br>
                  <a:rPr lang="en-IN" sz="2000" dirty="0"/>
                </a:br>
                <a:r>
                  <a:rPr lang="en-IN" sz="2000" dirty="0"/>
                  <a:t>(necessary condition but not sufficient)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u="sng" dirty="0"/>
                  <a:t>Ensuring sufficient Inductive Energy</a:t>
                </a:r>
              </a:p>
              <a:p>
                <a:r>
                  <a:rPr lang="en-IN" sz="2000" dirty="0"/>
                  <a:t>During dead time, </a:t>
                </a:r>
                <a:r>
                  <a:rPr lang="en-IN" sz="2000" dirty="0" err="1"/>
                  <a:t>I</a:t>
                </a:r>
                <a:r>
                  <a:rPr lang="en-IN" sz="1400" dirty="0" err="1"/>
                  <a:t>m</a:t>
                </a:r>
                <a:r>
                  <a:rPr lang="en-IN" sz="2000" dirty="0"/>
                  <a:t> charges the C</a:t>
                </a:r>
                <a:r>
                  <a:rPr lang="en-IN" sz="1400" dirty="0"/>
                  <a:t>ds_Q1</a:t>
                </a:r>
                <a:r>
                  <a:rPr lang="en-IN" sz="2000" dirty="0"/>
                  <a:t> and discharges the C</a:t>
                </a:r>
                <a:r>
                  <a:rPr lang="en-IN" sz="1400" dirty="0"/>
                  <a:t>ds_Q2</a:t>
                </a:r>
                <a:r>
                  <a:rPr lang="en-IN" sz="2000" dirty="0"/>
                  <a:t> before Q</a:t>
                </a:r>
                <a:r>
                  <a:rPr lang="en-IN" sz="1400" dirty="0"/>
                  <a:t>2</a:t>
                </a:r>
                <a:r>
                  <a:rPr lang="en-IN" sz="2000" dirty="0"/>
                  <a:t>’s body diode is turned on. </a:t>
                </a:r>
              </a:p>
              <a:p>
                <a:r>
                  <a:rPr lang="en-IN" sz="2000" dirty="0"/>
                  <a:t>Hence, for body diode of Q</a:t>
                </a:r>
                <a:r>
                  <a:rPr lang="en-IN" sz="1400" dirty="0"/>
                  <a:t>2</a:t>
                </a:r>
                <a:r>
                  <a:rPr lang="en-IN" sz="2000" dirty="0"/>
                  <a:t> to be On within </a:t>
                </a:r>
                <a:r>
                  <a:rPr lang="en-IN" sz="2000" dirty="0" err="1"/>
                  <a:t>t</a:t>
                </a:r>
                <a:r>
                  <a:rPr lang="en-IN" sz="1400" dirty="0" err="1"/>
                  <a:t>dead</a:t>
                </a:r>
                <a:r>
                  <a:rPr lang="en-IN" sz="2000" dirty="0"/>
                  <a:t>, following conditions must be met –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𝑝𝑒𝑎𝑘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sz="2000" dirty="0"/>
                  <a:t>  </a:t>
                </a:r>
                <a:br>
                  <a:rPr lang="en-IN" sz="2000" dirty="0"/>
                </a:br>
                <a:endParaRPr lang="en-IN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𝑑𝑒𝑎𝑑</m:t>
                          </m:r>
                        </m:sub>
                      </m:sSub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16 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699E9-AC35-2D8F-E782-131E7DA1F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733" y="363556"/>
                <a:ext cx="7680235" cy="6296139"/>
              </a:xfrm>
              <a:blipFill>
                <a:blip r:embed="rId3"/>
                <a:stretch>
                  <a:fillRect l="-873" t="-1066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AC0E97-F5B6-367A-A6E9-B3C816F1A62F}"/>
              </a:ext>
            </a:extLst>
          </p:cNvPr>
          <p:cNvCxnSpPr>
            <a:cxnSpLocks/>
          </p:cNvCxnSpPr>
          <p:nvPr/>
        </p:nvCxnSpPr>
        <p:spPr>
          <a:xfrm>
            <a:off x="5987667" y="1107199"/>
            <a:ext cx="0" cy="4627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980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F55D-810F-6EE7-0CE8-10C319D4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8640"/>
            <a:ext cx="10515600" cy="59766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9498B8-E3D2-6D67-8764-24E5F29E005A}"/>
                  </a:ext>
                </a:extLst>
              </p:cNvPr>
              <p:cNvSpPr txBox="1"/>
              <p:nvPr/>
            </p:nvSpPr>
            <p:spPr>
              <a:xfrm>
                <a:off x="451692" y="225848"/>
                <a:ext cx="11253730" cy="6132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IN" sz="2800" dirty="0"/>
                  <a:t>Selecting Design Parameters </a:t>
                </a:r>
                <a:r>
                  <a:rPr lang="en-IN" sz="2800" dirty="0" err="1"/>
                  <a:t>f</a:t>
                </a:r>
                <a:r>
                  <a:rPr lang="en-IN" dirty="0" err="1"/>
                  <a:t>sw</a:t>
                </a:r>
                <a:r>
                  <a:rPr lang="en-IN" sz="2800" dirty="0"/>
                  <a:t>, n, L</a:t>
                </a:r>
                <a:r>
                  <a:rPr lang="en-IN" dirty="0"/>
                  <a:t>n</a:t>
                </a:r>
                <a:r>
                  <a:rPr lang="en-IN" sz="2800" dirty="0"/>
                  <a:t>, and </a:t>
                </a:r>
                <a:r>
                  <a:rPr lang="en-IN" sz="2800" dirty="0" err="1"/>
                  <a:t>Q</a:t>
                </a:r>
                <a:r>
                  <a:rPr lang="en-IN" dirty="0" err="1"/>
                  <a:t>e</a:t>
                </a:r>
                <a:r>
                  <a:rPr lang="en-IN" sz="2800" dirty="0"/>
                  <a:t> </a:t>
                </a:r>
              </a:p>
              <a:p>
                <a:endParaRPr lang="en-IN" sz="2000" dirty="0"/>
              </a:p>
              <a:p>
                <a:r>
                  <a:rPr lang="en-IN" sz="2000" b="1" dirty="0"/>
                  <a:t>Selecting the Switching frequency (</a:t>
                </a:r>
                <a:r>
                  <a:rPr lang="en-IN" sz="2000" b="1" dirty="0" err="1"/>
                  <a:t>f</a:t>
                </a:r>
                <a:r>
                  <a:rPr lang="en-IN" sz="1400" b="1" dirty="0" err="1"/>
                  <a:t>sw</a:t>
                </a:r>
                <a:r>
                  <a:rPr lang="en-IN" sz="2000" b="1" dirty="0"/>
                  <a:t>)</a:t>
                </a:r>
              </a:p>
              <a:p>
                <a:endParaRPr lang="en-IN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Most applications –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sw</a:t>
                </a:r>
                <a:r>
                  <a:rPr lang="en-IN" sz="2000" dirty="0"/>
                  <a:t> below 150 kHz (usually b/w 100 and 150 kHz)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The lower the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sw</a:t>
                </a:r>
                <a:r>
                  <a:rPr lang="en-IN" sz="2000" dirty="0"/>
                  <a:t> – the bulkier the converter and the less important sw. losses and efficiency become.</a:t>
                </a:r>
                <a:br>
                  <a:rPr lang="en-IN" sz="2000" dirty="0"/>
                </a:br>
                <a:r>
                  <a:rPr lang="en-IN" sz="2000" dirty="0" err="1"/>
                  <a:t>Cond</a:t>
                </a:r>
                <a:r>
                  <a:rPr lang="en-IN" sz="2000" baseline="30000" dirty="0" err="1"/>
                  <a:t>n</a:t>
                </a:r>
                <a:r>
                  <a:rPr lang="en-IN" sz="2000" dirty="0"/>
                  <a:t> loss become dominant</a:t>
                </a:r>
              </a:p>
              <a:p>
                <a:endParaRPr lang="en-IN" sz="2000" dirty="0"/>
              </a:p>
              <a:p>
                <a:r>
                  <a:rPr lang="en-IN" sz="2000" b="1" dirty="0"/>
                  <a:t>Selecting the T/f turns ratio (n)</a:t>
                </a:r>
              </a:p>
              <a:p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Initially, set M</a:t>
                </a:r>
                <a:r>
                  <a:rPr lang="en-IN" sz="1400" dirty="0"/>
                  <a:t>g</a:t>
                </a:r>
                <a:r>
                  <a:rPr lang="en-IN" sz="2000" dirty="0"/>
                  <a:t> = 1 for output nominal voltage (</a:t>
                </a:r>
                <a:r>
                  <a:rPr lang="en-IN" sz="2000" dirty="0" err="1"/>
                  <a:t>V</a:t>
                </a:r>
                <a:r>
                  <a:rPr lang="en-IN" sz="1400" dirty="0" err="1"/>
                  <a:t>o_nom</a:t>
                </a:r>
                <a:r>
                  <a:rPr lang="en-IN" sz="2000" dirty="0"/>
                  <a:t>)               --- {where, </a:t>
                </a:r>
                <a:r>
                  <a:rPr lang="en-IN" sz="2000" dirty="0" err="1"/>
                  <a:t>V</a:t>
                </a:r>
                <a:r>
                  <a:rPr lang="en-IN" sz="1400" dirty="0" err="1"/>
                  <a:t>o_nom</a:t>
                </a:r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000" dirty="0"/>
                  <a:t> }</a:t>
                </a:r>
                <a:br>
                  <a:rPr lang="en-IN" sz="2000" dirty="0"/>
                </a:br>
                <a:r>
                  <a:rPr lang="en-IN" sz="2000" dirty="0"/>
                  <a:t>similarly input nominal voltage = </a:t>
                </a:r>
                <a:r>
                  <a:rPr lang="en-IN" sz="2000" dirty="0" err="1"/>
                  <a:t>V</a:t>
                </a:r>
                <a:r>
                  <a:rPr lang="en-IN" sz="1400" dirty="0" err="1"/>
                  <a:t>in_nom</a:t>
                </a:r>
                <a:endParaRPr lang="en-I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Then 			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"/>
                        <m:endChr m:val="|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lin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IN" sz="2000" b="0" i="1" smtClean="0">
                                        <a:latin typeface="Cambria Math" panose="02040503050406030204" pitchFamily="18" charset="0"/>
                                      </a:rPr>
                                      <m:t>𝑛𝑜𝑚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𝑛𝑜𝑚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IN" sz="1400" dirty="0"/>
                  <a:t>M</a:t>
                </a:r>
                <a:r>
                  <a:rPr lang="en-IN" sz="1100" dirty="0"/>
                  <a:t>g</a:t>
                </a:r>
                <a:r>
                  <a:rPr lang="en-IN" sz="1400" dirty="0"/>
                  <a:t> = 1</a:t>
                </a:r>
              </a:p>
              <a:p>
                <a:endParaRPr lang="en-IN" sz="2000" b="1" dirty="0"/>
              </a:p>
              <a:p>
                <a:r>
                  <a:rPr lang="en-IN" sz="2000" b="1" dirty="0"/>
                  <a:t>Selecting L</a:t>
                </a:r>
                <a:r>
                  <a:rPr lang="en-IN" sz="1400" b="1" dirty="0"/>
                  <a:t>n</a:t>
                </a:r>
                <a:r>
                  <a:rPr lang="en-IN" sz="2000" b="1" dirty="0"/>
                  <a:t> and </a:t>
                </a:r>
                <a:r>
                  <a:rPr lang="en-IN" sz="2000" b="1" dirty="0" err="1"/>
                  <a:t>Q</a:t>
                </a:r>
                <a:r>
                  <a:rPr lang="en-IN" sz="1400" b="1" dirty="0" err="1"/>
                  <a:t>e</a:t>
                </a:r>
                <a:endParaRPr lang="en-IN" sz="2000" b="1" dirty="0"/>
              </a:p>
              <a:p>
                <a:endParaRPr lang="en-IN" sz="2000" dirty="0"/>
              </a:p>
              <a:p>
                <a:r>
                  <a:rPr lang="en-IN" sz="2000" u="sng" dirty="0"/>
                  <a:t>How are the Proper L</a:t>
                </a:r>
                <a:r>
                  <a:rPr lang="en-IN" sz="1400" u="sng" dirty="0"/>
                  <a:t>n</a:t>
                </a:r>
                <a:r>
                  <a:rPr lang="en-IN" sz="2000" u="sng" dirty="0"/>
                  <a:t> and </a:t>
                </a:r>
                <a:r>
                  <a:rPr lang="en-IN" sz="2000" u="sng" dirty="0" err="1"/>
                  <a:t>Q</a:t>
                </a:r>
                <a:r>
                  <a:rPr lang="en-IN" sz="1400" u="sng" dirty="0" err="1"/>
                  <a:t>e</a:t>
                </a:r>
                <a:r>
                  <a:rPr lang="en-IN" sz="2000" u="sng" dirty="0"/>
                  <a:t> selected 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9498B8-E3D2-6D67-8764-24E5F29E0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92" y="225848"/>
                <a:ext cx="11253730" cy="6132704"/>
              </a:xfrm>
              <a:prstGeom prst="rect">
                <a:avLst/>
              </a:prstGeom>
              <a:blipFill>
                <a:blip r:embed="rId2"/>
                <a:stretch>
                  <a:fillRect l="-1138" t="-10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EF6783-952C-3BA3-8F81-51EE01EE9032}"/>
              </a:ext>
            </a:extLst>
          </p:cNvPr>
          <p:cNvSpPr txBox="1"/>
          <p:nvPr/>
        </p:nvSpPr>
        <p:spPr>
          <a:xfrm>
            <a:off x="10449499" y="2528371"/>
            <a:ext cx="153685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Not necessary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265E48-8581-EB59-8886-D10FC9BF1C38}"/>
              </a:ext>
            </a:extLst>
          </p:cNvPr>
          <p:cNvCxnSpPr/>
          <p:nvPr/>
        </p:nvCxnSpPr>
        <p:spPr>
          <a:xfrm flipV="1">
            <a:off x="9391881" y="2798283"/>
            <a:ext cx="930926" cy="51228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362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CB84C7-39CB-F9BA-4258-BB1D686A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57"/>
          <a:stretch>
            <a:fillRect/>
          </a:stretch>
        </p:blipFill>
        <p:spPr>
          <a:xfrm>
            <a:off x="7951074" y="3203432"/>
            <a:ext cx="3960000" cy="343423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FB039-3898-F86C-0A8D-7B6314249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8" y="333264"/>
            <a:ext cx="11341865" cy="5632370"/>
          </a:xfrm>
        </p:spPr>
        <p:txBody>
          <a:bodyPr>
            <a:normAutofit lnSpcReduction="10000"/>
          </a:bodyPr>
          <a:lstStyle/>
          <a:p>
            <a:r>
              <a:rPr lang="en-IN" sz="2000" dirty="0"/>
              <a:t>The most critical point is </a:t>
            </a:r>
            <a:r>
              <a:rPr lang="en-IN" sz="2000" b="1" dirty="0">
                <a:solidFill>
                  <a:srgbClr val="C00000"/>
                </a:solidFill>
              </a:rPr>
              <a:t>a3</a:t>
            </a:r>
            <a:r>
              <a:rPr lang="en-IN" sz="2000" dirty="0"/>
              <a:t>. (corresponds to </a:t>
            </a:r>
            <a:r>
              <a:rPr lang="en-IN" sz="2000" dirty="0" err="1"/>
              <a:t>Q</a:t>
            </a:r>
            <a:r>
              <a:rPr lang="en-IN" sz="1400" dirty="0" err="1"/>
              <a:t>e_max</a:t>
            </a:r>
            <a:r>
              <a:rPr lang="en-IN" sz="2000" dirty="0"/>
              <a:t>) – designed to avoid operation in capacitive region</a:t>
            </a:r>
          </a:p>
          <a:p>
            <a:r>
              <a:rPr lang="en-IN" sz="2000" dirty="0"/>
              <a:t>Point a3 -&gt; Cross point b/w </a:t>
            </a:r>
            <a:r>
              <a:rPr lang="en-IN" sz="2000" dirty="0" err="1"/>
              <a:t>M</a:t>
            </a:r>
            <a:r>
              <a:rPr lang="en-IN" sz="1400" dirty="0" err="1"/>
              <a:t>g_max</a:t>
            </a:r>
            <a:r>
              <a:rPr lang="en-IN" sz="2000" dirty="0"/>
              <a:t> line and gain curve</a:t>
            </a:r>
            <a:br>
              <a:rPr lang="en-IN" sz="2000" dirty="0"/>
            </a:br>
            <a:r>
              <a:rPr lang="en-IN" sz="2000" dirty="0"/>
              <a:t>						 itself depends upon </a:t>
            </a:r>
            <a:r>
              <a:rPr lang="en-IN" sz="2000" dirty="0" err="1"/>
              <a:t>comb</a:t>
            </a:r>
            <a:r>
              <a:rPr lang="en-IN" sz="2000" baseline="30000" dirty="0" err="1"/>
              <a:t>n</a:t>
            </a:r>
            <a:r>
              <a:rPr lang="en-IN" sz="2000" dirty="0"/>
              <a:t> of L</a:t>
            </a:r>
            <a:r>
              <a:rPr lang="en-IN" sz="1400" dirty="0"/>
              <a:t>n</a:t>
            </a:r>
            <a:r>
              <a:rPr lang="en-IN" sz="2000" dirty="0"/>
              <a:t> and </a:t>
            </a:r>
            <a:r>
              <a:rPr lang="en-IN" sz="2000" dirty="0" err="1"/>
              <a:t>Q</a:t>
            </a:r>
            <a:r>
              <a:rPr lang="en-IN" sz="1400" dirty="0" err="1"/>
              <a:t>e</a:t>
            </a:r>
            <a:endParaRPr lang="en-IN" sz="2000" dirty="0"/>
          </a:p>
          <a:p>
            <a:r>
              <a:rPr lang="en-IN" sz="2000" dirty="0"/>
              <a:t>So, one way is to make some wild guess – makes it’s a difficult way</a:t>
            </a:r>
          </a:p>
          <a:p>
            <a:r>
              <a:rPr lang="en-IN" sz="2000" dirty="0"/>
              <a:t>More desirable approach – to create a common tool to represent gain curves that can be reused by different designs. </a:t>
            </a:r>
            <a:br>
              <a:rPr lang="en-IN" sz="2000" dirty="0"/>
            </a:br>
            <a:r>
              <a:rPr lang="en-IN" sz="2000" dirty="0"/>
              <a:t>		Since </a:t>
            </a:r>
            <a:r>
              <a:rPr lang="en-IN" sz="2000" dirty="0" err="1"/>
              <a:t>M</a:t>
            </a:r>
            <a:r>
              <a:rPr lang="en-IN" sz="1400" dirty="0" err="1"/>
              <a:t>g_ap</a:t>
            </a:r>
            <a:r>
              <a:rPr lang="en-IN" sz="2000" dirty="0"/>
              <a:t> (corresponding to </a:t>
            </a:r>
            <a:r>
              <a:rPr lang="en-IN" sz="2000" dirty="0" err="1"/>
              <a:t>Q</a:t>
            </a:r>
            <a:r>
              <a:rPr lang="en-IN" sz="1400" dirty="0" err="1"/>
              <a:t>e_max</a:t>
            </a:r>
            <a:r>
              <a:rPr lang="en-IN" sz="2000" dirty="0"/>
              <a:t>) is the highest gain of concern for a design,</a:t>
            </a:r>
            <a:br>
              <a:rPr lang="en-IN" sz="2000" dirty="0"/>
            </a:br>
            <a:r>
              <a:rPr lang="en-IN" sz="2000" dirty="0"/>
              <a:t>		gain-curves plots can be created beforehand.  </a:t>
            </a:r>
          </a:p>
          <a:p>
            <a:pPr marL="0" indent="0">
              <a:buNone/>
            </a:pPr>
            <a:r>
              <a:rPr lang="en-IN" sz="2000" dirty="0"/>
              <a:t>		Then, L</a:t>
            </a:r>
            <a:r>
              <a:rPr lang="en-IN" sz="1400" dirty="0"/>
              <a:t>n</a:t>
            </a:r>
            <a:r>
              <a:rPr lang="en-IN" sz="2000" dirty="0"/>
              <a:t> and </a:t>
            </a:r>
            <a:r>
              <a:rPr lang="en-IN" sz="2000" dirty="0" err="1"/>
              <a:t>Q</a:t>
            </a:r>
            <a:r>
              <a:rPr lang="en-IN" sz="1400" dirty="0" err="1"/>
              <a:t>e</a:t>
            </a:r>
            <a:r>
              <a:rPr lang="en-IN" sz="2000" dirty="0"/>
              <a:t> can be selected to achieve </a:t>
            </a:r>
            <a:r>
              <a:rPr lang="en-IN" sz="2000" dirty="0" err="1">
                <a:solidFill>
                  <a:srgbClr val="C00000"/>
                </a:solidFill>
              </a:rPr>
              <a:t>M</a:t>
            </a:r>
            <a:r>
              <a:rPr lang="en-IN" sz="1400" dirty="0" err="1">
                <a:solidFill>
                  <a:srgbClr val="C00000"/>
                </a:solidFill>
              </a:rPr>
              <a:t>g_ap</a:t>
            </a:r>
            <a:r>
              <a:rPr lang="en-IN" sz="2000" dirty="0">
                <a:solidFill>
                  <a:srgbClr val="C00000"/>
                </a:solidFill>
              </a:rPr>
              <a:t> &gt; </a:t>
            </a:r>
            <a:r>
              <a:rPr lang="en-IN" sz="2000" dirty="0" err="1">
                <a:solidFill>
                  <a:srgbClr val="C00000"/>
                </a:solidFill>
              </a:rPr>
              <a:t>M</a:t>
            </a:r>
            <a:r>
              <a:rPr lang="en-IN" sz="1400" dirty="0" err="1">
                <a:solidFill>
                  <a:srgbClr val="C00000"/>
                </a:solidFill>
              </a:rPr>
              <a:t>g_max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based on tool i.e. </a:t>
            </a:r>
            <a:r>
              <a:rPr lang="en-IN" sz="2000" dirty="0" err="1"/>
              <a:t>M</a:t>
            </a:r>
            <a:r>
              <a:rPr lang="en-IN" sz="1400" dirty="0" err="1"/>
              <a:t>g_ap</a:t>
            </a:r>
            <a:r>
              <a:rPr lang="en-IN" sz="2000" dirty="0"/>
              <a:t> curves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u="sng" dirty="0"/>
              <a:t>How are the </a:t>
            </a:r>
            <a:r>
              <a:rPr lang="en-IN" sz="2000" u="sng" dirty="0" err="1"/>
              <a:t>M</a:t>
            </a:r>
            <a:r>
              <a:rPr lang="en-IN" sz="1400" u="sng" dirty="0" err="1"/>
              <a:t>g_ap</a:t>
            </a:r>
            <a:r>
              <a:rPr lang="en-IN" sz="2000" u="sng" dirty="0"/>
              <a:t> curves obtained ?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From fig-6 (slide 13), choose one </a:t>
            </a:r>
            <a:r>
              <a:rPr lang="en-IN" sz="2000" dirty="0" err="1"/>
              <a:t>Q</a:t>
            </a:r>
            <a:r>
              <a:rPr lang="en-IN" sz="1400" dirty="0" err="1"/>
              <a:t>e</a:t>
            </a:r>
            <a:r>
              <a:rPr lang="en-IN" sz="2000" dirty="0"/>
              <a:t> = 0.5 at a fixed L</a:t>
            </a:r>
            <a:r>
              <a:rPr lang="en-IN" sz="1400" dirty="0"/>
              <a:t>n</a:t>
            </a:r>
            <a:r>
              <a:rPr lang="en-IN" sz="2000" dirty="0"/>
              <a:t> = 5</a:t>
            </a:r>
            <a:br>
              <a:rPr lang="en-IN" sz="2000" dirty="0"/>
            </a:br>
            <a:r>
              <a:rPr lang="en-IN" sz="2000" dirty="0"/>
              <a:t>so we get, </a:t>
            </a:r>
            <a:r>
              <a:rPr lang="en-IN" sz="2000" dirty="0" err="1"/>
              <a:t>M</a:t>
            </a:r>
            <a:r>
              <a:rPr lang="en-IN" sz="1400" dirty="0" err="1"/>
              <a:t>g_ap</a:t>
            </a:r>
            <a:r>
              <a:rPr lang="en-IN" sz="2000" dirty="0"/>
              <a:t> = 1.2 at (L</a:t>
            </a:r>
            <a:r>
              <a:rPr lang="en-IN" sz="1400" dirty="0"/>
              <a:t>n</a:t>
            </a:r>
            <a:r>
              <a:rPr lang="en-IN" sz="2000" dirty="0"/>
              <a:t>, </a:t>
            </a:r>
            <a:r>
              <a:rPr lang="en-IN" sz="2000" dirty="0" err="1"/>
              <a:t>Q</a:t>
            </a:r>
            <a:r>
              <a:rPr lang="en-IN" sz="1400" dirty="0" err="1"/>
              <a:t>e</a:t>
            </a:r>
            <a:r>
              <a:rPr lang="en-IN" sz="2000" dirty="0"/>
              <a:t>) = (5, 0.5)</a:t>
            </a:r>
          </a:p>
          <a:p>
            <a:r>
              <a:rPr lang="en-IN" sz="2000" dirty="0"/>
              <a:t>Now, with this fig, Plot (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g_ap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lang="en-IN" sz="2000" dirty="0"/>
              <a:t> </a:t>
            </a:r>
            <a:r>
              <a:rPr lang="en-IN" sz="2000" dirty="0" err="1"/>
              <a:t>Q</a:t>
            </a:r>
            <a:r>
              <a:rPr lang="en-IN" sz="1400" dirty="0" err="1"/>
              <a:t>e</a:t>
            </a:r>
            <a:r>
              <a:rPr lang="en-IN" sz="2000" dirty="0"/>
              <a:t>) = (1.2, 0.5) at L</a:t>
            </a:r>
            <a:r>
              <a:rPr lang="en-IN" sz="1400" dirty="0"/>
              <a:t>n</a:t>
            </a:r>
            <a:r>
              <a:rPr lang="en-IN" sz="2000" dirty="0"/>
              <a:t> = 5</a:t>
            </a:r>
          </a:p>
          <a:p>
            <a:r>
              <a:rPr lang="en-IN" sz="2000" dirty="0"/>
              <a:t>So, a peak-gain curve can be formed as a </a:t>
            </a:r>
            <a:r>
              <a:rPr lang="en-IN" sz="2000" dirty="0">
                <a:solidFill>
                  <a:srgbClr val="C00000"/>
                </a:solidFill>
              </a:rPr>
              <a:t>function of </a:t>
            </a:r>
            <a:r>
              <a:rPr lang="en-IN" sz="2000" dirty="0" err="1">
                <a:solidFill>
                  <a:srgbClr val="C00000"/>
                </a:solidFill>
              </a:rPr>
              <a:t>Q</a:t>
            </a:r>
            <a:r>
              <a:rPr lang="en-IN" sz="1400" dirty="0" err="1">
                <a:solidFill>
                  <a:srgbClr val="C00000"/>
                </a:solidFill>
              </a:rPr>
              <a:t>e</a:t>
            </a:r>
            <a:r>
              <a:rPr lang="en-IN" sz="14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at a </a:t>
            </a:r>
            <a:br>
              <a:rPr lang="en-IN" sz="2000" dirty="0"/>
            </a:br>
            <a:r>
              <a:rPr lang="en-IN" sz="2000" dirty="0"/>
              <a:t>fixed L</a:t>
            </a:r>
            <a:r>
              <a:rPr lang="en-IN" sz="1400" dirty="0"/>
              <a:t>n</a:t>
            </a:r>
            <a:r>
              <a:rPr lang="en-IN" sz="2000" dirty="0"/>
              <a:t>. Also this process can be repeated for different L</a:t>
            </a:r>
            <a:r>
              <a:rPr lang="en-IN" sz="1400" dirty="0"/>
              <a:t>n</a:t>
            </a:r>
            <a:r>
              <a:rPr lang="en-IN" sz="2000" dirty="0"/>
              <a:t>.</a:t>
            </a:r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BD83F1AA-CDEA-4C1D-82C0-249EB0401A84}"/>
              </a:ext>
            </a:extLst>
          </p:cNvPr>
          <p:cNvSpPr/>
          <p:nvPr/>
        </p:nvSpPr>
        <p:spPr>
          <a:xfrm rot="5400000">
            <a:off x="5731524" y="944702"/>
            <a:ext cx="154240" cy="313980"/>
          </a:xfrm>
          <a:prstGeom prst="bentUpArrow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8C5F7-C67E-AA83-D31C-7797385AB751}"/>
              </a:ext>
            </a:extLst>
          </p:cNvPr>
          <p:cNvSpPr txBox="1"/>
          <p:nvPr/>
        </p:nvSpPr>
        <p:spPr>
          <a:xfrm>
            <a:off x="655504" y="6312664"/>
            <a:ext cx="7144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Note</a:t>
            </a:r>
            <a:r>
              <a:rPr lang="en-IN" sz="1600" dirty="0"/>
              <a:t>: </a:t>
            </a:r>
            <a:r>
              <a:rPr lang="en-IN" sz="1600" dirty="0">
                <a:solidFill>
                  <a:srgbClr val="0070C0"/>
                </a:solidFill>
              </a:rPr>
              <a:t>The points should be in recommended area (a1 through a4) by fig-7 (slide-18)</a:t>
            </a:r>
          </a:p>
        </p:txBody>
      </p:sp>
    </p:spTree>
    <p:extLst>
      <p:ext uri="{BB962C8B-B14F-4D97-AF65-F5344CB8AC3E}">
        <p14:creationId xmlns:p14="http://schemas.microsoft.com/office/powerpoint/2010/main" val="1652457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33CEC4-1422-9F95-E65E-544C61B4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428" y="90876"/>
            <a:ext cx="4680000" cy="66762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C48F7-9B1F-2F85-34A1-95D547DEB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440" y="435166"/>
            <a:ext cx="7832075" cy="593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u="sng" dirty="0"/>
              <a:t>How are </a:t>
            </a:r>
            <a:r>
              <a:rPr lang="en-IN" sz="2000" u="sng" dirty="0" err="1"/>
              <a:t>M</a:t>
            </a:r>
            <a:r>
              <a:rPr lang="en-IN" sz="1400" u="sng" dirty="0" err="1"/>
              <a:t>g_ap</a:t>
            </a:r>
            <a:r>
              <a:rPr lang="en-IN" sz="2000" u="sng" dirty="0"/>
              <a:t> curves used in a Design ?</a:t>
            </a:r>
            <a:endParaRPr lang="en-IN" sz="2000" dirty="0"/>
          </a:p>
          <a:p>
            <a:r>
              <a:rPr lang="en-IN" sz="2000" dirty="0"/>
              <a:t>Let </a:t>
            </a:r>
            <a:r>
              <a:rPr lang="en-IN" sz="2000" dirty="0" err="1"/>
              <a:t>M</a:t>
            </a:r>
            <a:r>
              <a:rPr lang="en-IN" sz="1400" dirty="0" err="1"/>
              <a:t>g_max</a:t>
            </a:r>
            <a:r>
              <a:rPr lang="en-IN" sz="2000" dirty="0"/>
              <a:t> = 1.2, then choose </a:t>
            </a:r>
            <a:r>
              <a:rPr lang="en-IN" sz="2000" dirty="0" err="1"/>
              <a:t>M</a:t>
            </a:r>
            <a:r>
              <a:rPr lang="en-IN" sz="1400" dirty="0" err="1"/>
              <a:t>g_ap</a:t>
            </a:r>
            <a:r>
              <a:rPr lang="en-IN" sz="2000" dirty="0"/>
              <a:t> greater than 1.2.</a:t>
            </a:r>
          </a:p>
          <a:p>
            <a:r>
              <a:rPr lang="en-IN" sz="2000" dirty="0"/>
              <a:t>Choose </a:t>
            </a:r>
            <a:r>
              <a:rPr lang="en-IN" sz="2000" dirty="0" err="1"/>
              <a:t>Q</a:t>
            </a:r>
            <a:r>
              <a:rPr lang="en-IN" sz="1400" dirty="0" err="1"/>
              <a:t>e</a:t>
            </a:r>
            <a:r>
              <a:rPr lang="en-IN" sz="2000" dirty="0"/>
              <a:t> and L</a:t>
            </a:r>
            <a:r>
              <a:rPr lang="en-IN" sz="1400" dirty="0"/>
              <a:t>n</a:t>
            </a:r>
            <a:r>
              <a:rPr lang="en-IN" sz="2000" dirty="0"/>
              <a:t> corresponding to 1.2 </a:t>
            </a:r>
            <a:r>
              <a:rPr lang="en-IN" sz="2000" dirty="0">
                <a:sym typeface="Wingdings" panose="05000000000000000000" pitchFamily="2" charset="2"/>
              </a:rPr>
              <a:t> Choose L</a:t>
            </a:r>
            <a:r>
              <a:rPr lang="en-IN" sz="1400" dirty="0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= 5 (let)</a:t>
            </a:r>
          </a:p>
          <a:p>
            <a:r>
              <a:rPr lang="en-IN" sz="2000" dirty="0">
                <a:sym typeface="Wingdings" panose="05000000000000000000" pitchFamily="2" charset="2"/>
              </a:rPr>
              <a:t>Since we need gain &gt; </a:t>
            </a:r>
            <a:r>
              <a:rPr lang="en-IN" sz="2000" dirty="0" err="1">
                <a:sym typeface="Wingdings" panose="05000000000000000000" pitchFamily="2" charset="2"/>
              </a:rPr>
              <a:t>M</a:t>
            </a:r>
            <a:r>
              <a:rPr lang="en-IN" sz="1400" dirty="0" err="1">
                <a:sym typeface="Wingdings" panose="05000000000000000000" pitchFamily="2" charset="2"/>
              </a:rPr>
              <a:t>g_max</a:t>
            </a:r>
            <a:r>
              <a:rPr lang="en-IN" sz="2000" dirty="0">
                <a:sym typeface="Wingdings" panose="05000000000000000000" pitchFamily="2" charset="2"/>
              </a:rPr>
              <a:t> so by previous fig, </a:t>
            </a:r>
            <a:r>
              <a:rPr lang="en-IN" sz="2000" dirty="0" err="1">
                <a:sym typeface="Wingdings" panose="05000000000000000000" pitchFamily="2" charset="2"/>
              </a:rPr>
              <a:t>Q</a:t>
            </a:r>
            <a:r>
              <a:rPr lang="en-IN" sz="1400" dirty="0" err="1"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 = 0.5</a:t>
            </a:r>
          </a:p>
          <a:p>
            <a:r>
              <a:rPr lang="en-IN" sz="2000" dirty="0">
                <a:sym typeface="Wingdings" panose="05000000000000000000" pitchFamily="2" charset="2"/>
              </a:rPr>
              <a:t>Similarly if L</a:t>
            </a:r>
            <a:r>
              <a:rPr lang="en-IN" sz="1400" dirty="0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= any other value  accordingly </a:t>
            </a:r>
            <a:r>
              <a:rPr lang="en-IN" sz="2000" dirty="0" err="1">
                <a:sym typeface="Wingdings" panose="05000000000000000000" pitchFamily="2" charset="2"/>
              </a:rPr>
              <a:t>Q</a:t>
            </a:r>
            <a:r>
              <a:rPr lang="en-IN" sz="1400" dirty="0" err="1"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 can be</a:t>
            </a:r>
            <a:br>
              <a:rPr lang="en-IN" sz="2000" dirty="0">
                <a:sym typeface="Wingdings" panose="05000000000000000000" pitchFamily="2" charset="2"/>
              </a:rPr>
            </a:br>
            <a:r>
              <a:rPr lang="en-IN" sz="2000" dirty="0">
                <a:sym typeface="Wingdings" panose="05000000000000000000" pitchFamily="2" charset="2"/>
              </a:rPr>
              <a:t>chosen</a:t>
            </a:r>
          </a:p>
          <a:p>
            <a:pPr marL="0" indent="0">
              <a:buNone/>
            </a:pPr>
            <a:endParaRPr lang="en-IN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sz="2000" u="sng" dirty="0">
                <a:sym typeface="Wingdings" panose="05000000000000000000" pitchFamily="2" charset="2"/>
              </a:rPr>
              <a:t>What L</a:t>
            </a:r>
            <a:r>
              <a:rPr lang="en-IN" sz="1400" u="sng" dirty="0">
                <a:sym typeface="Wingdings" panose="05000000000000000000" pitchFamily="2" charset="2"/>
              </a:rPr>
              <a:t>n</a:t>
            </a:r>
            <a:r>
              <a:rPr lang="en-IN" sz="2000" u="sng" dirty="0">
                <a:sym typeface="Wingdings" panose="05000000000000000000" pitchFamily="2" charset="2"/>
              </a:rPr>
              <a:t> and </a:t>
            </a:r>
            <a:r>
              <a:rPr lang="en-IN" sz="2000" u="sng" dirty="0" err="1">
                <a:sym typeface="Wingdings" panose="05000000000000000000" pitchFamily="2" charset="2"/>
              </a:rPr>
              <a:t>Q</a:t>
            </a:r>
            <a:r>
              <a:rPr lang="en-IN" sz="1400" u="sng" dirty="0" err="1">
                <a:sym typeface="Wingdings" panose="05000000000000000000" pitchFamily="2" charset="2"/>
              </a:rPr>
              <a:t>e</a:t>
            </a:r>
            <a:r>
              <a:rPr lang="en-IN" sz="2000" u="sng" dirty="0">
                <a:sym typeface="Wingdings" panose="05000000000000000000" pitchFamily="2" charset="2"/>
              </a:rPr>
              <a:t> values are Best if they are All greater than </a:t>
            </a:r>
            <a:r>
              <a:rPr lang="en-IN" sz="2000" u="sng" dirty="0" err="1">
                <a:sym typeface="Wingdings" panose="05000000000000000000" pitchFamily="2" charset="2"/>
              </a:rPr>
              <a:t>M</a:t>
            </a:r>
            <a:r>
              <a:rPr lang="en-IN" sz="1400" u="sng" dirty="0" err="1">
                <a:sym typeface="Wingdings" panose="05000000000000000000" pitchFamily="2" charset="2"/>
              </a:rPr>
              <a:t>g_max</a:t>
            </a:r>
            <a:r>
              <a:rPr lang="en-IN" sz="2000" u="sng" dirty="0">
                <a:sym typeface="Wingdings" panose="05000000000000000000" pitchFamily="2" charset="2"/>
              </a:rPr>
              <a:t> ?</a:t>
            </a:r>
            <a:endParaRPr lang="en-IN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sz="2000" dirty="0">
              <a:sym typeface="Wingdings" panose="05000000000000000000" pitchFamily="2" charset="2"/>
            </a:endParaRPr>
          </a:p>
          <a:p>
            <a:r>
              <a:rPr lang="en-IN" sz="2000" dirty="0">
                <a:sym typeface="Wingdings" panose="05000000000000000000" pitchFamily="2" charset="2"/>
              </a:rPr>
              <a:t>Smaller L</a:t>
            </a:r>
            <a:r>
              <a:rPr lang="en-IN" sz="1400" dirty="0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 higher peak gain (for fixed </a:t>
            </a:r>
            <a:r>
              <a:rPr lang="en-IN" sz="2000" dirty="0" err="1">
                <a:sym typeface="Wingdings" panose="05000000000000000000" pitchFamily="2" charset="2"/>
              </a:rPr>
              <a:t>Q</a:t>
            </a:r>
            <a:r>
              <a:rPr lang="en-IN" sz="1400" dirty="0" err="1"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)</a:t>
            </a:r>
            <a:br>
              <a:rPr lang="en-IN" sz="2000" dirty="0">
                <a:sym typeface="Wingdings" panose="05000000000000000000" pitchFamily="2" charset="2"/>
              </a:rPr>
            </a:br>
            <a:r>
              <a:rPr lang="en-IN" sz="2000" dirty="0">
                <a:sym typeface="Wingdings" panose="05000000000000000000" pitchFamily="2" charset="2"/>
              </a:rPr>
              <a:t>Smaller L</a:t>
            </a:r>
            <a:r>
              <a:rPr lang="en-IN" sz="1400" dirty="0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 Smaller </a:t>
            </a:r>
            <a:r>
              <a:rPr lang="en-IN" sz="2000" dirty="0" err="1">
                <a:sym typeface="Wingdings" panose="05000000000000000000" pitchFamily="2" charset="2"/>
              </a:rPr>
              <a:t>L</a:t>
            </a:r>
            <a:r>
              <a:rPr lang="en-IN" sz="1400" dirty="0" err="1">
                <a:sym typeface="Wingdings" panose="05000000000000000000" pitchFamily="2" charset="2"/>
              </a:rPr>
              <a:t>m</a:t>
            </a:r>
            <a:r>
              <a:rPr lang="en-IN" sz="2000" dirty="0">
                <a:sym typeface="Wingdings" panose="05000000000000000000" pitchFamily="2" charset="2"/>
              </a:rPr>
              <a:t>  Higher </a:t>
            </a:r>
            <a:r>
              <a:rPr lang="en-IN" sz="2000" dirty="0" err="1">
                <a:sym typeface="Wingdings" panose="05000000000000000000" pitchFamily="2" charset="2"/>
              </a:rPr>
              <a:t>I</a:t>
            </a:r>
            <a:r>
              <a:rPr lang="en-IN" sz="1400" dirty="0" err="1">
                <a:sym typeface="Wingdings" panose="05000000000000000000" pitchFamily="2" charset="2"/>
              </a:rPr>
              <a:t>m</a:t>
            </a:r>
            <a:r>
              <a:rPr lang="en-IN" sz="2000" dirty="0">
                <a:sym typeface="Wingdings" panose="05000000000000000000" pitchFamily="2" charset="2"/>
              </a:rPr>
              <a:t>, can help ZVS but more </a:t>
            </a:r>
            <a:r>
              <a:rPr lang="en-IN" sz="2000" dirty="0" err="1">
                <a:sym typeface="Wingdings" panose="05000000000000000000" pitchFamily="2" charset="2"/>
              </a:rPr>
              <a:t>cond</a:t>
            </a:r>
            <a:r>
              <a:rPr lang="en-IN" sz="2000" baseline="30000" dirty="0" err="1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loss</a:t>
            </a:r>
          </a:p>
          <a:p>
            <a:r>
              <a:rPr lang="en-IN" sz="2000" dirty="0">
                <a:sym typeface="Wingdings" panose="05000000000000000000" pitchFamily="2" charset="2"/>
              </a:rPr>
              <a:t>Smaller </a:t>
            </a:r>
            <a:r>
              <a:rPr lang="en-IN" sz="2000" dirty="0" err="1">
                <a:sym typeface="Wingdings" panose="05000000000000000000" pitchFamily="2" charset="2"/>
              </a:rPr>
              <a:t>Q</a:t>
            </a:r>
            <a:r>
              <a:rPr lang="en-IN" sz="1400" dirty="0" err="1"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  higher peak gain but large </a:t>
            </a:r>
            <a:r>
              <a:rPr lang="en-IN" sz="2000" dirty="0" err="1">
                <a:sym typeface="Wingdings" panose="05000000000000000000" pitchFamily="2" charset="2"/>
              </a:rPr>
              <a:t>freq</a:t>
            </a:r>
            <a:r>
              <a:rPr lang="en-IN" sz="2000" dirty="0">
                <a:sym typeface="Wingdings" panose="05000000000000000000" pitchFamily="2" charset="2"/>
              </a:rPr>
              <a:t> variation</a:t>
            </a:r>
          </a:p>
          <a:p>
            <a:r>
              <a:rPr lang="en-IN" sz="2000" dirty="0">
                <a:sym typeface="Wingdings" panose="05000000000000000000" pitchFamily="2" charset="2"/>
              </a:rPr>
              <a:t>A good start : L</a:t>
            </a:r>
            <a:r>
              <a:rPr lang="en-IN" sz="1400" dirty="0">
                <a:sym typeface="Wingdings" panose="05000000000000000000" pitchFamily="2" charset="2"/>
              </a:rPr>
              <a:t>n</a:t>
            </a:r>
            <a:r>
              <a:rPr lang="en-IN" sz="2000" dirty="0">
                <a:sym typeface="Wingdings" panose="05000000000000000000" pitchFamily="2" charset="2"/>
              </a:rPr>
              <a:t> = 5 and </a:t>
            </a:r>
            <a:r>
              <a:rPr lang="en-IN" sz="2000" dirty="0" err="1">
                <a:sym typeface="Wingdings" panose="05000000000000000000" pitchFamily="2" charset="2"/>
              </a:rPr>
              <a:t>Q</a:t>
            </a:r>
            <a:r>
              <a:rPr lang="en-IN" sz="1400" dirty="0" err="1">
                <a:sym typeface="Wingdings" panose="05000000000000000000" pitchFamily="2" charset="2"/>
              </a:rPr>
              <a:t>e</a:t>
            </a:r>
            <a:r>
              <a:rPr lang="en-IN" sz="2000" dirty="0">
                <a:sym typeface="Wingdings" panose="05000000000000000000" pitchFamily="2" charset="2"/>
              </a:rPr>
              <a:t> = 0.5</a:t>
            </a:r>
          </a:p>
          <a:p>
            <a:r>
              <a:rPr lang="en-IN" sz="2000" dirty="0">
                <a:sym typeface="Wingdings" panose="05000000000000000000" pitchFamily="2" charset="2"/>
              </a:rPr>
              <a:t>Usually reiteration is needed after initial selection</a:t>
            </a:r>
          </a:p>
        </p:txBody>
      </p:sp>
    </p:spTree>
    <p:extLst>
      <p:ext uri="{BB962C8B-B14F-4D97-AF65-F5344CB8AC3E}">
        <p14:creationId xmlns:p14="http://schemas.microsoft.com/office/powerpoint/2010/main" val="1055528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4F758-EC05-FDEC-AC49-3188EEEAD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046" y="446184"/>
                <a:ext cx="6504542" cy="1823291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IN" dirty="0"/>
                  <a:t>Peak-Gain curves from a Bench Test</a:t>
                </a:r>
              </a:p>
              <a:p>
                <a:r>
                  <a:rPr lang="en-IN" sz="2000" dirty="0"/>
                  <a:t>Resonant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r</a:t>
                </a:r>
                <a:r>
                  <a:rPr lang="en-IN" sz="2000" dirty="0"/>
                  <a:t> = 135 kHz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𝑔𝑎𝑖𝑛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𝑏𝑒𝑛𝑐h</m:t>
                        </m:r>
                      </m:sub>
                    </m:sSub>
                  </m:oMath>
                </a14:m>
                <a:r>
                  <a:rPr lang="en-IN" sz="20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𝑔𝑎𝑖𝑛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𝑠𝑖𝑚𝑢𝑙𝑎𝑡𝑖𝑜𝑛</m:t>
                        </m:r>
                      </m:sub>
                    </m:sSub>
                  </m:oMath>
                </a14:m>
                <a:endParaRPr lang="en-IN" sz="2000" dirty="0"/>
              </a:p>
              <a:p>
                <a:r>
                  <a:rPr lang="en-IN" sz="2000" dirty="0"/>
                  <a:t>From bench test :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g_ap</a:t>
                </a:r>
                <a:r>
                  <a:rPr lang="en-IN" sz="2000" dirty="0"/>
                  <a:t> = 1.65, from equation :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g_ap</a:t>
                </a:r>
                <a:r>
                  <a:rPr lang="en-IN" sz="2000" dirty="0"/>
                  <a:t> = 1.2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4F758-EC05-FDEC-AC49-3188EEEAD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046" y="446184"/>
                <a:ext cx="6504542" cy="1823291"/>
              </a:xfrm>
              <a:blipFill>
                <a:blip r:embed="rId2"/>
                <a:stretch>
                  <a:fillRect l="-1968" t="-6020" r="-2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026A5B3-A48D-39F9-0A1F-FF9DEB1FA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326" y="144094"/>
            <a:ext cx="4320000" cy="3661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EF867D-7734-A381-2D98-7531A3271A4D}"/>
              </a:ext>
            </a:extLst>
          </p:cNvPr>
          <p:cNvSpPr txBox="1"/>
          <p:nvPr/>
        </p:nvSpPr>
        <p:spPr>
          <a:xfrm>
            <a:off x="683046" y="-1142739"/>
            <a:ext cx="646139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Resonant-network design flow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845B2B-DFA5-015B-6EA9-24DEB07AF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9232" y="1139952"/>
            <a:ext cx="5760000" cy="56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85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C1FD-F435-763B-09EE-76445EAD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4F1165-EF1A-CC19-62D5-10D8944F8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7263900" y="446184"/>
                <a:ext cx="6504542" cy="1823291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IN" dirty="0"/>
                  <a:t>Peak-Gain curves from a Bench Test</a:t>
                </a:r>
              </a:p>
              <a:p>
                <a:r>
                  <a:rPr lang="en-IN" sz="2000" dirty="0"/>
                  <a:t>Resonant </a:t>
                </a:r>
                <a:r>
                  <a:rPr lang="en-IN" sz="2000" dirty="0" err="1"/>
                  <a:t>freq</a:t>
                </a:r>
                <a:r>
                  <a:rPr lang="en-IN" sz="2000" dirty="0"/>
                  <a:t> </a:t>
                </a:r>
                <a:r>
                  <a:rPr lang="en-IN" sz="2000" dirty="0" err="1"/>
                  <a:t>f</a:t>
                </a:r>
                <a:r>
                  <a:rPr lang="en-IN" sz="1400" dirty="0" err="1"/>
                  <a:t>r</a:t>
                </a:r>
                <a:r>
                  <a:rPr lang="en-IN" sz="2000" dirty="0"/>
                  <a:t> = 135 kHz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𝑔𝑎𝑖𝑛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𝑏𝑒𝑛𝑐h</m:t>
                        </m:r>
                      </m:sub>
                    </m:sSub>
                  </m:oMath>
                </a14:m>
                <a:r>
                  <a:rPr lang="en-IN" sz="20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𝑔𝑎𝑖𝑛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𝑠𝑖𝑚𝑢𝑙𝑎𝑡𝑖𝑜𝑛</m:t>
                        </m:r>
                      </m:sub>
                    </m:sSub>
                  </m:oMath>
                </a14:m>
                <a:endParaRPr lang="en-IN" sz="2000" dirty="0"/>
              </a:p>
              <a:p>
                <a:r>
                  <a:rPr lang="en-IN" sz="2000" dirty="0"/>
                  <a:t>From bench test :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g_ap</a:t>
                </a:r>
                <a:r>
                  <a:rPr lang="en-IN" sz="2000" dirty="0"/>
                  <a:t> = 1.65, from equation : </a:t>
                </a:r>
                <a:r>
                  <a:rPr lang="en-IN" sz="2000" dirty="0" err="1"/>
                  <a:t>M</a:t>
                </a:r>
                <a:r>
                  <a:rPr lang="en-IN" sz="1400" dirty="0" err="1"/>
                  <a:t>g_ap</a:t>
                </a:r>
                <a:r>
                  <a:rPr lang="en-IN" sz="2000" dirty="0"/>
                  <a:t> = 1.2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4F1165-EF1A-CC19-62D5-10D8944F8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263900" y="446184"/>
                <a:ext cx="6504542" cy="1823291"/>
              </a:xfrm>
              <a:blipFill>
                <a:blip r:embed="rId2"/>
                <a:stretch>
                  <a:fillRect l="-1968" t="-6020" r="-2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7E20595-A61C-402B-8884-A8231A201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4199" y="144094"/>
            <a:ext cx="4320000" cy="3661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F79952-DB71-EC0B-5795-B675D5464371}"/>
              </a:ext>
            </a:extLst>
          </p:cNvPr>
          <p:cNvSpPr txBox="1"/>
          <p:nvPr/>
        </p:nvSpPr>
        <p:spPr>
          <a:xfrm>
            <a:off x="683046" y="328611"/>
            <a:ext cx="646139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Resonant-network design flow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EAB56-E0A9-8B83-790C-3888C4E17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000" y="1139952"/>
            <a:ext cx="5760000" cy="56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57ED-3936-171E-E855-D1EAD5E5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Design Example</a:t>
            </a:r>
          </a:p>
        </p:txBody>
      </p:sp>
    </p:spTree>
    <p:extLst>
      <p:ext uri="{BB962C8B-B14F-4D97-AF65-F5344CB8AC3E}">
        <p14:creationId xmlns:p14="http://schemas.microsoft.com/office/powerpoint/2010/main" val="1985771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3B6B-A227-F21B-0CDF-1448EB4E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288"/>
            <a:ext cx="4224306" cy="918668"/>
          </a:xfrm>
        </p:spPr>
        <p:txBody>
          <a:bodyPr/>
          <a:lstStyle/>
          <a:p>
            <a:r>
              <a:rPr lang="en-IN" dirty="0"/>
              <a:t>Design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D198-D5F1-3BE9-5BA1-35888891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556"/>
            <a:ext cx="8136242" cy="5102019"/>
          </a:xfrm>
        </p:spPr>
        <p:txBody>
          <a:bodyPr>
            <a:normAutofit/>
          </a:bodyPr>
          <a:lstStyle/>
          <a:p>
            <a:r>
              <a:rPr lang="en-IN" sz="2000" dirty="0"/>
              <a:t>Input voltage: 375 to 405 V</a:t>
            </a:r>
            <a:r>
              <a:rPr lang="en-IN" sz="1400" dirty="0"/>
              <a:t>DC</a:t>
            </a:r>
            <a:r>
              <a:rPr lang="en-IN" sz="2000" dirty="0"/>
              <a:t> </a:t>
            </a:r>
          </a:p>
          <a:p>
            <a:r>
              <a:rPr lang="en-IN" sz="2000" dirty="0"/>
              <a:t>Rated output power: 300W</a:t>
            </a:r>
          </a:p>
          <a:p>
            <a:r>
              <a:rPr lang="en-IN" sz="2000" dirty="0"/>
              <a:t>Output voltage: 12 V</a:t>
            </a:r>
            <a:r>
              <a:rPr lang="en-IN" sz="1400" dirty="0"/>
              <a:t>DC</a:t>
            </a:r>
            <a:r>
              <a:rPr lang="en-IN" sz="2000" dirty="0"/>
              <a:t> </a:t>
            </a:r>
          </a:p>
          <a:p>
            <a:r>
              <a:rPr lang="en-IN" sz="2000" dirty="0"/>
              <a:t>Rated output current: 25 A</a:t>
            </a:r>
          </a:p>
          <a:p>
            <a:r>
              <a:rPr lang="en-IN" sz="2000" dirty="0"/>
              <a:t>Output-voltage line regulation (I</a:t>
            </a:r>
            <a:r>
              <a:rPr lang="en-IN" sz="1400" dirty="0"/>
              <a:t>o</a:t>
            </a:r>
            <a:r>
              <a:rPr lang="en-IN" sz="2000" dirty="0"/>
              <a:t> = 1 A) : ≤ 1%</a:t>
            </a:r>
          </a:p>
          <a:p>
            <a:r>
              <a:rPr lang="en-IN" sz="2000" dirty="0"/>
              <a:t>Output-voltage load regulation (V</a:t>
            </a:r>
            <a:r>
              <a:rPr lang="en-IN" sz="1400" dirty="0"/>
              <a:t>in</a:t>
            </a:r>
            <a:r>
              <a:rPr lang="en-IN" sz="2000" dirty="0"/>
              <a:t> = 390 V) : ≤ 1%</a:t>
            </a:r>
          </a:p>
          <a:p>
            <a:r>
              <a:rPr lang="en-IN" sz="2000" dirty="0"/>
              <a:t>Output-voltage peak-to-peak ripple (V</a:t>
            </a:r>
            <a:r>
              <a:rPr lang="en-IN" sz="1400" dirty="0"/>
              <a:t>in</a:t>
            </a:r>
            <a:r>
              <a:rPr lang="en-IN" sz="2000" dirty="0"/>
              <a:t> = 390V and I</a:t>
            </a:r>
            <a:r>
              <a:rPr lang="en-IN" sz="1400" dirty="0"/>
              <a:t>o</a:t>
            </a:r>
            <a:r>
              <a:rPr lang="en-IN" sz="2000" dirty="0"/>
              <a:t> = 25A) : ≤ 1%</a:t>
            </a:r>
          </a:p>
          <a:p>
            <a:r>
              <a:rPr lang="en-IN" sz="2000" dirty="0"/>
              <a:t>Efficiency (V</a:t>
            </a:r>
            <a:r>
              <a:rPr lang="en-IN" sz="1400" dirty="0"/>
              <a:t>in</a:t>
            </a:r>
            <a:r>
              <a:rPr lang="en-IN" sz="2000" dirty="0"/>
              <a:t> = 390V and I</a:t>
            </a:r>
            <a:r>
              <a:rPr lang="en-IN" sz="1400" dirty="0"/>
              <a:t>o</a:t>
            </a:r>
            <a:r>
              <a:rPr lang="en-IN" sz="2000" dirty="0"/>
              <a:t> = 25A) : ≥ 90%</a:t>
            </a:r>
          </a:p>
          <a:p>
            <a:r>
              <a:rPr lang="en-IN" sz="2000" dirty="0"/>
              <a:t>Switching frequency (normal operation): 70 to 150 kHz</a:t>
            </a:r>
          </a:p>
        </p:txBody>
      </p:sp>
    </p:spTree>
    <p:extLst>
      <p:ext uri="{BB962C8B-B14F-4D97-AF65-F5344CB8AC3E}">
        <p14:creationId xmlns:p14="http://schemas.microsoft.com/office/powerpoint/2010/main" val="1181940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372A-ED83-3666-BD05-9ED7591FB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286" y="187722"/>
            <a:ext cx="2476752" cy="51473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Design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731ED5-2C48-B8E7-9104-D2F20D3EBE3B}"/>
                  </a:ext>
                </a:extLst>
              </p:cNvPr>
              <p:cNvSpPr txBox="1"/>
              <p:nvPr/>
            </p:nvSpPr>
            <p:spPr>
              <a:xfrm>
                <a:off x="968902" y="1120291"/>
                <a:ext cx="4335831" cy="21629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2000" u="sng" dirty="0"/>
                  <a:t>1) Determine T/f turns ratio (n)</a:t>
                </a:r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"/>
                          <m:endChr m:val="|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type m:val="lin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𝑖𝑛</m:t>
                                      </m:r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a:rPr lang="en-IN" sz="2000" b="0" i="1" smtClean="0">
                                          <a:latin typeface="Cambria Math" panose="02040503050406030204" pitchFamily="18" charset="0"/>
                                        </a:rPr>
                                        <m:t>𝑛𝑜𝑚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num>
                            <m:den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𝑛𝑜𝑚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@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sz="2000" dirty="0"/>
              </a:p>
              <a:p>
                <a:endParaRPr lang="en-IN" sz="2000" dirty="0"/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390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=16.25</m:t>
                    </m:r>
                  </m:oMath>
                </a14:m>
                <a:r>
                  <a:rPr lang="en-IN" sz="2000" dirty="0"/>
                  <a:t> </a:t>
                </a:r>
                <a:r>
                  <a:rPr lang="en-IN" sz="2000" dirty="0">
                    <a:sym typeface="Wingdings" panose="05000000000000000000" pitchFamily="2" charset="2"/>
                  </a:rPr>
                  <a:t> </a:t>
                </a:r>
                <a:r>
                  <a:rPr lang="en-IN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16</a:t>
                </a:r>
                <a:r>
                  <a:rPr lang="en-IN" sz="2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731ED5-2C48-B8E7-9104-D2F20D3EB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02" y="1120291"/>
                <a:ext cx="4335831" cy="2162964"/>
              </a:xfrm>
              <a:prstGeom prst="rect">
                <a:avLst/>
              </a:prstGeom>
              <a:blipFill>
                <a:blip r:embed="rId2"/>
                <a:stretch>
                  <a:fillRect l="-1403" t="-1401" b="-56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9C01F7-261E-2B7E-EC28-361E7AD95185}"/>
                  </a:ext>
                </a:extLst>
              </p:cNvPr>
              <p:cNvSpPr txBox="1"/>
              <p:nvPr/>
            </p:nvSpPr>
            <p:spPr>
              <a:xfrm>
                <a:off x="6208030" y="1120291"/>
                <a:ext cx="5334001" cy="453316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2000" u="sng" dirty="0"/>
                  <a:t>2) Determine </a:t>
                </a:r>
                <a:r>
                  <a:rPr lang="en-IN" sz="2000" u="sng" dirty="0" err="1"/>
                  <a:t>M</a:t>
                </a:r>
                <a:r>
                  <a:rPr lang="en-IN" sz="1400" u="sng" dirty="0" err="1"/>
                  <a:t>g_min</a:t>
                </a:r>
                <a:r>
                  <a:rPr lang="en-IN" sz="2000" u="sng" dirty="0"/>
                  <a:t> and </a:t>
                </a:r>
                <a:r>
                  <a:rPr lang="en-IN" sz="2000" u="sng" dirty="0" err="1"/>
                  <a:t>M</a:t>
                </a:r>
                <a:r>
                  <a:rPr lang="en-IN" sz="1400" u="sng" dirty="0" err="1"/>
                  <a:t>g_max</a:t>
                </a:r>
                <a:r>
                  <a:rPr lang="en-IN" sz="2000" u="sng" dirty="0"/>
                  <a:t> </a:t>
                </a:r>
                <a:endParaRPr lang="en-IN" sz="2000" dirty="0"/>
              </a:p>
              <a:p>
                <a:endParaRPr lang="en-IN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IN" sz="2000" dirty="0"/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16∗[12∗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1−1%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+0.7]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405</m:t>
                              </m:r>
                            </m:num>
                            <m:den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en-IN" sz="2000" b="0" dirty="0"/>
              </a:p>
              <a:p>
                <a:endParaRPr lang="en-IN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𝑙𝑜𝑠𝑠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IN" sz="2000" dirty="0"/>
              </a:p>
              <a:p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16∗[12∗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1%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+0.7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+1.05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375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1.18</m:t>
                      </m:r>
                    </m:oMath>
                  </m:oMathPara>
                </a14:m>
                <a:endParaRPr lang="en-IN" sz="20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9C01F7-261E-2B7E-EC28-361E7AD95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030" y="1120291"/>
                <a:ext cx="5334001" cy="4533164"/>
              </a:xfrm>
              <a:prstGeom prst="rect">
                <a:avLst/>
              </a:prstGeom>
              <a:blipFill>
                <a:blip r:embed="rId3"/>
                <a:stretch>
                  <a:fillRect l="-1026" t="-67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DFF3E8-0728-70FE-B968-1F96737CBDCB}"/>
                  </a:ext>
                </a:extLst>
              </p:cNvPr>
              <p:cNvSpPr txBox="1"/>
              <p:nvPr/>
            </p:nvSpPr>
            <p:spPr>
              <a:xfrm>
                <a:off x="678233" y="3603097"/>
                <a:ext cx="5026172" cy="2511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Let η = 92% </a:t>
                </a:r>
                <a:r>
                  <a:rPr lang="en-IN" sz="2000" dirty="0">
                    <a:sym typeface="Wingdings" panose="05000000000000000000" pitchFamily="2" charset="2"/>
                  </a:rPr>
                  <a:t> losses = 8% at 25 A output</a:t>
                </a:r>
              </a:p>
              <a:p>
                <a:br>
                  <a:rPr lang="en-IN" sz="2000" dirty="0">
                    <a:sym typeface="Wingdings" panose="05000000000000000000" pitchFamily="2" charset="2"/>
                  </a:rPr>
                </a:br>
                <a:r>
                  <a:rPr lang="en-IN" sz="2000" dirty="0">
                    <a:sym typeface="Wingdings" panose="05000000000000000000" pitchFamily="2" charset="2"/>
                  </a:rPr>
                  <a:t>So,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𝑙𝑜𝑠𝑠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300</m:t>
                            </m:r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92%</m:t>
                            </m:r>
                          </m:den>
                        </m:f>
                        <m: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∗8%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25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=1.05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endParaRPr lang="en-IN" sz="2000" dirty="0">
                  <a:sym typeface="Wingdings" panose="05000000000000000000" pitchFamily="2" charset="2"/>
                </a:endParaRPr>
              </a:p>
              <a:p>
                <a:endParaRPr lang="en-IN" sz="2000" dirty="0">
                  <a:sym typeface="Wingdings" panose="05000000000000000000" pitchFamily="2" charset="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sym typeface="Wingdings" panose="05000000000000000000" pitchFamily="2" charset="2"/>
                  </a:rPr>
                  <a:t>Taking overload-current capability of 110%,</a:t>
                </a:r>
              </a:p>
              <a:p>
                <a:r>
                  <a:rPr lang="en-IN" sz="2000" dirty="0" err="1">
                    <a:sym typeface="Wingdings" panose="05000000000000000000" pitchFamily="2" charset="2"/>
                  </a:rPr>
                  <a:t>M</a:t>
                </a:r>
                <a:r>
                  <a:rPr lang="en-IN" sz="1400" dirty="0" err="1">
                    <a:sym typeface="Wingdings" panose="05000000000000000000" pitchFamily="2" charset="2"/>
                  </a:rPr>
                  <a:t>g_max</a:t>
                </a:r>
                <a:r>
                  <a:rPr lang="en-IN" sz="2000" dirty="0">
                    <a:sym typeface="Wingdings" panose="05000000000000000000" pitchFamily="2" charset="2"/>
                  </a:rPr>
                  <a:t> is increased from 1.18  1.18*110% </a:t>
                </a:r>
              </a:p>
              <a:p>
                <a:r>
                  <a:rPr lang="en-IN" sz="2000" dirty="0">
                    <a:sym typeface="Wingdings" panose="05000000000000000000" pitchFamily="2" charset="2"/>
                  </a:rPr>
                  <a:t>				= </a:t>
                </a:r>
                <a:r>
                  <a:rPr lang="en-IN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1.30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DFF3E8-0728-70FE-B968-1F96737CB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33" y="3603097"/>
                <a:ext cx="5026172" cy="2511200"/>
              </a:xfrm>
              <a:prstGeom prst="rect">
                <a:avLst/>
              </a:prstGeom>
              <a:blipFill>
                <a:blip r:embed="rId4"/>
                <a:stretch>
                  <a:fillRect l="-1212" t="-1456" r="-364" b="-33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AF8796-2385-EF8B-8391-732AF6D3DB62}"/>
              </a:ext>
            </a:extLst>
          </p:cNvPr>
          <p:cNvSpPr/>
          <p:nvPr/>
        </p:nvSpPr>
        <p:spPr>
          <a:xfrm>
            <a:off x="4590167" y="4473018"/>
            <a:ext cx="6108613" cy="1735393"/>
          </a:xfrm>
          <a:custGeom>
            <a:avLst/>
            <a:gdLst>
              <a:gd name="connsiteX0" fmla="*/ 0 w 6108613"/>
              <a:gd name="connsiteY0" fmla="*/ 153483 h 1735393"/>
              <a:gd name="connsiteX1" fmla="*/ 1301960 w 6108613"/>
              <a:gd name="connsiteY1" fmla="*/ 129260 h 1735393"/>
              <a:gd name="connsiteX2" fmla="*/ 1289849 w 6108613"/>
              <a:gd name="connsiteY2" fmla="*/ 1552333 h 1735393"/>
              <a:gd name="connsiteX3" fmla="*/ 5680180 w 6108613"/>
              <a:gd name="connsiteY3" fmla="*/ 1612889 h 1735393"/>
              <a:gd name="connsiteX4" fmla="*/ 5698347 w 6108613"/>
              <a:gd name="connsiteY4" fmla="*/ 595544 h 1735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8613" h="1735393">
                <a:moveTo>
                  <a:pt x="0" y="153483"/>
                </a:moveTo>
                <a:cubicBezTo>
                  <a:pt x="543492" y="24800"/>
                  <a:pt x="1086985" y="-103882"/>
                  <a:pt x="1301960" y="129260"/>
                </a:cubicBezTo>
                <a:cubicBezTo>
                  <a:pt x="1516935" y="362402"/>
                  <a:pt x="560146" y="1305062"/>
                  <a:pt x="1289849" y="1552333"/>
                </a:cubicBezTo>
                <a:cubicBezTo>
                  <a:pt x="2019552" y="1799604"/>
                  <a:pt x="4945430" y="1772354"/>
                  <a:pt x="5680180" y="1612889"/>
                </a:cubicBezTo>
                <a:cubicBezTo>
                  <a:pt x="6414930" y="1453424"/>
                  <a:pt x="6056638" y="1024484"/>
                  <a:pt x="5698347" y="59554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260150-3951-B5D4-0308-480308F5224A}"/>
              </a:ext>
            </a:extLst>
          </p:cNvPr>
          <p:cNvCxnSpPr>
            <a:cxnSpLocks/>
          </p:cNvCxnSpPr>
          <p:nvPr/>
        </p:nvCxnSpPr>
        <p:spPr>
          <a:xfrm flipH="1" flipV="1">
            <a:off x="10235241" y="5009499"/>
            <a:ext cx="66611" cy="72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780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CD2C-C366-D8FB-1CEB-027B86F68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8070"/>
            <a:ext cx="10515600" cy="561861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From Notebook</a:t>
            </a:r>
          </a:p>
        </p:txBody>
      </p:sp>
    </p:spTree>
    <p:extLst>
      <p:ext uri="{BB962C8B-B14F-4D97-AF65-F5344CB8AC3E}">
        <p14:creationId xmlns:p14="http://schemas.microsoft.com/office/powerpoint/2010/main" val="190927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2720</Words>
  <Application>Microsoft Office PowerPoint</Application>
  <PresentationFormat>Widescreen</PresentationFormat>
  <Paragraphs>249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Wingdings</vt:lpstr>
      <vt:lpstr>Office Theme</vt:lpstr>
      <vt:lpstr>Custom Design</vt:lpstr>
      <vt:lpstr>Designing an LLC Resonant Half-Bridge Power Converter</vt:lpstr>
      <vt:lpstr>Table of Contents</vt:lpstr>
      <vt:lpstr>Introduction</vt:lpstr>
      <vt:lpstr>Introduction</vt:lpstr>
      <vt:lpstr>LLC Resonant Half-Bridge Converter</vt:lpstr>
      <vt:lpstr>LLC Resonant Half-Bridge Converter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Considerations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Example</vt:lpstr>
      <vt:lpstr>Design Example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63</cp:revision>
  <dcterms:created xsi:type="dcterms:W3CDTF">2025-08-08T11:11:06Z</dcterms:created>
  <dcterms:modified xsi:type="dcterms:W3CDTF">2026-01-14T14:34:20Z</dcterms:modified>
</cp:coreProperties>
</file>